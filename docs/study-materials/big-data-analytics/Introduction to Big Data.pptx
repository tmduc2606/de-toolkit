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6858000" cx="9144000"/>
  <p:notesSz cx="6858000" cy="9144000"/>
  <p:embeddedFontLst>
    <p:embeddedFont>
      <p:font typeface="Arimo"/>
      <p:regular r:id="rId49"/>
      <p:bold r:id="rId50"/>
      <p:italic r:id="rId51"/>
      <p:boldItalic r:id="rId52"/>
    </p:embeddedFont>
    <p:embeddedFont>
      <p:font typeface="Quattrocento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7" roundtripDataSignature="AMtx7mgG72ooujKDk4gWQ6MdAsheuKol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Arim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Arimo-italic.fntdata"/><Relationship Id="rId50" Type="http://schemas.openxmlformats.org/officeDocument/2006/relationships/font" Target="fonts/Arimo-bold.fntdata"/><Relationship Id="rId53" Type="http://schemas.openxmlformats.org/officeDocument/2006/relationships/font" Target="fonts/QuattrocentoSans-regular.fntdata"/><Relationship Id="rId52" Type="http://schemas.openxmlformats.org/officeDocument/2006/relationships/font" Target="fonts/Arimo-boldItalic.fntdata"/><Relationship Id="rId11" Type="http://schemas.openxmlformats.org/officeDocument/2006/relationships/slide" Target="slides/slide6.xml"/><Relationship Id="rId55" Type="http://schemas.openxmlformats.org/officeDocument/2006/relationships/font" Target="fonts/QuattrocentoSans-italic.fntdata"/><Relationship Id="rId10" Type="http://schemas.openxmlformats.org/officeDocument/2006/relationships/slide" Target="slides/slide5.xml"/><Relationship Id="rId54" Type="http://schemas.openxmlformats.org/officeDocument/2006/relationships/font" Target="fonts/QuattrocentoSans-bold.fntdata"/><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font" Target="fonts/Quattrocento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HPBzBiLG5Sc"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86" name="Google Shape;86;p1:notes"/>
          <p:cNvSpPr/>
          <p:nvPr>
            <p:ph idx="2" type="sldImg"/>
          </p:nvPr>
        </p:nvSpPr>
        <p:spPr>
          <a:xfrm>
            <a:off x="1147763" y="688975"/>
            <a:ext cx="4565650" cy="3425825"/>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915541" y="4343869"/>
            <a:ext cx="5026920" cy="4111050"/>
          </a:xfrm>
          <a:prstGeom prst="rect">
            <a:avLst/>
          </a:prstGeom>
          <a:noFill/>
          <a:ln>
            <a:noFill/>
          </a:ln>
        </p:spPr>
        <p:txBody>
          <a:bodyPr anchorCtr="0" anchor="t" bIns="44900" lIns="89850" spcFirstLastPara="1" rIns="89850" wrap="square" tIns="449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4f41145577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24f41145577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g24f41145577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4f41145577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24f41145577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g24f41145577_0_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4f41145577_0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24f41145577_0_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u="sng">
                <a:solidFill>
                  <a:schemeClr val="hlink"/>
                </a:solidFill>
                <a:hlinkClick r:id="rId2"/>
              </a:rPr>
              <a:t>https://www.youtube.com/watch?v=HPBzBiLG5Sc</a:t>
            </a:r>
            <a:r>
              <a:rPr lang="en-US"/>
              <a:t> </a:t>
            </a:r>
            <a:endParaRPr/>
          </a:p>
        </p:txBody>
      </p:sp>
      <p:sp>
        <p:nvSpPr>
          <p:cNvPr id="308" name="Google Shape;308;g24f41145577_0_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4f41145577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24f41145577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g24f41145577_0_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4f41145577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24f41145577_0_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g24f41145577_0_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4f41145577_0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24f41145577_0_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g24f41145577_0_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4f41145577_0_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g24f41145577_0_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g24f41145577_0_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4f41145577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24f41145577_0_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g24f41145577_0_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8" name="Google Shape;40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7" name="Google Shape;42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2" name="Google Shape;45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8" name="Google Shape;45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2" name="Google Shape;47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4" name="Google Shape;49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7" name="Google Shape;507;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3" name="Google Shape;53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9" name="Google Shape;39;p5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5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46" name="Google Shape;46;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2" name="Google Shape;52;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3" name="Google Shape;53;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4" name="Google Shape;54;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5" name="Google Shape;55;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5"/>
          <p:cNvSpPr/>
          <p:nvPr>
            <p:ph idx="2" type="pic"/>
          </p:nvPr>
        </p:nvSpPr>
        <p:spPr>
          <a:xfrm>
            <a:off x="1792288" y="612775"/>
            <a:ext cx="5486400" cy="4114800"/>
          </a:xfrm>
          <a:prstGeom prst="rect">
            <a:avLst/>
          </a:prstGeom>
          <a:noFill/>
          <a:ln>
            <a:noFill/>
          </a:ln>
        </p:spPr>
      </p:sp>
      <p:sp>
        <p:nvSpPr>
          <p:cNvPr id="68" name="Google Shape;68;p5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6"/>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7"/>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7"/>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10.png"/><Relationship Id="rId7"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12.png"/><Relationship Id="rId6" Type="http://schemas.openxmlformats.org/officeDocument/2006/relationships/image" Target="../media/image15.png"/><Relationship Id="rId7" Type="http://schemas.openxmlformats.org/officeDocument/2006/relationships/image" Target="../media/image19.png"/><Relationship Id="rId8" Type="http://schemas.openxmlformats.org/officeDocument/2006/relationships/image" Target="../media/image29.png"/></Relationships>
</file>

<file path=ppt/slides/_rels/slide9.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21.png"/><Relationship Id="rId13" Type="http://schemas.openxmlformats.org/officeDocument/2006/relationships/image" Target="../media/image28.png"/><Relationship Id="rId12" Type="http://schemas.openxmlformats.org/officeDocument/2006/relationships/image" Target="../media/image23.pn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3.png"/><Relationship Id="rId4" Type="http://schemas.openxmlformats.org/officeDocument/2006/relationships/image" Target="../media/image20.png"/><Relationship Id="rId9" Type="http://schemas.openxmlformats.org/officeDocument/2006/relationships/image" Target="../media/image35.png"/><Relationship Id="rId15" Type="http://schemas.openxmlformats.org/officeDocument/2006/relationships/image" Target="../media/image36.png"/><Relationship Id="rId14" Type="http://schemas.openxmlformats.org/officeDocument/2006/relationships/image" Target="../media/image27.png"/><Relationship Id="rId17" Type="http://schemas.openxmlformats.org/officeDocument/2006/relationships/image" Target="../media/image32.png"/><Relationship Id="rId16" Type="http://schemas.openxmlformats.org/officeDocument/2006/relationships/image" Target="../media/image30.png"/><Relationship Id="rId5" Type="http://schemas.openxmlformats.org/officeDocument/2006/relationships/image" Target="../media/image22.png"/><Relationship Id="rId19" Type="http://schemas.openxmlformats.org/officeDocument/2006/relationships/image" Target="../media/image44.png"/><Relationship Id="rId6" Type="http://schemas.openxmlformats.org/officeDocument/2006/relationships/image" Target="../media/image18.png"/><Relationship Id="rId18" Type="http://schemas.openxmlformats.org/officeDocument/2006/relationships/image" Target="../media/image38.png"/><Relationship Id="rId7" Type="http://schemas.openxmlformats.org/officeDocument/2006/relationships/image" Target="../media/image40.png"/><Relationship Id="rId8"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9.png"/></Relationships>
</file>

<file path=ppt/slides/_rels/slide11.xml.rels><?xml version="1.0" encoding="UTF-8" standalone="yes"?><Relationships xmlns="http://schemas.openxmlformats.org/package/2006/relationships"><Relationship Id="rId11" Type="http://schemas.openxmlformats.org/officeDocument/2006/relationships/image" Target="../media/image52.png"/><Relationship Id="rId10" Type="http://schemas.openxmlformats.org/officeDocument/2006/relationships/image" Target="../media/image42.png"/><Relationship Id="rId12" Type="http://schemas.openxmlformats.org/officeDocument/2006/relationships/image" Target="../media/image61.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4.png"/><Relationship Id="rId4" Type="http://schemas.openxmlformats.org/officeDocument/2006/relationships/image" Target="../media/image48.png"/><Relationship Id="rId9" Type="http://schemas.openxmlformats.org/officeDocument/2006/relationships/image" Target="../media/image47.png"/><Relationship Id="rId5" Type="http://schemas.openxmlformats.org/officeDocument/2006/relationships/image" Target="../media/image31.png"/><Relationship Id="rId6" Type="http://schemas.openxmlformats.org/officeDocument/2006/relationships/image" Target="../media/image37.png"/><Relationship Id="rId7" Type="http://schemas.openxmlformats.org/officeDocument/2006/relationships/image" Target="../media/image46.png"/><Relationship Id="rId8" Type="http://schemas.openxmlformats.org/officeDocument/2006/relationships/image" Target="../media/image4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3.png"/><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0.png"/><Relationship Id="rId4" Type="http://schemas.openxmlformats.org/officeDocument/2006/relationships/image" Target="../media/image72.png"/><Relationship Id="rId5" Type="http://schemas.openxmlformats.org/officeDocument/2006/relationships/image" Target="../media/image62.png"/><Relationship Id="rId6" Type="http://schemas.openxmlformats.org/officeDocument/2006/relationships/image" Target="../media/image5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7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9.png"/></Relationships>
</file>

<file path=ppt/slides/_rels/slide33.xml.rels><?xml version="1.0" encoding="UTF-8" standalone="yes"?><Relationships xmlns="http://schemas.openxmlformats.org/package/2006/relationships"><Relationship Id="rId11" Type="http://schemas.openxmlformats.org/officeDocument/2006/relationships/hyperlink" Target="http://www.hotmail.com/" TargetMode="External"/><Relationship Id="rId10" Type="http://schemas.openxmlformats.org/officeDocument/2006/relationships/hyperlink" Target="http://www.gmail.com/" TargetMode="External"/><Relationship Id="rId12" Type="http://schemas.openxmlformats.org/officeDocument/2006/relationships/hyperlink" Target="http://docs.google.com/" TargetMode="External"/><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aws.amazon.com/ec2/" TargetMode="External"/><Relationship Id="rId4" Type="http://schemas.openxmlformats.org/officeDocument/2006/relationships/hyperlink" Target="http://aws.amazon.com/s3/" TargetMode="External"/><Relationship Id="rId9" Type="http://schemas.openxmlformats.org/officeDocument/2006/relationships/hyperlink" Target="http://www.salesforce.com/platform/" TargetMode="External"/><Relationship Id="rId5" Type="http://schemas.openxmlformats.org/officeDocument/2006/relationships/hyperlink" Target="http://www.rackspacecloud.com/cloud_hosting_products/servers" TargetMode="External"/><Relationship Id="rId6" Type="http://schemas.openxmlformats.org/officeDocument/2006/relationships/hyperlink" Target="http://www.flexiscale.com/" TargetMode="External"/><Relationship Id="rId7" Type="http://schemas.openxmlformats.org/officeDocument/2006/relationships/hyperlink" Target="http://code.google.com/appengine/" TargetMode="External"/><Relationship Id="rId8" Type="http://schemas.openxmlformats.org/officeDocument/2006/relationships/hyperlink" Target="http://www.microsoft.com/windowsazur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73.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title"/>
          </p:nvPr>
        </p:nvSpPr>
        <p:spPr>
          <a:xfrm>
            <a:off x="304800" y="2362200"/>
            <a:ext cx="8763000" cy="838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Calibri"/>
              <a:buNone/>
            </a:pPr>
            <a:r>
              <a:rPr lang="en-US" sz="3959"/>
              <a:t>Introduction to Big Data </a:t>
            </a:r>
            <a:br>
              <a:rPr lang="en-US" sz="3959"/>
            </a:br>
            <a:endParaRPr sz="3959"/>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What’s Big Data?</a:t>
            </a:r>
            <a:endParaRPr/>
          </a:p>
        </p:txBody>
      </p:sp>
      <p:sp>
        <p:nvSpPr>
          <p:cNvPr id="95" name="Google Shape;95;p2"/>
          <p:cNvSpPr txBox="1"/>
          <p:nvPr>
            <p:ph idx="1" type="body"/>
          </p:nvPr>
        </p:nvSpPr>
        <p:spPr>
          <a:xfrm>
            <a:off x="457200" y="1447800"/>
            <a:ext cx="8382000" cy="50292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2480"/>
              <a:buNone/>
            </a:pPr>
            <a:r>
              <a:rPr b="1" lang="en-US" sz="2480"/>
              <a:t>No single definition; here is from Wikipedia:</a:t>
            </a:r>
            <a:endParaRPr/>
          </a:p>
          <a:p>
            <a:pPr indent="-185420" lvl="0" marL="342900" rtl="0" algn="l">
              <a:lnSpc>
                <a:spcPct val="80000"/>
              </a:lnSpc>
              <a:spcBef>
                <a:spcPts val="496"/>
              </a:spcBef>
              <a:spcAft>
                <a:spcPts val="0"/>
              </a:spcAft>
              <a:buClr>
                <a:schemeClr val="dk1"/>
              </a:buClr>
              <a:buSzPts val="2480"/>
              <a:buNone/>
            </a:pPr>
            <a:r>
              <a:t/>
            </a:r>
            <a:endParaRPr b="1" sz="2480"/>
          </a:p>
          <a:p>
            <a:pPr indent="-342900" lvl="0" marL="342900" rtl="0" algn="l">
              <a:lnSpc>
                <a:spcPct val="80000"/>
              </a:lnSpc>
              <a:spcBef>
                <a:spcPts val="496"/>
              </a:spcBef>
              <a:spcAft>
                <a:spcPts val="0"/>
              </a:spcAft>
              <a:buClr>
                <a:schemeClr val="dk1"/>
              </a:buClr>
              <a:buSzPts val="2480"/>
              <a:buChar char="•"/>
            </a:pPr>
            <a:r>
              <a:rPr b="1" lang="en-US" sz="2480"/>
              <a:t>Big data</a:t>
            </a:r>
            <a:r>
              <a:rPr lang="en-US" sz="2480"/>
              <a:t> is the term for a collection of data sets so large and complex that it becomes difficult to process using on-hand database management tools or traditional data processing applications. </a:t>
            </a:r>
            <a:endParaRPr sz="2480"/>
          </a:p>
          <a:p>
            <a:pPr indent="-342900" lvl="0" marL="342900" rtl="0" algn="l">
              <a:lnSpc>
                <a:spcPct val="80000"/>
              </a:lnSpc>
              <a:spcBef>
                <a:spcPts val="496"/>
              </a:spcBef>
              <a:spcAft>
                <a:spcPts val="0"/>
              </a:spcAft>
              <a:buClr>
                <a:schemeClr val="dk1"/>
              </a:buClr>
              <a:buSzPts val="2480"/>
              <a:buChar char="•"/>
            </a:pPr>
            <a:r>
              <a:rPr lang="en-US" sz="2480"/>
              <a:t>The challenges include </a:t>
            </a:r>
            <a:r>
              <a:rPr lang="en-US" sz="2480">
                <a:solidFill>
                  <a:srgbClr val="FF0000"/>
                </a:solidFill>
              </a:rPr>
              <a:t>capture, curation, storage, search, sharing, transfer, analysis, and visualization</a:t>
            </a:r>
            <a:r>
              <a:rPr lang="en-US" sz="2480"/>
              <a:t>. </a:t>
            </a:r>
            <a:endParaRPr sz="2480"/>
          </a:p>
          <a:p>
            <a:pPr indent="-342900" lvl="0" marL="342900" rtl="0" algn="l">
              <a:lnSpc>
                <a:spcPct val="80000"/>
              </a:lnSpc>
              <a:spcBef>
                <a:spcPts val="496"/>
              </a:spcBef>
              <a:spcAft>
                <a:spcPts val="0"/>
              </a:spcAft>
              <a:buClr>
                <a:schemeClr val="dk1"/>
              </a:buClr>
              <a:buSzPts val="2480"/>
              <a:buChar char="•"/>
            </a:pPr>
            <a:r>
              <a:rPr lang="en-US" sz="2480"/>
              <a:t>The trend to larger data sets is due to the additional information derivable from analysis of a single large set of related data, as compared to separate smaller sets with the same total amount of data, allowing correlations to be found to "</a:t>
            </a:r>
            <a:r>
              <a:rPr lang="en-US" sz="2480">
                <a:solidFill>
                  <a:srgbClr val="0000FF"/>
                </a:solidFill>
              </a:rPr>
              <a:t>spot business trends, determine quality of research, prevent diseases, link legal citations, combat crime, and determine real-time roadway traffic conditions</a:t>
            </a:r>
            <a:r>
              <a:rPr lang="en-US" sz="2480"/>
              <a:t>.”</a:t>
            </a:r>
            <a:endParaRPr sz="2480"/>
          </a:p>
        </p:txBody>
      </p:sp>
      <p:sp>
        <p:nvSpPr>
          <p:cNvPr id="96" name="Google Shape;9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latin typeface="Calibri"/>
                <a:ea typeface="Calibri"/>
                <a:cs typeface="Calibri"/>
                <a:sym typeface="Calibri"/>
              </a:rPr>
              <a:t>Traditionally,</a:t>
            </a:r>
            <a:r>
              <a:rPr lang="en-US"/>
              <a:t> Big Data: 3V’s</a:t>
            </a:r>
            <a:endParaRPr/>
          </a:p>
        </p:txBody>
      </p:sp>
      <p:pic>
        <p:nvPicPr>
          <p:cNvPr id="102" name="Google Shape;102;p3"/>
          <p:cNvPicPr preferRelativeResize="0"/>
          <p:nvPr/>
        </p:nvPicPr>
        <p:blipFill rotWithShape="1">
          <a:blip r:embed="rId3">
            <a:alphaModFix/>
          </a:blip>
          <a:srcRect b="0" l="0" r="0" t="0"/>
          <a:stretch/>
        </p:blipFill>
        <p:spPr>
          <a:xfrm>
            <a:off x="3367512" y="1904503"/>
            <a:ext cx="5380341" cy="3804147"/>
          </a:xfrm>
          <a:prstGeom prst="rect">
            <a:avLst/>
          </a:prstGeom>
          <a:noFill/>
          <a:ln>
            <a:noFill/>
          </a:ln>
        </p:spPr>
      </p:pic>
      <p:pic>
        <p:nvPicPr>
          <p:cNvPr descr="Screen shot 2013-01-13 at 4.45.17 PM.png" id="103" name="Google Shape;103;p3"/>
          <p:cNvPicPr preferRelativeResize="0"/>
          <p:nvPr/>
        </p:nvPicPr>
        <p:blipFill rotWithShape="1">
          <a:blip r:embed="rId4">
            <a:alphaModFix/>
          </a:blip>
          <a:srcRect b="0" l="0" r="0" t="0"/>
          <a:stretch/>
        </p:blipFill>
        <p:spPr>
          <a:xfrm>
            <a:off x="596807" y="1795882"/>
            <a:ext cx="1962503" cy="2370395"/>
          </a:xfrm>
          <a:prstGeom prst="rect">
            <a:avLst/>
          </a:prstGeom>
          <a:noFill/>
          <a:ln>
            <a:noFill/>
          </a:ln>
        </p:spPr>
      </p:pic>
      <p:sp>
        <p:nvSpPr>
          <p:cNvPr id="104" name="Google Shape;10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05" name="Google Shape;105;p3"/>
          <p:cNvPicPr preferRelativeResize="0"/>
          <p:nvPr/>
        </p:nvPicPr>
        <p:blipFill rotWithShape="1">
          <a:blip r:embed="rId5">
            <a:alphaModFix/>
          </a:blip>
          <a:srcRect b="0" l="0" r="0" t="0"/>
          <a:stretch/>
        </p:blipFill>
        <p:spPr>
          <a:xfrm>
            <a:off x="900113" y="4379033"/>
            <a:ext cx="2559729" cy="177786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Volume (Scale) </a:t>
            </a:r>
            <a:endParaRPr>
              <a:solidFill>
                <a:srgbClr val="0000FF"/>
              </a:solidFill>
            </a:endParaRPr>
          </a:p>
        </p:txBody>
      </p:sp>
      <p:sp>
        <p:nvSpPr>
          <p:cNvPr id="111" name="Google Shape;111;p4"/>
          <p:cNvSpPr txBox="1"/>
          <p:nvPr>
            <p:ph idx="1" type="body"/>
          </p:nvPr>
        </p:nvSpPr>
        <p:spPr>
          <a:xfrm>
            <a:off x="627017" y="1956776"/>
            <a:ext cx="5030405" cy="1478238"/>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rgbClr val="800000"/>
              </a:buClr>
              <a:buSzPts val="2240"/>
              <a:buChar char="•"/>
            </a:pPr>
            <a:r>
              <a:rPr b="1" lang="en-US" sz="2240">
                <a:solidFill>
                  <a:srgbClr val="800000"/>
                </a:solidFill>
              </a:rPr>
              <a:t>Data Volume</a:t>
            </a:r>
            <a:endParaRPr/>
          </a:p>
          <a:p>
            <a:pPr indent="-285750" lvl="1" marL="742950" rtl="0" algn="l">
              <a:lnSpc>
                <a:spcPct val="80000"/>
              </a:lnSpc>
              <a:spcBef>
                <a:spcPts val="392"/>
              </a:spcBef>
              <a:spcAft>
                <a:spcPts val="0"/>
              </a:spcAft>
              <a:buClr>
                <a:schemeClr val="dk1"/>
              </a:buClr>
              <a:buSzPts val="1960"/>
              <a:buChar char="–"/>
            </a:pPr>
            <a:r>
              <a:rPr lang="en-US" sz="1960"/>
              <a:t>44x increase from 2009 2020</a:t>
            </a:r>
            <a:endParaRPr/>
          </a:p>
          <a:p>
            <a:pPr indent="-285750" lvl="1" marL="742950" rtl="0" algn="l">
              <a:lnSpc>
                <a:spcPct val="80000"/>
              </a:lnSpc>
              <a:spcBef>
                <a:spcPts val="392"/>
              </a:spcBef>
              <a:spcAft>
                <a:spcPts val="0"/>
              </a:spcAft>
              <a:buClr>
                <a:schemeClr val="dk1"/>
              </a:buClr>
              <a:buSzPts val="1960"/>
              <a:buChar char="–"/>
            </a:pPr>
            <a:r>
              <a:rPr lang="en-US" sz="1960"/>
              <a:t>From 0.8 zettabytes to 35zb</a:t>
            </a:r>
            <a:endParaRPr/>
          </a:p>
          <a:p>
            <a:pPr indent="-342900" lvl="0" marL="342900" rtl="0" algn="l">
              <a:lnSpc>
                <a:spcPct val="80000"/>
              </a:lnSpc>
              <a:spcBef>
                <a:spcPts val="448"/>
              </a:spcBef>
              <a:spcAft>
                <a:spcPts val="0"/>
              </a:spcAft>
              <a:buClr>
                <a:schemeClr val="dk1"/>
              </a:buClr>
              <a:buSzPts val="2240"/>
              <a:buChar char="•"/>
            </a:pPr>
            <a:r>
              <a:rPr lang="en-US" sz="2240"/>
              <a:t>Data volume is increasing exponentially </a:t>
            </a:r>
            <a:endParaRPr sz="2240"/>
          </a:p>
        </p:txBody>
      </p:sp>
      <p:pic>
        <p:nvPicPr>
          <p:cNvPr descr="Screen shot 2013-01-13 at 4.01.47 PM.png" id="112" name="Google Shape;112;p4"/>
          <p:cNvPicPr preferRelativeResize="0"/>
          <p:nvPr/>
        </p:nvPicPr>
        <p:blipFill rotWithShape="1">
          <a:blip r:embed="rId3">
            <a:alphaModFix/>
          </a:blip>
          <a:srcRect b="0" l="0" r="0" t="0"/>
          <a:stretch/>
        </p:blipFill>
        <p:spPr>
          <a:xfrm>
            <a:off x="5913224" y="3235328"/>
            <a:ext cx="2559546" cy="1632883"/>
          </a:xfrm>
          <a:prstGeom prst="rect">
            <a:avLst/>
          </a:prstGeom>
          <a:noFill/>
          <a:ln>
            <a:noFill/>
          </a:ln>
        </p:spPr>
      </p:pic>
      <p:pic>
        <p:nvPicPr>
          <p:cNvPr id="113" name="Google Shape;113;p4"/>
          <p:cNvPicPr preferRelativeResize="0"/>
          <p:nvPr/>
        </p:nvPicPr>
        <p:blipFill rotWithShape="1">
          <a:blip r:embed="rId4">
            <a:alphaModFix/>
          </a:blip>
          <a:srcRect b="0" l="0" r="0" t="0"/>
          <a:stretch/>
        </p:blipFill>
        <p:spPr>
          <a:xfrm>
            <a:off x="5913224" y="1956776"/>
            <a:ext cx="2332251" cy="1233073"/>
          </a:xfrm>
          <a:prstGeom prst="rect">
            <a:avLst/>
          </a:prstGeom>
          <a:noFill/>
          <a:ln>
            <a:noFill/>
          </a:ln>
        </p:spPr>
      </p:pic>
      <p:pic>
        <p:nvPicPr>
          <p:cNvPr descr="Screen shot 2013-01-13 at 4.07.57 PM.png" id="114" name="Google Shape;114;p4"/>
          <p:cNvPicPr preferRelativeResize="0"/>
          <p:nvPr/>
        </p:nvPicPr>
        <p:blipFill rotWithShape="1">
          <a:blip r:embed="rId5">
            <a:alphaModFix/>
          </a:blip>
          <a:srcRect b="0" l="0" r="0" t="0"/>
          <a:stretch/>
        </p:blipFill>
        <p:spPr>
          <a:xfrm>
            <a:off x="255054" y="3775267"/>
            <a:ext cx="5546690" cy="596656"/>
          </a:xfrm>
          <a:prstGeom prst="rect">
            <a:avLst/>
          </a:prstGeom>
          <a:noFill/>
          <a:ln>
            <a:noFill/>
          </a:ln>
        </p:spPr>
      </p:pic>
      <p:sp>
        <p:nvSpPr>
          <p:cNvPr id="115" name="Google Shape;115;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pSp>
        <p:nvGrpSpPr>
          <p:cNvPr id="116" name="Google Shape;116;p4"/>
          <p:cNvGrpSpPr/>
          <p:nvPr/>
        </p:nvGrpSpPr>
        <p:grpSpPr>
          <a:xfrm>
            <a:off x="500318" y="4371924"/>
            <a:ext cx="5674607" cy="1814950"/>
            <a:chOff x="500318" y="4371924"/>
            <a:chExt cx="5674607" cy="1814950"/>
          </a:xfrm>
        </p:grpSpPr>
        <p:pic>
          <p:nvPicPr>
            <p:cNvPr id="117" name="Google Shape;117;p4"/>
            <p:cNvPicPr preferRelativeResize="0"/>
            <p:nvPr/>
          </p:nvPicPr>
          <p:blipFill rotWithShape="1">
            <a:blip r:embed="rId6">
              <a:alphaModFix/>
            </a:blip>
            <a:srcRect b="0" l="0" r="0" t="0"/>
            <a:stretch/>
          </p:blipFill>
          <p:spPr>
            <a:xfrm>
              <a:off x="500318" y="4371924"/>
              <a:ext cx="2419934" cy="1814950"/>
            </a:xfrm>
            <a:prstGeom prst="rect">
              <a:avLst/>
            </a:prstGeom>
            <a:noFill/>
            <a:ln cap="flat" cmpd="sng" w="9525">
              <a:solidFill>
                <a:schemeClr val="dk1"/>
              </a:solidFill>
              <a:prstDash val="solid"/>
              <a:round/>
              <a:headEnd len="sm" w="sm" type="none"/>
              <a:tailEnd len="sm" w="sm" type="none"/>
            </a:ln>
          </p:spPr>
        </p:pic>
        <p:cxnSp>
          <p:nvCxnSpPr>
            <p:cNvPr id="118" name="Google Shape;118;p4"/>
            <p:cNvCxnSpPr/>
            <p:nvPr/>
          </p:nvCxnSpPr>
          <p:spPr>
            <a:xfrm flipH="1" rot="10800000">
              <a:off x="4637546" y="4531910"/>
              <a:ext cx="1443220" cy="1000675"/>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254"/>
                </a:srgbClr>
              </a:outerShdw>
            </a:effectLst>
          </p:spPr>
        </p:cxnSp>
        <p:cxnSp>
          <p:nvCxnSpPr>
            <p:cNvPr id="119" name="Google Shape;119;p4"/>
            <p:cNvCxnSpPr/>
            <p:nvPr/>
          </p:nvCxnSpPr>
          <p:spPr>
            <a:xfrm rot="10800000">
              <a:off x="2386124" y="5388258"/>
              <a:ext cx="1991643" cy="144327"/>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254"/>
                </a:srgbClr>
              </a:outerShdw>
            </a:effectLst>
          </p:spPr>
        </p:cxnSp>
        <p:sp>
          <p:nvSpPr>
            <p:cNvPr id="120" name="Google Shape;120;p4"/>
            <p:cNvSpPr txBox="1"/>
            <p:nvPr/>
          </p:nvSpPr>
          <p:spPr>
            <a:xfrm>
              <a:off x="3731074" y="5542207"/>
              <a:ext cx="244385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FF"/>
                  </a:solidFill>
                  <a:latin typeface="Calibri"/>
                  <a:ea typeface="Calibri"/>
                  <a:cs typeface="Calibri"/>
                  <a:sym typeface="Calibri"/>
                </a:rPr>
                <a:t>Exponential increase in collected/generated data</a:t>
              </a:r>
              <a:endParaRPr b="0" i="1" sz="1400" u="none" cap="none" strike="noStrike">
                <a:solidFill>
                  <a:srgbClr val="0000FF"/>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nvSpPr>
        <p:spPr>
          <a:xfrm>
            <a:off x="773113" y="1358901"/>
            <a:ext cx="2825750" cy="733425"/>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1" i="1" lang="en-US" sz="1800" u="none" cap="none" strike="noStrike">
                <a:solidFill>
                  <a:srgbClr val="00A4DE"/>
                </a:solidFill>
                <a:latin typeface="Arial"/>
                <a:ea typeface="Arial"/>
                <a:cs typeface="Arial"/>
                <a:sym typeface="Arial"/>
              </a:rPr>
              <a:t>12+ TBs</a:t>
            </a:r>
            <a:r>
              <a:rPr b="1" i="0" lang="en-US" sz="1300" u="none" cap="none" strike="noStrike">
                <a:solidFill>
                  <a:srgbClr val="000000"/>
                </a:solidFill>
                <a:latin typeface="Arial"/>
                <a:ea typeface="Arial"/>
                <a:cs typeface="Arial"/>
                <a:sym typeface="Arial"/>
              </a:rPr>
              <a:t> </a:t>
            </a:r>
            <a:br>
              <a:rPr b="1" i="0" lang="en-US" sz="1300" u="none" cap="none" strike="noStrike">
                <a:solidFill>
                  <a:srgbClr val="000000"/>
                </a:solidFill>
                <a:latin typeface="Arial"/>
                <a:ea typeface="Arial"/>
                <a:cs typeface="Arial"/>
                <a:sym typeface="Arial"/>
              </a:rPr>
            </a:br>
            <a:r>
              <a:rPr b="1" i="0" lang="en-US" sz="1400" u="none" cap="none" strike="noStrike">
                <a:solidFill>
                  <a:srgbClr val="075314"/>
                </a:solidFill>
                <a:latin typeface="Arial"/>
                <a:ea typeface="Arial"/>
                <a:cs typeface="Arial"/>
                <a:sym typeface="Arial"/>
              </a:rPr>
              <a:t>of tweet data </a:t>
            </a:r>
            <a:br>
              <a:rPr b="1" i="0" lang="en-US" sz="1400" u="none" cap="none" strike="noStrike">
                <a:solidFill>
                  <a:srgbClr val="075314"/>
                </a:solidFill>
                <a:latin typeface="Arial"/>
                <a:ea typeface="Arial"/>
                <a:cs typeface="Arial"/>
                <a:sym typeface="Arial"/>
              </a:rPr>
            </a:br>
            <a:r>
              <a:rPr b="1" i="0" lang="en-US" sz="1400" u="none" cap="none" strike="noStrike">
                <a:solidFill>
                  <a:srgbClr val="075314"/>
                </a:solidFill>
                <a:latin typeface="Arial"/>
                <a:ea typeface="Arial"/>
                <a:cs typeface="Arial"/>
                <a:sym typeface="Arial"/>
              </a:rPr>
              <a:t>every day</a:t>
            </a:r>
            <a:endParaRPr b="0" i="0" sz="1400" u="none" cap="none" strike="noStrike">
              <a:solidFill>
                <a:srgbClr val="000000"/>
              </a:solidFill>
              <a:latin typeface="Arial"/>
              <a:ea typeface="Arial"/>
              <a:cs typeface="Arial"/>
              <a:sym typeface="Arial"/>
            </a:endParaRPr>
          </a:p>
        </p:txBody>
      </p:sp>
      <p:sp>
        <p:nvSpPr>
          <p:cNvPr id="126" name="Google Shape;126;p5"/>
          <p:cNvSpPr txBox="1"/>
          <p:nvPr/>
        </p:nvSpPr>
        <p:spPr>
          <a:xfrm>
            <a:off x="2138363" y="4549776"/>
            <a:ext cx="1325562" cy="733425"/>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1" i="1" lang="en-US" sz="1800" u="none" cap="none" strike="noStrike">
                <a:solidFill>
                  <a:srgbClr val="00A4DE"/>
                </a:solidFill>
                <a:latin typeface="Arial"/>
                <a:ea typeface="Arial"/>
                <a:cs typeface="Arial"/>
                <a:sym typeface="Arial"/>
              </a:rPr>
              <a:t>25+ TBs </a:t>
            </a:r>
            <a:r>
              <a:rPr b="1" i="0" lang="en-US" sz="1400" u="none" cap="none" strike="noStrike">
                <a:solidFill>
                  <a:srgbClr val="075314"/>
                </a:solidFill>
                <a:latin typeface="Arial"/>
                <a:ea typeface="Arial"/>
                <a:cs typeface="Arial"/>
                <a:sym typeface="Arial"/>
              </a:rPr>
              <a:t>of</a:t>
            </a:r>
            <a:br>
              <a:rPr b="1" i="0" lang="en-US" sz="1400" u="none" cap="none" strike="noStrike">
                <a:solidFill>
                  <a:srgbClr val="075314"/>
                </a:solidFill>
                <a:latin typeface="Arial"/>
                <a:ea typeface="Arial"/>
                <a:cs typeface="Arial"/>
                <a:sym typeface="Arial"/>
              </a:rPr>
            </a:br>
            <a:r>
              <a:rPr b="1" i="0" lang="en-US" sz="1400" u="none" cap="none" strike="noStrike">
                <a:solidFill>
                  <a:srgbClr val="075314"/>
                </a:solidFill>
                <a:latin typeface="Arial"/>
                <a:ea typeface="Arial"/>
                <a:cs typeface="Arial"/>
                <a:sym typeface="Arial"/>
              </a:rPr>
              <a:t>log data every day</a:t>
            </a:r>
            <a:endParaRPr b="0" i="0" sz="1400" u="none" cap="none" strike="noStrike">
              <a:solidFill>
                <a:srgbClr val="000000"/>
              </a:solidFill>
              <a:latin typeface="Arial"/>
              <a:ea typeface="Arial"/>
              <a:cs typeface="Arial"/>
              <a:sym typeface="Arial"/>
            </a:endParaRPr>
          </a:p>
        </p:txBody>
      </p:sp>
      <p:pic>
        <p:nvPicPr>
          <p:cNvPr id="127" name="Google Shape;127;p5"/>
          <p:cNvPicPr preferRelativeResize="0"/>
          <p:nvPr/>
        </p:nvPicPr>
        <p:blipFill rotWithShape="1">
          <a:blip r:embed="rId3">
            <a:alphaModFix/>
          </a:blip>
          <a:srcRect b="0" l="0" r="0" t="0"/>
          <a:stretch/>
        </p:blipFill>
        <p:spPr>
          <a:xfrm>
            <a:off x="750888" y="2036764"/>
            <a:ext cx="2784475" cy="2544762"/>
          </a:xfrm>
          <a:prstGeom prst="rect">
            <a:avLst/>
          </a:prstGeom>
          <a:noFill/>
          <a:ln>
            <a:noFill/>
          </a:ln>
        </p:spPr>
      </p:pic>
      <p:sp>
        <p:nvSpPr>
          <p:cNvPr id="128" name="Google Shape;128;p5"/>
          <p:cNvSpPr/>
          <p:nvPr/>
        </p:nvSpPr>
        <p:spPr>
          <a:xfrm rot="-5400000">
            <a:off x="-189706" y="3556795"/>
            <a:ext cx="1470025" cy="53816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1" lang="en-US" sz="1800" u="none" cap="none" strike="noStrike">
                <a:solidFill>
                  <a:srgbClr val="00A4DE"/>
                </a:solidFill>
                <a:latin typeface="Calibri"/>
                <a:ea typeface="Calibri"/>
                <a:cs typeface="Calibri"/>
                <a:sym typeface="Calibri"/>
              </a:rPr>
              <a:t>? TBs </a:t>
            </a:r>
            <a:r>
              <a:rPr b="0" i="0" lang="en-US" sz="1400" u="none" cap="none" strike="noStrike">
                <a:solidFill>
                  <a:srgbClr val="075314"/>
                </a:solidFill>
                <a:latin typeface="Calibri"/>
                <a:ea typeface="Calibri"/>
                <a:cs typeface="Calibri"/>
                <a:sym typeface="Calibri"/>
              </a:rPr>
              <a:t>of</a:t>
            </a:r>
            <a:br>
              <a:rPr b="0" i="0" lang="en-US" sz="1400" u="none" cap="none" strike="noStrike">
                <a:solidFill>
                  <a:srgbClr val="075314"/>
                </a:solidFill>
                <a:latin typeface="Calibri"/>
                <a:ea typeface="Calibri"/>
                <a:cs typeface="Calibri"/>
                <a:sym typeface="Calibri"/>
              </a:rPr>
            </a:br>
            <a:r>
              <a:rPr b="0" i="0" lang="en-US" sz="1400" u="none" cap="none" strike="noStrike">
                <a:solidFill>
                  <a:srgbClr val="075314"/>
                </a:solidFill>
                <a:latin typeface="Calibri"/>
                <a:ea typeface="Calibri"/>
                <a:cs typeface="Calibri"/>
                <a:sym typeface="Calibri"/>
              </a:rPr>
              <a:t>data every day</a:t>
            </a:r>
            <a:endParaRPr b="0" i="0" sz="1400" u="none" cap="none" strike="noStrike">
              <a:solidFill>
                <a:srgbClr val="000000"/>
              </a:solidFill>
              <a:latin typeface="Arial"/>
              <a:ea typeface="Arial"/>
              <a:cs typeface="Arial"/>
              <a:sym typeface="Arial"/>
            </a:endParaRPr>
          </a:p>
        </p:txBody>
      </p:sp>
      <p:grpSp>
        <p:nvGrpSpPr>
          <p:cNvPr id="129" name="Google Shape;129;p5"/>
          <p:cNvGrpSpPr/>
          <p:nvPr/>
        </p:nvGrpSpPr>
        <p:grpSpPr>
          <a:xfrm>
            <a:off x="376238" y="4638676"/>
            <a:ext cx="1638300" cy="1509713"/>
            <a:chOff x="264585" y="4317999"/>
            <a:chExt cx="1842062" cy="2180183"/>
          </a:xfrm>
        </p:grpSpPr>
        <p:pic>
          <p:nvPicPr>
            <p:cNvPr id="130" name="Google Shape;130;p5"/>
            <p:cNvPicPr preferRelativeResize="0"/>
            <p:nvPr/>
          </p:nvPicPr>
          <p:blipFill rotWithShape="1">
            <a:blip r:embed="rId4">
              <a:alphaModFix/>
            </a:blip>
            <a:srcRect b="0" l="0" r="0" t="0"/>
            <a:stretch/>
          </p:blipFill>
          <p:spPr>
            <a:xfrm>
              <a:off x="664926" y="6117182"/>
              <a:ext cx="892629" cy="381000"/>
            </a:xfrm>
            <a:prstGeom prst="rect">
              <a:avLst/>
            </a:prstGeom>
            <a:noFill/>
            <a:ln>
              <a:noFill/>
            </a:ln>
          </p:spPr>
        </p:pic>
        <p:pic>
          <p:nvPicPr>
            <p:cNvPr id="131" name="Google Shape;131;p5"/>
            <p:cNvPicPr preferRelativeResize="0"/>
            <p:nvPr/>
          </p:nvPicPr>
          <p:blipFill rotWithShape="1">
            <a:blip r:embed="rId5">
              <a:alphaModFix/>
            </a:blip>
            <a:srcRect b="0" l="0" r="0" t="0"/>
            <a:stretch/>
          </p:blipFill>
          <p:spPr>
            <a:xfrm>
              <a:off x="264585" y="4317999"/>
              <a:ext cx="1842062" cy="1788583"/>
            </a:xfrm>
            <a:prstGeom prst="rect">
              <a:avLst/>
            </a:prstGeom>
            <a:noFill/>
            <a:ln>
              <a:noFill/>
            </a:ln>
          </p:spPr>
        </p:pic>
      </p:grpSp>
      <p:sp>
        <p:nvSpPr>
          <p:cNvPr id="132" name="Google Shape;132;p5"/>
          <p:cNvSpPr/>
          <p:nvPr/>
        </p:nvSpPr>
        <p:spPr>
          <a:xfrm rot="-5400000">
            <a:off x="3103563" y="115888"/>
            <a:ext cx="5651500" cy="6334125"/>
          </a:xfrm>
          <a:prstGeom prst="trapezoid">
            <a:avLst>
              <a:gd fmla="val 28745" name="adj"/>
            </a:avLst>
          </a:prstGeom>
          <a:solidFill>
            <a:srgbClr val="7889FB">
              <a:alpha val="9411"/>
            </a:srgbClr>
          </a:solid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3" name="Google Shape;133;p5"/>
          <p:cNvGrpSpPr/>
          <p:nvPr/>
        </p:nvGrpSpPr>
        <p:grpSpPr>
          <a:xfrm>
            <a:off x="3886200" y="627064"/>
            <a:ext cx="5337175" cy="5902325"/>
            <a:chOff x="3733800" y="742950"/>
            <a:chExt cx="5337175" cy="5902325"/>
          </a:xfrm>
        </p:grpSpPr>
        <p:grpSp>
          <p:nvGrpSpPr>
            <p:cNvPr id="134" name="Google Shape;134;p5"/>
            <p:cNvGrpSpPr/>
            <p:nvPr/>
          </p:nvGrpSpPr>
          <p:grpSpPr>
            <a:xfrm>
              <a:off x="3744913" y="742950"/>
              <a:ext cx="5326062" cy="5704900"/>
              <a:chOff x="3744913" y="742950"/>
              <a:chExt cx="5326062" cy="5704900"/>
            </a:xfrm>
          </p:grpSpPr>
          <p:pic>
            <p:nvPicPr>
              <p:cNvPr descr="mobile-internet" id="135" name="Google Shape;135;p5"/>
              <p:cNvPicPr preferRelativeResize="0"/>
              <p:nvPr/>
            </p:nvPicPr>
            <p:blipFill rotWithShape="1">
              <a:blip r:embed="rId6">
                <a:alphaModFix/>
              </a:blip>
              <a:srcRect b="0" l="0" r="0" t="0"/>
              <a:stretch/>
            </p:blipFill>
            <p:spPr>
              <a:xfrm rot="675222">
                <a:off x="7105650" y="858838"/>
                <a:ext cx="942975" cy="1265237"/>
              </a:xfrm>
              <a:prstGeom prst="rect">
                <a:avLst/>
              </a:prstGeom>
              <a:noFill/>
              <a:ln>
                <a:noFill/>
              </a:ln>
            </p:spPr>
          </p:pic>
          <p:pic>
            <p:nvPicPr>
              <p:cNvPr descr="TrendsMontage" id="136" name="Google Shape;136;p5"/>
              <p:cNvPicPr preferRelativeResize="0"/>
              <p:nvPr/>
            </p:nvPicPr>
            <p:blipFill rotWithShape="1">
              <a:blip r:embed="rId7">
                <a:alphaModFix/>
              </a:blip>
              <a:srcRect b="0" l="0" r="0" t="0"/>
              <a:stretch/>
            </p:blipFill>
            <p:spPr>
              <a:xfrm>
                <a:off x="3744913" y="1103313"/>
                <a:ext cx="4648200" cy="5192712"/>
              </a:xfrm>
              <a:prstGeom prst="rect">
                <a:avLst/>
              </a:prstGeom>
              <a:noFill/>
              <a:ln>
                <a:noFill/>
              </a:ln>
            </p:spPr>
          </p:pic>
          <p:sp>
            <p:nvSpPr>
              <p:cNvPr id="137" name="Google Shape;137;p5"/>
              <p:cNvSpPr/>
              <p:nvPr/>
            </p:nvSpPr>
            <p:spPr>
              <a:xfrm>
                <a:off x="7805738" y="4570413"/>
                <a:ext cx="1265237" cy="1877437"/>
              </a:xfrm>
              <a:prstGeom prst="rect">
                <a:avLst/>
              </a:prstGeom>
              <a:noFill/>
              <a:ln>
                <a:noFill/>
              </a:ln>
            </p:spPr>
            <p:txBody>
              <a:bodyPr anchorCtr="0" anchor="t" bIns="228600" lIns="228600" spcFirstLastPara="1" rIns="228600" wrap="square" tIns="228600">
                <a:spAutoFit/>
              </a:bodyPr>
              <a:lstStyle/>
              <a:p>
                <a:pPr indent="0" lvl="0" marL="0" marR="0" rtl="0" algn="r">
                  <a:lnSpc>
                    <a:spcPct val="100000"/>
                  </a:lnSpc>
                  <a:spcBef>
                    <a:spcPts val="0"/>
                  </a:spcBef>
                  <a:spcAft>
                    <a:spcPts val="0"/>
                  </a:spcAft>
                  <a:buClr>
                    <a:srgbClr val="000000"/>
                  </a:buClr>
                  <a:buSzPts val="1800"/>
                  <a:buFont typeface="Arial"/>
                  <a:buNone/>
                </a:pPr>
                <a:r>
                  <a:rPr b="0" i="1" lang="en-US" sz="1800" u="none" cap="none" strike="noStrike">
                    <a:solidFill>
                      <a:srgbClr val="00A4DE"/>
                    </a:solidFill>
                    <a:latin typeface="Calibri"/>
                    <a:ea typeface="Calibri"/>
                    <a:cs typeface="Calibri"/>
                    <a:sym typeface="Calibri"/>
                  </a:rPr>
                  <a:t>2+ billion</a:t>
                </a:r>
                <a:r>
                  <a:rPr b="0" i="0" lang="en-US" sz="1400" u="none" cap="none" strike="noStrike">
                    <a:solidFill>
                      <a:srgbClr val="075314"/>
                    </a:solidFill>
                    <a:latin typeface="Calibri"/>
                    <a:ea typeface="Calibri"/>
                    <a:cs typeface="Calibri"/>
                    <a:sym typeface="Calibri"/>
                  </a:rPr>
                  <a:t> people on the Web by end 2011 </a:t>
                </a:r>
                <a:endParaRPr b="0" i="0" sz="1800" u="none" cap="none" strike="noStrike">
                  <a:solidFill>
                    <a:schemeClr val="dk1"/>
                  </a:solidFill>
                  <a:latin typeface="Calibri"/>
                  <a:ea typeface="Calibri"/>
                  <a:cs typeface="Calibri"/>
                  <a:sym typeface="Calibri"/>
                </a:endParaRPr>
              </a:p>
            </p:txBody>
          </p:sp>
          <p:sp>
            <p:nvSpPr>
              <p:cNvPr id="138" name="Google Shape;138;p5"/>
              <p:cNvSpPr/>
              <p:nvPr/>
            </p:nvSpPr>
            <p:spPr>
              <a:xfrm>
                <a:off x="4297363" y="927631"/>
                <a:ext cx="1997075" cy="1169551"/>
              </a:xfrm>
              <a:prstGeom prst="rect">
                <a:avLst/>
              </a:prstGeom>
              <a:noFill/>
              <a:ln>
                <a:noFill/>
              </a:ln>
            </p:spPr>
            <p:txBody>
              <a:bodyPr anchorCtr="0" anchor="t" bIns="228600" lIns="228600" spcFirstLastPara="1" rIns="228600" wrap="square" tIns="228600">
                <a:sp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00A4DE"/>
                    </a:solidFill>
                    <a:latin typeface="Calibri"/>
                    <a:ea typeface="Calibri"/>
                    <a:cs typeface="Calibri"/>
                    <a:sym typeface="Calibri"/>
                  </a:rPr>
                  <a:t>30 billion</a:t>
                </a:r>
                <a:r>
                  <a:rPr b="0" i="0" lang="en-US" sz="1400" u="none" cap="none" strike="noStrike">
                    <a:solidFill>
                      <a:srgbClr val="075314"/>
                    </a:solidFill>
                    <a:latin typeface="Calibri"/>
                    <a:ea typeface="Calibri"/>
                    <a:cs typeface="Calibri"/>
                    <a:sym typeface="Calibri"/>
                  </a:rPr>
                  <a:t> RFID tags today</a:t>
                </a:r>
                <a:br>
                  <a:rPr b="0" i="0" lang="en-US" sz="1400" u="none" cap="none" strike="noStrike">
                    <a:solidFill>
                      <a:srgbClr val="075314"/>
                    </a:solidFill>
                    <a:latin typeface="Calibri"/>
                    <a:ea typeface="Calibri"/>
                    <a:cs typeface="Calibri"/>
                    <a:sym typeface="Calibri"/>
                  </a:rPr>
                </a:br>
                <a:r>
                  <a:rPr b="0" i="0" lang="en-US" sz="1400" u="none" cap="none" strike="noStrike">
                    <a:solidFill>
                      <a:srgbClr val="075314"/>
                    </a:solidFill>
                    <a:latin typeface="Calibri"/>
                    <a:ea typeface="Calibri"/>
                    <a:cs typeface="Calibri"/>
                    <a:sym typeface="Calibri"/>
                  </a:rPr>
                  <a:t> (1.3B in 2005)</a:t>
                </a:r>
                <a:endParaRPr b="0" i="0" sz="1800" u="none" cap="none" strike="noStrike">
                  <a:solidFill>
                    <a:schemeClr val="dk1"/>
                  </a:solidFill>
                  <a:latin typeface="Calibri"/>
                  <a:ea typeface="Calibri"/>
                  <a:cs typeface="Calibri"/>
                  <a:sym typeface="Calibri"/>
                </a:endParaRPr>
              </a:p>
            </p:txBody>
          </p:sp>
          <p:sp>
            <p:nvSpPr>
              <p:cNvPr id="139" name="Google Shape;139;p5"/>
              <p:cNvSpPr/>
              <p:nvPr/>
            </p:nvSpPr>
            <p:spPr>
              <a:xfrm>
                <a:off x="7747000" y="742950"/>
                <a:ext cx="1323975" cy="1857375"/>
              </a:xfrm>
              <a:prstGeom prst="rect">
                <a:avLst/>
              </a:prstGeom>
              <a:noFill/>
              <a:ln>
                <a:noFill/>
              </a:ln>
            </p:spPr>
            <p:txBody>
              <a:bodyPr anchorCtr="0" anchor="t" bIns="228600" lIns="228600" spcFirstLastPara="1" rIns="228600" wrap="square" tIns="228600">
                <a:spAutoFit/>
              </a:bodyPr>
              <a:lstStyle/>
              <a:p>
                <a:pPr indent="0" lvl="0" marL="0" marR="0" rtl="0" algn="r">
                  <a:lnSpc>
                    <a:spcPct val="100000"/>
                  </a:lnSpc>
                  <a:spcBef>
                    <a:spcPts val="0"/>
                  </a:spcBef>
                  <a:spcAft>
                    <a:spcPts val="0"/>
                  </a:spcAft>
                  <a:buClr>
                    <a:srgbClr val="000000"/>
                  </a:buClr>
                  <a:buSzPts val="1800"/>
                  <a:buFont typeface="Arial"/>
                  <a:buNone/>
                </a:pPr>
                <a:r>
                  <a:rPr b="0" i="1" lang="en-US" sz="1800" u="none" cap="none" strike="noStrike">
                    <a:solidFill>
                      <a:srgbClr val="00A4DE"/>
                    </a:solidFill>
                    <a:latin typeface="Calibri"/>
                    <a:ea typeface="Calibri"/>
                    <a:cs typeface="Calibri"/>
                    <a:sym typeface="Calibri"/>
                  </a:rPr>
                  <a:t>4.6 billion</a:t>
                </a:r>
                <a:r>
                  <a:rPr b="0" i="0" lang="en-US" sz="1400" u="none" cap="none" strike="noStrike">
                    <a:solidFill>
                      <a:srgbClr val="075314"/>
                    </a:solidFill>
                    <a:latin typeface="Calibri"/>
                    <a:ea typeface="Calibri"/>
                    <a:cs typeface="Calibri"/>
                    <a:sym typeface="Calibri"/>
                  </a:rPr>
                  <a:t> camera phones world wide</a:t>
                </a:r>
                <a:endParaRPr b="0" i="0" sz="1800" u="none" cap="none" strike="noStrike">
                  <a:solidFill>
                    <a:schemeClr val="dk1"/>
                  </a:solidFill>
                  <a:latin typeface="Calibri"/>
                  <a:ea typeface="Calibri"/>
                  <a:cs typeface="Calibri"/>
                  <a:sym typeface="Calibri"/>
                </a:endParaRPr>
              </a:p>
            </p:txBody>
          </p:sp>
          <p:sp>
            <p:nvSpPr>
              <p:cNvPr id="140" name="Google Shape;140;p5"/>
              <p:cNvSpPr/>
              <p:nvPr/>
            </p:nvSpPr>
            <p:spPr>
              <a:xfrm>
                <a:off x="7696200" y="2609850"/>
                <a:ext cx="1374775" cy="2215991"/>
              </a:xfrm>
              <a:prstGeom prst="rect">
                <a:avLst/>
              </a:prstGeom>
              <a:noFill/>
              <a:ln>
                <a:noFill/>
              </a:ln>
            </p:spPr>
            <p:txBody>
              <a:bodyPr anchorCtr="0" anchor="t" bIns="228600" lIns="228600" spcFirstLastPara="1" rIns="228600" wrap="square" tIns="228600">
                <a:spAutoFit/>
              </a:bodyPr>
              <a:lstStyle/>
              <a:p>
                <a:pPr indent="0" lvl="0" marL="0" marR="0" rtl="0" algn="r">
                  <a:lnSpc>
                    <a:spcPct val="100000"/>
                  </a:lnSpc>
                  <a:spcBef>
                    <a:spcPts val="0"/>
                  </a:spcBef>
                  <a:spcAft>
                    <a:spcPts val="0"/>
                  </a:spcAft>
                  <a:buClr>
                    <a:srgbClr val="000000"/>
                  </a:buClr>
                  <a:buSzPts val="1800"/>
                  <a:buFont typeface="Arial"/>
                  <a:buNone/>
                </a:pPr>
                <a:r>
                  <a:rPr b="0" i="1" lang="en-US" sz="1800" u="none" cap="none" strike="noStrike">
                    <a:solidFill>
                      <a:srgbClr val="00A4DE"/>
                    </a:solidFill>
                    <a:latin typeface="Calibri"/>
                    <a:ea typeface="Calibri"/>
                    <a:cs typeface="Calibri"/>
                    <a:sym typeface="Calibri"/>
                  </a:rPr>
                  <a:t>100s of millions of GPS enabled</a:t>
                </a:r>
                <a:r>
                  <a:rPr b="0" i="0" lang="en-US" sz="1400" u="none" cap="none" strike="noStrike">
                    <a:solidFill>
                      <a:srgbClr val="075314"/>
                    </a:solidFill>
                    <a:latin typeface="Calibri"/>
                    <a:ea typeface="Calibri"/>
                    <a:cs typeface="Calibri"/>
                    <a:sym typeface="Calibri"/>
                  </a:rPr>
                  <a:t> devices sold annually</a:t>
                </a:r>
                <a:endParaRPr b="0" i="0" sz="1800" u="none" cap="none" strike="noStrike">
                  <a:solidFill>
                    <a:schemeClr val="dk1"/>
                  </a:solidFill>
                  <a:latin typeface="Calibri"/>
                  <a:ea typeface="Calibri"/>
                  <a:cs typeface="Calibri"/>
                  <a:sym typeface="Calibri"/>
                </a:endParaRPr>
              </a:p>
            </p:txBody>
          </p:sp>
        </p:grpSp>
        <p:sp>
          <p:nvSpPr>
            <p:cNvPr id="141" name="Google Shape;141;p5"/>
            <p:cNvSpPr/>
            <p:nvPr/>
          </p:nvSpPr>
          <p:spPr>
            <a:xfrm>
              <a:off x="3733800" y="5487988"/>
              <a:ext cx="2374900" cy="1157287"/>
            </a:xfrm>
            <a:prstGeom prst="rect">
              <a:avLst/>
            </a:prstGeom>
            <a:noFill/>
            <a:ln>
              <a:noFill/>
            </a:ln>
          </p:spPr>
          <p:txBody>
            <a:bodyPr anchorCtr="0" anchor="t" bIns="228600" lIns="228600" spcFirstLastPara="1" rIns="228600" wrap="square" tIns="228600">
              <a:sp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rgbClr val="00A4DE"/>
                  </a:solidFill>
                  <a:latin typeface="Calibri"/>
                  <a:ea typeface="Calibri"/>
                  <a:cs typeface="Calibri"/>
                  <a:sym typeface="Calibri"/>
                </a:rPr>
                <a:t>76 million</a:t>
              </a:r>
              <a:r>
                <a:rPr b="0" i="0" lang="en-US" sz="1400" u="none" cap="none" strike="noStrike">
                  <a:solidFill>
                    <a:srgbClr val="075314"/>
                  </a:solidFill>
                  <a:latin typeface="Calibri"/>
                  <a:ea typeface="Calibri"/>
                  <a:cs typeface="Calibri"/>
                  <a:sym typeface="Calibri"/>
                </a:rPr>
                <a:t> smart meters in 2009…</a:t>
              </a:r>
              <a:br>
                <a:rPr b="0" i="0" lang="en-US" sz="1400" u="none" cap="none" strike="noStrike">
                  <a:solidFill>
                    <a:srgbClr val="075314"/>
                  </a:solidFill>
                  <a:latin typeface="Calibri"/>
                  <a:ea typeface="Calibri"/>
                  <a:cs typeface="Calibri"/>
                  <a:sym typeface="Calibri"/>
                </a:rPr>
              </a:br>
              <a:r>
                <a:rPr b="0" i="0" lang="en-US" sz="1400" u="none" cap="none" strike="noStrike">
                  <a:solidFill>
                    <a:srgbClr val="075314"/>
                  </a:solidFill>
                  <a:latin typeface="Calibri"/>
                  <a:ea typeface="Calibri"/>
                  <a:cs typeface="Calibri"/>
                  <a:sym typeface="Calibri"/>
                </a:rPr>
                <a:t> 200M by 2014 </a:t>
              </a:r>
              <a:endParaRPr b="0" i="0" sz="1800" u="none" cap="none" strike="noStrike">
                <a:solidFill>
                  <a:schemeClr val="dk1"/>
                </a:solidFill>
                <a:latin typeface="Calibri"/>
                <a:ea typeface="Calibri"/>
                <a:cs typeface="Calibri"/>
                <a:sym typeface="Calibri"/>
              </a:endParaRPr>
            </a:p>
          </p:txBody>
        </p:sp>
      </p:grpSp>
      <p:sp>
        <p:nvSpPr>
          <p:cNvPr id="142" name="Google Shape;142;p5"/>
          <p:cNvSpPr/>
          <p:nvPr/>
        </p:nvSpPr>
        <p:spPr>
          <a:xfrm rot="-5400000">
            <a:off x="3255963" y="268288"/>
            <a:ext cx="5651500" cy="6334125"/>
          </a:xfrm>
          <a:prstGeom prst="trapezoid">
            <a:avLst>
              <a:gd fmla="val 28745" name="adj"/>
            </a:avLst>
          </a:prstGeom>
          <a:solidFill>
            <a:schemeClr val="dk2">
              <a:alpha val="9411"/>
            </a:schemeClr>
          </a:solid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30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lhc26.jpg" id="148" name="Google Shape;148;p6"/>
          <p:cNvPicPr preferRelativeResize="0"/>
          <p:nvPr/>
        </p:nvPicPr>
        <p:blipFill rotWithShape="1">
          <a:blip r:embed="rId3">
            <a:alphaModFix/>
          </a:blip>
          <a:srcRect b="0" l="0" r="0" t="0"/>
          <a:stretch/>
        </p:blipFill>
        <p:spPr>
          <a:xfrm>
            <a:off x="0" y="501650"/>
            <a:ext cx="9144000" cy="5854700"/>
          </a:xfrm>
          <a:prstGeom prst="rect">
            <a:avLst/>
          </a:prstGeom>
          <a:noFill/>
          <a:ln>
            <a:noFill/>
          </a:ln>
        </p:spPr>
      </p:pic>
      <p:sp>
        <p:nvSpPr>
          <p:cNvPr id="149" name="Google Shape;149;p6"/>
          <p:cNvSpPr txBox="1"/>
          <p:nvPr/>
        </p:nvSpPr>
        <p:spPr>
          <a:xfrm>
            <a:off x="0" y="6611938"/>
            <a:ext cx="2362200" cy="2460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Maximilien Brice, © CERN</a:t>
            </a:r>
            <a:endParaRPr b="0" i="0" sz="1000" u="none" cap="none" strike="noStrike">
              <a:solidFill>
                <a:schemeClr val="lt1"/>
              </a:solidFill>
              <a:latin typeface="Calibri"/>
              <a:ea typeface="Calibri"/>
              <a:cs typeface="Calibri"/>
              <a:sym typeface="Calibri"/>
            </a:endParaRPr>
          </a:p>
        </p:txBody>
      </p:sp>
      <p:sp>
        <p:nvSpPr>
          <p:cNvPr id="150" name="Google Shape;150;p6"/>
          <p:cNvSpPr/>
          <p:nvPr/>
        </p:nvSpPr>
        <p:spPr>
          <a:xfrm>
            <a:off x="1676400" y="6400800"/>
            <a:ext cx="6400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CERN’s Large Hydron Collider (LHC) generates 15 PB a year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solidFill>
                  <a:schemeClr val="dk1"/>
                </a:solidFill>
              </a:rPr>
              <a:t>The Earthscope</a:t>
            </a:r>
            <a:endParaRPr/>
          </a:p>
        </p:txBody>
      </p:sp>
      <p:sp>
        <p:nvSpPr>
          <p:cNvPr id="156" name="Google Shape;156;p7"/>
          <p:cNvSpPr txBox="1"/>
          <p:nvPr>
            <p:ph idx="1" type="body"/>
          </p:nvPr>
        </p:nvSpPr>
        <p:spPr>
          <a:xfrm>
            <a:off x="76200" y="1447800"/>
            <a:ext cx="5410200" cy="4876800"/>
          </a:xfrm>
          <a:prstGeom prst="rect">
            <a:avLst/>
          </a:prstGeom>
          <a:noFill/>
          <a:ln>
            <a:noFill/>
          </a:ln>
        </p:spPr>
        <p:txBody>
          <a:bodyPr anchorCtr="0" anchor="t" bIns="45700" lIns="91425" spcFirstLastPara="1" rIns="91425" wrap="square" tIns="45700">
            <a:normAutofit/>
          </a:bodyPr>
          <a:lstStyle/>
          <a:p>
            <a:pPr indent="-182880" lvl="0" marL="182880" rtl="0" algn="l">
              <a:lnSpc>
                <a:spcPct val="80000"/>
              </a:lnSpc>
              <a:spcBef>
                <a:spcPts val="0"/>
              </a:spcBef>
              <a:spcAft>
                <a:spcPts val="0"/>
              </a:spcAft>
              <a:buClr>
                <a:schemeClr val="dk1"/>
              </a:buClr>
              <a:buSzPts val="2480"/>
              <a:buFont typeface="Arial"/>
              <a:buChar char="•"/>
            </a:pPr>
            <a:r>
              <a:rPr lang="en-US" sz="2480"/>
              <a:t>The Earthscope is the world's largest science project. Designed to track North America's geological evolution, this observatory records data over 3.8 million square miles, amassing 67 terabytes of data. It analyzes seismic slips in the San Andreas fault, sure, but also the plume of magma underneath Yellowstone and much, much more. (http://www.msnbc.msn.com/id/44363598/ns/technology_and_science-future_of_technology/#.TmetOdQ--uI)</a:t>
            </a:r>
            <a:endParaRPr sz="2480"/>
          </a:p>
          <a:p>
            <a:pPr indent="-25400" lvl="0" marL="182880" rtl="0" algn="l">
              <a:lnSpc>
                <a:spcPct val="80000"/>
              </a:lnSpc>
              <a:spcBef>
                <a:spcPts val="496"/>
              </a:spcBef>
              <a:spcAft>
                <a:spcPts val="0"/>
              </a:spcAft>
              <a:buClr>
                <a:schemeClr val="dk1"/>
              </a:buClr>
              <a:buSzPts val="2480"/>
              <a:buFont typeface="Arial"/>
              <a:buNone/>
            </a:pPr>
            <a:r>
              <a:t/>
            </a:r>
            <a:endParaRPr sz="2480"/>
          </a:p>
        </p:txBody>
      </p:sp>
      <p:sp>
        <p:nvSpPr>
          <p:cNvPr id="157" name="Google Shape;157;p7"/>
          <p:cNvSpPr/>
          <p:nvPr/>
        </p:nvSpPr>
        <p:spPr>
          <a:xfrm>
            <a:off x="0" y="-323850"/>
            <a:ext cx="441325" cy="647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http://msnbcmedia3.msn.com/j/MSNBC/Components/Photo/_new/110901-Pop1Photo-hmed-0235p.grid-4x2.jpg" id="158" name="Google Shape;158;p7"/>
          <p:cNvPicPr preferRelativeResize="0"/>
          <p:nvPr/>
        </p:nvPicPr>
        <p:blipFill rotWithShape="1">
          <a:blip r:embed="rId3">
            <a:alphaModFix/>
          </a:blip>
          <a:srcRect b="0" l="0" r="0" t="0"/>
          <a:stretch/>
        </p:blipFill>
        <p:spPr>
          <a:xfrm>
            <a:off x="5791200" y="1828800"/>
            <a:ext cx="2933700" cy="3495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Variety (Complexity) </a:t>
            </a:r>
            <a:endParaRPr/>
          </a:p>
        </p:txBody>
      </p:sp>
      <p:sp>
        <p:nvSpPr>
          <p:cNvPr id="164" name="Google Shape;164;p8"/>
          <p:cNvSpPr txBox="1"/>
          <p:nvPr>
            <p:ph idx="1" type="body"/>
          </p:nvPr>
        </p:nvSpPr>
        <p:spPr>
          <a:xfrm>
            <a:off x="124265" y="1707926"/>
            <a:ext cx="5285935" cy="4007074"/>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1760"/>
              <a:buChar char="•"/>
            </a:pPr>
            <a:r>
              <a:rPr lang="en-US" sz="1760"/>
              <a:t>Relational Data (Tables/Transaction/Legacy Data)</a:t>
            </a:r>
            <a:endParaRPr/>
          </a:p>
          <a:p>
            <a:pPr indent="-342900" lvl="0" marL="342900" rtl="0" algn="l">
              <a:lnSpc>
                <a:spcPct val="80000"/>
              </a:lnSpc>
              <a:spcBef>
                <a:spcPts val="352"/>
              </a:spcBef>
              <a:spcAft>
                <a:spcPts val="0"/>
              </a:spcAft>
              <a:buClr>
                <a:schemeClr val="dk1"/>
              </a:buClr>
              <a:buSzPts val="1760"/>
              <a:buChar char="•"/>
            </a:pPr>
            <a:r>
              <a:rPr lang="en-US" sz="1760"/>
              <a:t>Text Data (Web)</a:t>
            </a:r>
            <a:endParaRPr/>
          </a:p>
          <a:p>
            <a:pPr indent="-342900" lvl="0" marL="342900" rtl="0" algn="l">
              <a:lnSpc>
                <a:spcPct val="80000"/>
              </a:lnSpc>
              <a:spcBef>
                <a:spcPts val="352"/>
              </a:spcBef>
              <a:spcAft>
                <a:spcPts val="0"/>
              </a:spcAft>
              <a:buClr>
                <a:schemeClr val="dk1"/>
              </a:buClr>
              <a:buSzPts val="1760"/>
              <a:buChar char="•"/>
            </a:pPr>
            <a:r>
              <a:rPr lang="en-US" sz="1760"/>
              <a:t>Semi-structured Data (XML) </a:t>
            </a:r>
            <a:endParaRPr/>
          </a:p>
          <a:p>
            <a:pPr indent="-342900" lvl="0" marL="342900" rtl="0" algn="l">
              <a:lnSpc>
                <a:spcPct val="80000"/>
              </a:lnSpc>
              <a:spcBef>
                <a:spcPts val="352"/>
              </a:spcBef>
              <a:spcAft>
                <a:spcPts val="0"/>
              </a:spcAft>
              <a:buClr>
                <a:schemeClr val="dk1"/>
              </a:buClr>
              <a:buSzPts val="1760"/>
              <a:buChar char="•"/>
            </a:pPr>
            <a:r>
              <a:rPr lang="en-US" sz="1760"/>
              <a:t>Graph Data</a:t>
            </a:r>
            <a:endParaRPr/>
          </a:p>
          <a:p>
            <a:pPr indent="-285750" lvl="1" marL="742950" rtl="0" algn="l">
              <a:lnSpc>
                <a:spcPct val="80000"/>
              </a:lnSpc>
              <a:spcBef>
                <a:spcPts val="308"/>
              </a:spcBef>
              <a:spcAft>
                <a:spcPts val="0"/>
              </a:spcAft>
              <a:buClr>
                <a:schemeClr val="dk1"/>
              </a:buClr>
              <a:buSzPts val="1540"/>
              <a:buChar char="–"/>
            </a:pPr>
            <a:r>
              <a:rPr lang="en-US" sz="1540"/>
              <a:t>Social Network, Semantic Web (RDF), … </a:t>
            </a:r>
            <a:endParaRPr/>
          </a:p>
          <a:p>
            <a:pPr indent="0" lvl="1" marL="457200" rtl="0" algn="l">
              <a:lnSpc>
                <a:spcPct val="80000"/>
              </a:lnSpc>
              <a:spcBef>
                <a:spcPts val="308"/>
              </a:spcBef>
              <a:spcAft>
                <a:spcPts val="0"/>
              </a:spcAft>
              <a:buClr>
                <a:schemeClr val="dk1"/>
              </a:buClr>
              <a:buSzPts val="1540"/>
              <a:buNone/>
            </a:pPr>
            <a:r>
              <a:t/>
            </a:r>
            <a:endParaRPr sz="1540"/>
          </a:p>
          <a:p>
            <a:pPr indent="-342900" lvl="0" marL="342900" rtl="0" algn="l">
              <a:lnSpc>
                <a:spcPct val="80000"/>
              </a:lnSpc>
              <a:spcBef>
                <a:spcPts val="352"/>
              </a:spcBef>
              <a:spcAft>
                <a:spcPts val="0"/>
              </a:spcAft>
              <a:buClr>
                <a:schemeClr val="dk1"/>
              </a:buClr>
              <a:buSzPts val="1760"/>
              <a:buChar char="•"/>
            </a:pPr>
            <a:r>
              <a:rPr lang="en-US" sz="1760"/>
              <a:t>Streaming Data </a:t>
            </a:r>
            <a:endParaRPr/>
          </a:p>
          <a:p>
            <a:pPr indent="-285750" lvl="1" marL="742950" rtl="0" algn="l">
              <a:lnSpc>
                <a:spcPct val="80000"/>
              </a:lnSpc>
              <a:spcBef>
                <a:spcPts val="308"/>
              </a:spcBef>
              <a:spcAft>
                <a:spcPts val="0"/>
              </a:spcAft>
              <a:buClr>
                <a:schemeClr val="dk1"/>
              </a:buClr>
              <a:buSzPts val="1540"/>
              <a:buChar char="–"/>
            </a:pPr>
            <a:r>
              <a:rPr lang="en-US" sz="1540"/>
              <a:t>You can only scan the data once</a:t>
            </a:r>
            <a:endParaRPr/>
          </a:p>
          <a:p>
            <a:pPr indent="-231140" lvl="0" marL="342900" rtl="0" algn="l">
              <a:lnSpc>
                <a:spcPct val="80000"/>
              </a:lnSpc>
              <a:spcBef>
                <a:spcPts val="352"/>
              </a:spcBef>
              <a:spcAft>
                <a:spcPts val="0"/>
              </a:spcAft>
              <a:buClr>
                <a:schemeClr val="dk1"/>
              </a:buClr>
              <a:buSzPts val="1760"/>
              <a:buNone/>
            </a:pPr>
            <a:r>
              <a:t/>
            </a:r>
            <a:endParaRPr sz="1760"/>
          </a:p>
          <a:p>
            <a:pPr indent="-342900" lvl="0" marL="342900" rtl="0" algn="l">
              <a:lnSpc>
                <a:spcPct val="80000"/>
              </a:lnSpc>
              <a:spcBef>
                <a:spcPts val="352"/>
              </a:spcBef>
              <a:spcAft>
                <a:spcPts val="0"/>
              </a:spcAft>
              <a:buClr>
                <a:schemeClr val="dk1"/>
              </a:buClr>
              <a:buSzPts val="1760"/>
              <a:buChar char="•"/>
            </a:pPr>
            <a:r>
              <a:rPr lang="en-US" sz="1760"/>
              <a:t>A single application can be generating/collecting many types of data  </a:t>
            </a:r>
            <a:endParaRPr/>
          </a:p>
          <a:p>
            <a:pPr indent="-231140" lvl="0" marL="342900" rtl="0" algn="l">
              <a:lnSpc>
                <a:spcPct val="80000"/>
              </a:lnSpc>
              <a:spcBef>
                <a:spcPts val="352"/>
              </a:spcBef>
              <a:spcAft>
                <a:spcPts val="0"/>
              </a:spcAft>
              <a:buClr>
                <a:schemeClr val="dk1"/>
              </a:buClr>
              <a:buSzPts val="1760"/>
              <a:buNone/>
            </a:pPr>
            <a:r>
              <a:t/>
            </a:r>
            <a:endParaRPr sz="1760"/>
          </a:p>
          <a:p>
            <a:pPr indent="-342900" lvl="0" marL="342900" rtl="0" algn="l">
              <a:lnSpc>
                <a:spcPct val="80000"/>
              </a:lnSpc>
              <a:spcBef>
                <a:spcPts val="352"/>
              </a:spcBef>
              <a:spcAft>
                <a:spcPts val="0"/>
              </a:spcAft>
              <a:buClr>
                <a:schemeClr val="dk1"/>
              </a:buClr>
              <a:buSzPts val="1760"/>
              <a:buChar char="•"/>
            </a:pPr>
            <a:r>
              <a:rPr lang="en-US" sz="1760"/>
              <a:t>Big Public Data (online, weather, finance, etc)  </a:t>
            </a:r>
            <a:endParaRPr/>
          </a:p>
          <a:p>
            <a:pPr indent="-231140" lvl="0" marL="342900" rtl="0" algn="l">
              <a:lnSpc>
                <a:spcPct val="80000"/>
              </a:lnSpc>
              <a:spcBef>
                <a:spcPts val="352"/>
              </a:spcBef>
              <a:spcAft>
                <a:spcPts val="0"/>
              </a:spcAft>
              <a:buClr>
                <a:schemeClr val="dk1"/>
              </a:buClr>
              <a:buSzPts val="1760"/>
              <a:buNone/>
            </a:pPr>
            <a:r>
              <a:t/>
            </a:r>
            <a:endParaRPr sz="1760"/>
          </a:p>
          <a:p>
            <a:pPr indent="0" lvl="0" marL="0" rtl="0" algn="l">
              <a:lnSpc>
                <a:spcPct val="80000"/>
              </a:lnSpc>
              <a:spcBef>
                <a:spcPts val="352"/>
              </a:spcBef>
              <a:spcAft>
                <a:spcPts val="0"/>
              </a:spcAft>
              <a:buClr>
                <a:schemeClr val="dk1"/>
              </a:buClr>
              <a:buSzPts val="1760"/>
              <a:buNone/>
            </a:pPr>
            <a:r>
              <a:t/>
            </a:r>
            <a:endParaRPr sz="1760"/>
          </a:p>
        </p:txBody>
      </p:sp>
      <p:pic>
        <p:nvPicPr>
          <p:cNvPr id="165" name="Google Shape;165;p8"/>
          <p:cNvPicPr preferRelativeResize="0"/>
          <p:nvPr/>
        </p:nvPicPr>
        <p:blipFill rotWithShape="1">
          <a:blip r:embed="rId3">
            <a:alphaModFix/>
          </a:blip>
          <a:srcRect b="0" l="0" r="0" t="0"/>
          <a:stretch/>
        </p:blipFill>
        <p:spPr>
          <a:xfrm>
            <a:off x="7283045" y="1860326"/>
            <a:ext cx="1127257" cy="1123499"/>
          </a:xfrm>
          <a:prstGeom prst="rect">
            <a:avLst/>
          </a:prstGeom>
          <a:noFill/>
          <a:ln>
            <a:noFill/>
          </a:ln>
        </p:spPr>
      </p:pic>
      <p:pic>
        <p:nvPicPr>
          <p:cNvPr id="166" name="Google Shape;166;p8"/>
          <p:cNvPicPr preferRelativeResize="0"/>
          <p:nvPr/>
        </p:nvPicPr>
        <p:blipFill rotWithShape="1">
          <a:blip r:embed="rId4">
            <a:alphaModFix/>
          </a:blip>
          <a:srcRect b="0" l="0" r="0" t="0"/>
          <a:stretch/>
        </p:blipFill>
        <p:spPr>
          <a:xfrm>
            <a:off x="5514535" y="1860326"/>
            <a:ext cx="1559504" cy="1169628"/>
          </a:xfrm>
          <a:prstGeom prst="rect">
            <a:avLst/>
          </a:prstGeom>
          <a:noFill/>
          <a:ln>
            <a:noFill/>
          </a:ln>
        </p:spPr>
      </p:pic>
      <p:pic>
        <p:nvPicPr>
          <p:cNvPr id="167" name="Google Shape;167;p8"/>
          <p:cNvPicPr preferRelativeResize="0"/>
          <p:nvPr/>
        </p:nvPicPr>
        <p:blipFill rotWithShape="1">
          <a:blip r:embed="rId5">
            <a:alphaModFix/>
          </a:blip>
          <a:srcRect b="0" l="0" r="0" t="0"/>
          <a:stretch/>
        </p:blipFill>
        <p:spPr>
          <a:xfrm>
            <a:off x="7457747" y="3311452"/>
            <a:ext cx="1175797" cy="900200"/>
          </a:xfrm>
          <a:prstGeom prst="rect">
            <a:avLst/>
          </a:prstGeom>
          <a:noFill/>
          <a:ln>
            <a:noFill/>
          </a:ln>
        </p:spPr>
      </p:pic>
      <p:pic>
        <p:nvPicPr>
          <p:cNvPr id="168" name="Google Shape;168;p8"/>
          <p:cNvPicPr preferRelativeResize="0"/>
          <p:nvPr/>
        </p:nvPicPr>
        <p:blipFill rotWithShape="1">
          <a:blip r:embed="rId6">
            <a:alphaModFix/>
          </a:blip>
          <a:srcRect b="0" l="0" r="0" t="0"/>
          <a:stretch/>
        </p:blipFill>
        <p:spPr>
          <a:xfrm>
            <a:off x="6841815" y="4400178"/>
            <a:ext cx="1791729" cy="1057446"/>
          </a:xfrm>
          <a:prstGeom prst="rect">
            <a:avLst/>
          </a:prstGeom>
          <a:noFill/>
          <a:ln>
            <a:noFill/>
          </a:ln>
        </p:spPr>
      </p:pic>
      <p:pic>
        <p:nvPicPr>
          <p:cNvPr id="169" name="Google Shape;169;p8"/>
          <p:cNvPicPr preferRelativeResize="0"/>
          <p:nvPr/>
        </p:nvPicPr>
        <p:blipFill rotWithShape="1">
          <a:blip r:embed="rId7">
            <a:alphaModFix/>
          </a:blip>
          <a:srcRect b="0" l="0" r="0" t="0"/>
          <a:stretch/>
        </p:blipFill>
        <p:spPr>
          <a:xfrm>
            <a:off x="5693535" y="3195705"/>
            <a:ext cx="1589510" cy="1204473"/>
          </a:xfrm>
          <a:prstGeom prst="rect">
            <a:avLst/>
          </a:prstGeom>
          <a:noFill/>
          <a:ln>
            <a:noFill/>
          </a:ln>
        </p:spPr>
      </p:pic>
      <p:pic>
        <p:nvPicPr>
          <p:cNvPr id="170" name="Google Shape;170;p8"/>
          <p:cNvPicPr preferRelativeResize="0"/>
          <p:nvPr/>
        </p:nvPicPr>
        <p:blipFill rotWithShape="1">
          <a:blip r:embed="rId8">
            <a:alphaModFix/>
          </a:blip>
          <a:srcRect b="0" l="0" r="0" t="0"/>
          <a:stretch/>
        </p:blipFill>
        <p:spPr>
          <a:xfrm>
            <a:off x="5314291" y="4616977"/>
            <a:ext cx="1527524" cy="1234326"/>
          </a:xfrm>
          <a:prstGeom prst="rect">
            <a:avLst/>
          </a:prstGeom>
          <a:noFill/>
          <a:ln>
            <a:noFill/>
          </a:ln>
        </p:spPr>
      </p:pic>
      <p:sp>
        <p:nvSpPr>
          <p:cNvPr id="171" name="Google Shape;171;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2" name="Google Shape;172;p8"/>
          <p:cNvSpPr/>
          <p:nvPr/>
        </p:nvSpPr>
        <p:spPr>
          <a:xfrm>
            <a:off x="533400" y="5943600"/>
            <a:ext cx="4416252" cy="731263"/>
          </a:xfrm>
          <a:prstGeom prst="rect">
            <a:avLst/>
          </a:prstGeom>
          <a:solidFill>
            <a:srgbClr val="FDFFC5"/>
          </a:solidFill>
          <a:ln cap="flat" cmpd="sng" w="9525">
            <a:solidFill>
              <a:schemeClr val="dk1"/>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FF"/>
                </a:solidFill>
                <a:latin typeface="Calibri"/>
                <a:ea typeface="Calibri"/>
                <a:cs typeface="Calibri"/>
                <a:sym typeface="Calibri"/>
              </a:rPr>
              <a:t>To extract knowledge🡺 all these types of data need to linked together</a:t>
            </a:r>
            <a:endParaRPr b="0" i="0" sz="1800" u="none" cap="none" strike="noStrike">
              <a:solidFill>
                <a:srgbClr val="0000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9"/>
          <p:cNvSpPr txBox="1"/>
          <p:nvPr/>
        </p:nvSpPr>
        <p:spPr>
          <a:xfrm>
            <a:off x="469236" y="1"/>
            <a:ext cx="8229600" cy="622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A Single View to the Customer</a:t>
            </a:r>
            <a:endParaRPr b="1" i="0" sz="2800" u="none" cap="none" strike="noStrike">
              <a:solidFill>
                <a:schemeClr val="dk1"/>
              </a:solidFill>
              <a:latin typeface="Calibri"/>
              <a:ea typeface="Calibri"/>
              <a:cs typeface="Calibri"/>
              <a:sym typeface="Calibri"/>
            </a:endParaRPr>
          </a:p>
        </p:txBody>
      </p:sp>
      <p:pic>
        <p:nvPicPr>
          <p:cNvPr id="178" name="Google Shape;178;p9"/>
          <p:cNvPicPr preferRelativeResize="0"/>
          <p:nvPr/>
        </p:nvPicPr>
        <p:blipFill rotWithShape="1">
          <a:blip r:embed="rId3">
            <a:alphaModFix/>
          </a:blip>
          <a:srcRect b="0" l="0" r="0" t="0"/>
          <a:stretch/>
        </p:blipFill>
        <p:spPr>
          <a:xfrm>
            <a:off x="3251200" y="1547802"/>
            <a:ext cx="2476500" cy="2476500"/>
          </a:xfrm>
          <a:prstGeom prst="rect">
            <a:avLst/>
          </a:prstGeom>
          <a:noFill/>
          <a:ln>
            <a:noFill/>
          </a:ln>
        </p:spPr>
      </p:pic>
      <p:sp>
        <p:nvSpPr>
          <p:cNvPr id="179" name="Google Shape;179;p9"/>
          <p:cNvSpPr txBox="1"/>
          <p:nvPr/>
        </p:nvSpPr>
        <p:spPr>
          <a:xfrm>
            <a:off x="3715223" y="3213734"/>
            <a:ext cx="163378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alibri"/>
                <a:ea typeface="Calibri"/>
                <a:cs typeface="Calibri"/>
                <a:sym typeface="Calibri"/>
              </a:rPr>
              <a:t>Customer</a:t>
            </a:r>
            <a:endParaRPr b="1" i="0" sz="2800" u="none" cap="none" strike="noStrike">
              <a:solidFill>
                <a:schemeClr val="lt1"/>
              </a:solidFill>
              <a:latin typeface="Calibri"/>
              <a:ea typeface="Calibri"/>
              <a:cs typeface="Calibri"/>
              <a:sym typeface="Calibri"/>
            </a:endParaRPr>
          </a:p>
        </p:txBody>
      </p:sp>
      <p:pic>
        <p:nvPicPr>
          <p:cNvPr id="180" name="Google Shape;180;p9"/>
          <p:cNvPicPr preferRelativeResize="0"/>
          <p:nvPr/>
        </p:nvPicPr>
        <p:blipFill rotWithShape="1">
          <a:blip r:embed="rId4">
            <a:alphaModFix/>
          </a:blip>
          <a:srcRect b="0" l="0" r="0" t="0"/>
          <a:stretch/>
        </p:blipFill>
        <p:spPr>
          <a:xfrm>
            <a:off x="2518858" y="898484"/>
            <a:ext cx="730215" cy="275327"/>
          </a:xfrm>
          <a:prstGeom prst="rect">
            <a:avLst/>
          </a:prstGeom>
          <a:noFill/>
          <a:ln>
            <a:noFill/>
          </a:ln>
        </p:spPr>
      </p:pic>
      <p:pic>
        <p:nvPicPr>
          <p:cNvPr id="181" name="Google Shape;181;p9"/>
          <p:cNvPicPr preferRelativeResize="0"/>
          <p:nvPr/>
        </p:nvPicPr>
        <p:blipFill rotWithShape="1">
          <a:blip r:embed="rId5">
            <a:alphaModFix/>
          </a:blip>
          <a:srcRect b="0" l="0" r="0" t="0"/>
          <a:stretch/>
        </p:blipFill>
        <p:spPr>
          <a:xfrm>
            <a:off x="1306786" y="1461563"/>
            <a:ext cx="465656" cy="451878"/>
          </a:xfrm>
          <a:prstGeom prst="rect">
            <a:avLst/>
          </a:prstGeom>
          <a:noFill/>
          <a:ln>
            <a:noFill/>
          </a:ln>
        </p:spPr>
      </p:pic>
      <p:pic>
        <p:nvPicPr>
          <p:cNvPr id="182" name="Google Shape;182;p9"/>
          <p:cNvPicPr preferRelativeResize="0"/>
          <p:nvPr/>
        </p:nvPicPr>
        <p:blipFill rotWithShape="1">
          <a:blip r:embed="rId6">
            <a:alphaModFix/>
          </a:blip>
          <a:srcRect b="0" l="0" r="0" t="0"/>
          <a:stretch/>
        </p:blipFill>
        <p:spPr>
          <a:xfrm>
            <a:off x="1629972" y="1045124"/>
            <a:ext cx="790060" cy="342900"/>
          </a:xfrm>
          <a:prstGeom prst="rect">
            <a:avLst/>
          </a:prstGeom>
          <a:noFill/>
          <a:ln>
            <a:noFill/>
          </a:ln>
        </p:spPr>
      </p:pic>
      <p:sp>
        <p:nvSpPr>
          <p:cNvPr id="183" name="Google Shape;183;p9"/>
          <p:cNvSpPr/>
          <p:nvPr/>
        </p:nvSpPr>
        <p:spPr>
          <a:xfrm>
            <a:off x="2293032" y="1476924"/>
            <a:ext cx="855133" cy="860802"/>
          </a:xfrm>
          <a:prstGeom prst="ellipse">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alibri"/>
                <a:ea typeface="Calibri"/>
                <a:cs typeface="Calibri"/>
                <a:sym typeface="Calibri"/>
              </a:rPr>
              <a:t>Social Media</a:t>
            </a:r>
            <a:endParaRPr b="0" i="0" sz="1050" u="none" cap="none" strike="noStrike">
              <a:solidFill>
                <a:schemeClr val="lt1"/>
              </a:solidFill>
              <a:latin typeface="Calibri"/>
              <a:ea typeface="Calibri"/>
              <a:cs typeface="Calibri"/>
              <a:sym typeface="Calibri"/>
            </a:endParaRPr>
          </a:p>
        </p:txBody>
      </p:sp>
      <p:cxnSp>
        <p:nvCxnSpPr>
          <p:cNvPr id="184" name="Google Shape;184;p9"/>
          <p:cNvCxnSpPr/>
          <p:nvPr/>
        </p:nvCxnSpPr>
        <p:spPr>
          <a:xfrm rot="10800000">
            <a:off x="2997200" y="2286000"/>
            <a:ext cx="939801" cy="80010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254"/>
              </a:srgbClr>
            </a:outerShdw>
          </a:effectLst>
        </p:spPr>
      </p:cxnSp>
      <p:cxnSp>
        <p:nvCxnSpPr>
          <p:cNvPr id="185" name="Google Shape;185;p9"/>
          <p:cNvCxnSpPr/>
          <p:nvPr/>
        </p:nvCxnSpPr>
        <p:spPr>
          <a:xfrm rot="10800000">
            <a:off x="2476500" y="3491103"/>
            <a:ext cx="864756" cy="1"/>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254"/>
              </a:srgbClr>
            </a:outerShdw>
          </a:effectLst>
        </p:spPr>
      </p:cxnSp>
      <p:sp>
        <p:nvSpPr>
          <p:cNvPr id="186" name="Google Shape;186;p9"/>
          <p:cNvSpPr/>
          <p:nvPr/>
        </p:nvSpPr>
        <p:spPr>
          <a:xfrm>
            <a:off x="1628399" y="3022601"/>
            <a:ext cx="855133" cy="860802"/>
          </a:xfrm>
          <a:prstGeom prst="ellipse">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alibri"/>
                <a:ea typeface="Calibri"/>
                <a:cs typeface="Calibri"/>
                <a:sym typeface="Calibri"/>
              </a:rPr>
              <a:t>Gaming</a:t>
            </a:r>
            <a:endParaRPr b="0" i="0" sz="1050" u="none" cap="none" strike="noStrike">
              <a:solidFill>
                <a:schemeClr val="lt1"/>
              </a:solidFill>
              <a:latin typeface="Calibri"/>
              <a:ea typeface="Calibri"/>
              <a:cs typeface="Calibri"/>
              <a:sym typeface="Calibri"/>
            </a:endParaRPr>
          </a:p>
        </p:txBody>
      </p:sp>
      <p:cxnSp>
        <p:nvCxnSpPr>
          <p:cNvPr id="187" name="Google Shape;187;p9"/>
          <p:cNvCxnSpPr>
            <a:endCxn id="180" idx="2"/>
          </p:cNvCxnSpPr>
          <p:nvPr/>
        </p:nvCxnSpPr>
        <p:spPr>
          <a:xfrm flipH="1" rot="10800000">
            <a:off x="2793966" y="1173811"/>
            <a:ext cx="90000" cy="303000"/>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cxnSp>
        <p:nvCxnSpPr>
          <p:cNvPr id="188" name="Google Shape;188;p9"/>
          <p:cNvCxnSpPr>
            <a:stCxn id="183" idx="1"/>
          </p:cNvCxnSpPr>
          <p:nvPr/>
        </p:nvCxnSpPr>
        <p:spPr>
          <a:xfrm rot="10800000">
            <a:off x="2146163" y="1326086"/>
            <a:ext cx="272100" cy="276900"/>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cxnSp>
        <p:nvCxnSpPr>
          <p:cNvPr id="189" name="Google Shape;189;p9"/>
          <p:cNvCxnSpPr>
            <a:endCxn id="183" idx="2"/>
          </p:cNvCxnSpPr>
          <p:nvPr/>
        </p:nvCxnSpPr>
        <p:spPr>
          <a:xfrm>
            <a:off x="1772532" y="1702725"/>
            <a:ext cx="520500" cy="204600"/>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cxnSp>
        <p:nvCxnSpPr>
          <p:cNvPr id="190" name="Google Shape;190;p9"/>
          <p:cNvCxnSpPr>
            <a:endCxn id="191" idx="6"/>
          </p:cNvCxnSpPr>
          <p:nvPr/>
        </p:nvCxnSpPr>
        <p:spPr>
          <a:xfrm flipH="1">
            <a:off x="3146396" y="4024202"/>
            <a:ext cx="676200" cy="91470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254"/>
              </a:srgbClr>
            </a:outerShdw>
          </a:effectLst>
        </p:spPr>
      </p:cxnSp>
      <p:sp>
        <p:nvSpPr>
          <p:cNvPr id="191" name="Google Shape;191;p9"/>
          <p:cNvSpPr/>
          <p:nvPr/>
        </p:nvSpPr>
        <p:spPr>
          <a:xfrm>
            <a:off x="2291263" y="4508501"/>
            <a:ext cx="855133" cy="860802"/>
          </a:xfrm>
          <a:prstGeom prst="ellipse">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lt1"/>
                </a:solidFill>
                <a:latin typeface="Calibri"/>
                <a:ea typeface="Calibri"/>
                <a:cs typeface="Calibri"/>
                <a:sym typeface="Calibri"/>
              </a:rPr>
              <a:t>Entertain</a:t>
            </a:r>
            <a:endParaRPr b="0" i="0" sz="800" u="none" cap="none" strike="noStrike">
              <a:solidFill>
                <a:schemeClr val="lt1"/>
              </a:solidFill>
              <a:latin typeface="Calibri"/>
              <a:ea typeface="Calibri"/>
              <a:cs typeface="Calibri"/>
              <a:sym typeface="Calibri"/>
            </a:endParaRPr>
          </a:p>
        </p:txBody>
      </p:sp>
      <p:sp>
        <p:nvSpPr>
          <p:cNvPr id="192" name="Google Shape;192;p9"/>
          <p:cNvSpPr/>
          <p:nvPr/>
        </p:nvSpPr>
        <p:spPr>
          <a:xfrm>
            <a:off x="5934727" y="1423463"/>
            <a:ext cx="855133" cy="860802"/>
          </a:xfrm>
          <a:prstGeom prst="ellipse">
            <a:avLst/>
          </a:prstGeom>
          <a:solidFill>
            <a:schemeClr val="accent5"/>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Banking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Calibri"/>
                <a:ea typeface="Calibri"/>
                <a:cs typeface="Calibri"/>
                <a:sym typeface="Calibri"/>
              </a:rPr>
              <a:t>Finance</a:t>
            </a:r>
            <a:endParaRPr b="0" i="0" sz="1000" u="none" cap="none" strike="noStrike">
              <a:solidFill>
                <a:schemeClr val="lt1"/>
              </a:solidFill>
              <a:latin typeface="Calibri"/>
              <a:ea typeface="Calibri"/>
              <a:cs typeface="Calibri"/>
              <a:sym typeface="Calibri"/>
            </a:endParaRPr>
          </a:p>
        </p:txBody>
      </p:sp>
      <p:cxnSp>
        <p:nvCxnSpPr>
          <p:cNvPr id="193" name="Google Shape;193;p9"/>
          <p:cNvCxnSpPr/>
          <p:nvPr/>
        </p:nvCxnSpPr>
        <p:spPr>
          <a:xfrm flipH="1">
            <a:off x="5152996" y="2183603"/>
            <a:ext cx="906962" cy="927897"/>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254"/>
              </a:srgbClr>
            </a:outerShdw>
          </a:effectLst>
        </p:spPr>
      </p:cxnSp>
      <p:sp>
        <p:nvSpPr>
          <p:cNvPr id="194" name="Google Shape;194;p9"/>
          <p:cNvSpPr/>
          <p:nvPr/>
        </p:nvSpPr>
        <p:spPr>
          <a:xfrm>
            <a:off x="6514694" y="3022601"/>
            <a:ext cx="855133" cy="860802"/>
          </a:xfrm>
          <a:prstGeom prst="ellipse">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alibri"/>
                <a:ea typeface="Calibri"/>
                <a:cs typeface="Calibri"/>
                <a:sym typeface="Calibri"/>
              </a:rPr>
              <a:t>Our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alibri"/>
                <a:ea typeface="Calibri"/>
                <a:cs typeface="Calibri"/>
                <a:sym typeface="Calibri"/>
              </a:rPr>
              <a:t>Known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alibri"/>
                <a:ea typeface="Calibri"/>
                <a:cs typeface="Calibri"/>
                <a:sym typeface="Calibri"/>
              </a:rPr>
              <a:t>History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Calibri"/>
              <a:ea typeface="Calibri"/>
              <a:cs typeface="Calibri"/>
              <a:sym typeface="Calibri"/>
            </a:endParaRPr>
          </a:p>
        </p:txBody>
      </p:sp>
      <p:sp>
        <p:nvSpPr>
          <p:cNvPr id="195" name="Google Shape;195;p9"/>
          <p:cNvSpPr/>
          <p:nvPr/>
        </p:nvSpPr>
        <p:spPr>
          <a:xfrm>
            <a:off x="5795027" y="4508501"/>
            <a:ext cx="855133" cy="860802"/>
          </a:xfrm>
          <a:prstGeom prst="ellipse">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lt1"/>
                </a:solidFill>
                <a:latin typeface="Calibri"/>
                <a:ea typeface="Calibri"/>
                <a:cs typeface="Calibri"/>
                <a:sym typeface="Calibri"/>
              </a:rPr>
              <a:t>Purchase</a:t>
            </a:r>
            <a:endParaRPr b="0" i="0" sz="900" u="none" cap="none" strike="noStrike">
              <a:solidFill>
                <a:schemeClr val="lt1"/>
              </a:solidFill>
              <a:latin typeface="Calibri"/>
              <a:ea typeface="Calibri"/>
              <a:cs typeface="Calibri"/>
              <a:sym typeface="Calibri"/>
            </a:endParaRPr>
          </a:p>
        </p:txBody>
      </p:sp>
      <p:cxnSp>
        <p:nvCxnSpPr>
          <p:cNvPr id="196" name="Google Shape;196;p9"/>
          <p:cNvCxnSpPr>
            <a:endCxn id="195" idx="2"/>
          </p:cNvCxnSpPr>
          <p:nvPr/>
        </p:nvCxnSpPr>
        <p:spPr>
          <a:xfrm>
            <a:off x="5153027" y="4024202"/>
            <a:ext cx="642000" cy="914700"/>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254"/>
              </a:srgbClr>
            </a:outerShdw>
          </a:effectLst>
        </p:spPr>
      </p:cxnSp>
      <p:cxnSp>
        <p:nvCxnSpPr>
          <p:cNvPr id="197" name="Google Shape;197;p9"/>
          <p:cNvCxnSpPr/>
          <p:nvPr/>
        </p:nvCxnSpPr>
        <p:spPr>
          <a:xfrm rot="10800000">
            <a:off x="5642049" y="3502407"/>
            <a:ext cx="864756" cy="1"/>
          </a:xfrm>
          <a:prstGeom prst="straightConnector1">
            <a:avLst/>
          </a:prstGeom>
          <a:noFill/>
          <a:ln cap="flat" cmpd="sng" w="25400">
            <a:solidFill>
              <a:schemeClr val="dk1"/>
            </a:solidFill>
            <a:prstDash val="solid"/>
            <a:round/>
            <a:headEnd len="sm" w="sm" type="none"/>
            <a:tailEnd len="sm" w="sm" type="none"/>
          </a:ln>
          <a:effectLst>
            <a:outerShdw blurRad="40000" rotWithShape="0" dir="5400000" dist="20000">
              <a:srgbClr val="000000">
                <a:alpha val="37254"/>
              </a:srgbClr>
            </a:outerShdw>
          </a:effectLst>
        </p:spPr>
      </p:cxnSp>
      <p:pic>
        <p:nvPicPr>
          <p:cNvPr id="198" name="Google Shape;198;p9"/>
          <p:cNvPicPr preferRelativeResize="0"/>
          <p:nvPr/>
        </p:nvPicPr>
        <p:blipFill rotWithShape="1">
          <a:blip r:embed="rId7">
            <a:alphaModFix/>
          </a:blip>
          <a:srcRect b="0" l="0" r="0" t="0"/>
          <a:stretch/>
        </p:blipFill>
        <p:spPr>
          <a:xfrm>
            <a:off x="685800" y="2780152"/>
            <a:ext cx="826566" cy="267849"/>
          </a:xfrm>
          <a:prstGeom prst="rect">
            <a:avLst/>
          </a:prstGeom>
          <a:noFill/>
          <a:ln>
            <a:noFill/>
          </a:ln>
        </p:spPr>
      </p:pic>
      <p:pic>
        <p:nvPicPr>
          <p:cNvPr id="199" name="Google Shape;199;p9"/>
          <p:cNvPicPr preferRelativeResize="0"/>
          <p:nvPr/>
        </p:nvPicPr>
        <p:blipFill rotWithShape="1">
          <a:blip r:embed="rId8">
            <a:alphaModFix/>
          </a:blip>
          <a:srcRect b="0" l="0" r="0" t="0"/>
          <a:stretch/>
        </p:blipFill>
        <p:spPr>
          <a:xfrm>
            <a:off x="435865" y="3264085"/>
            <a:ext cx="869486" cy="523497"/>
          </a:xfrm>
          <a:prstGeom prst="rect">
            <a:avLst/>
          </a:prstGeom>
          <a:noFill/>
          <a:ln>
            <a:noFill/>
          </a:ln>
        </p:spPr>
      </p:pic>
      <p:cxnSp>
        <p:nvCxnSpPr>
          <p:cNvPr id="200" name="Google Shape;200;p9"/>
          <p:cNvCxnSpPr/>
          <p:nvPr/>
        </p:nvCxnSpPr>
        <p:spPr>
          <a:xfrm>
            <a:off x="1109382" y="3059623"/>
            <a:ext cx="520590" cy="204462"/>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cxnSp>
        <p:nvCxnSpPr>
          <p:cNvPr id="201" name="Google Shape;201;p9"/>
          <p:cNvCxnSpPr>
            <a:endCxn id="186" idx="2"/>
          </p:cNvCxnSpPr>
          <p:nvPr/>
        </p:nvCxnSpPr>
        <p:spPr>
          <a:xfrm flipH="1" rot="10800000">
            <a:off x="1134899" y="3453002"/>
            <a:ext cx="493500" cy="49500"/>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pic>
        <p:nvPicPr>
          <p:cNvPr id="202" name="Google Shape;202;p9"/>
          <p:cNvPicPr preferRelativeResize="0"/>
          <p:nvPr/>
        </p:nvPicPr>
        <p:blipFill rotWithShape="1">
          <a:blip r:embed="rId9">
            <a:alphaModFix/>
          </a:blip>
          <a:srcRect b="0" l="0" r="0" t="0"/>
          <a:stretch/>
        </p:blipFill>
        <p:spPr>
          <a:xfrm>
            <a:off x="1122223" y="4812398"/>
            <a:ext cx="653285" cy="303807"/>
          </a:xfrm>
          <a:prstGeom prst="rect">
            <a:avLst/>
          </a:prstGeom>
          <a:noFill/>
          <a:ln>
            <a:noFill/>
          </a:ln>
        </p:spPr>
      </p:pic>
      <p:pic>
        <p:nvPicPr>
          <p:cNvPr id="203" name="Google Shape;203;p9"/>
          <p:cNvPicPr preferRelativeResize="0"/>
          <p:nvPr/>
        </p:nvPicPr>
        <p:blipFill rotWithShape="1">
          <a:blip r:embed="rId10">
            <a:alphaModFix/>
          </a:blip>
          <a:srcRect b="0" l="0" r="0" t="0"/>
          <a:stretch/>
        </p:blipFill>
        <p:spPr>
          <a:xfrm>
            <a:off x="1165651" y="5259953"/>
            <a:ext cx="833731" cy="371097"/>
          </a:xfrm>
          <a:prstGeom prst="rect">
            <a:avLst/>
          </a:prstGeom>
          <a:noFill/>
          <a:ln>
            <a:noFill/>
          </a:ln>
        </p:spPr>
      </p:pic>
      <p:pic>
        <p:nvPicPr>
          <p:cNvPr id="204" name="Google Shape;204;p9"/>
          <p:cNvPicPr preferRelativeResize="0"/>
          <p:nvPr/>
        </p:nvPicPr>
        <p:blipFill rotWithShape="1">
          <a:blip r:embed="rId11">
            <a:alphaModFix/>
          </a:blip>
          <a:srcRect b="0" l="0" r="0" t="0"/>
          <a:stretch/>
        </p:blipFill>
        <p:spPr>
          <a:xfrm>
            <a:off x="2177182" y="5579577"/>
            <a:ext cx="540618" cy="419774"/>
          </a:xfrm>
          <a:prstGeom prst="rect">
            <a:avLst/>
          </a:prstGeom>
          <a:noFill/>
          <a:ln>
            <a:noFill/>
          </a:ln>
        </p:spPr>
      </p:pic>
      <p:cxnSp>
        <p:nvCxnSpPr>
          <p:cNvPr id="205" name="Google Shape;205;p9"/>
          <p:cNvCxnSpPr/>
          <p:nvPr/>
        </p:nvCxnSpPr>
        <p:spPr>
          <a:xfrm flipH="1" rot="10800000">
            <a:off x="1760808" y="4923410"/>
            <a:ext cx="493617" cy="49406"/>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cxnSp>
        <p:nvCxnSpPr>
          <p:cNvPr id="206" name="Google Shape;206;p9"/>
          <p:cNvCxnSpPr>
            <a:stCxn id="203" idx="3"/>
          </p:cNvCxnSpPr>
          <p:nvPr/>
        </p:nvCxnSpPr>
        <p:spPr>
          <a:xfrm flipH="1" rot="10800000">
            <a:off x="1999382" y="5206402"/>
            <a:ext cx="370800" cy="239100"/>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cxnSp>
        <p:nvCxnSpPr>
          <p:cNvPr id="207" name="Google Shape;207;p9"/>
          <p:cNvCxnSpPr/>
          <p:nvPr/>
        </p:nvCxnSpPr>
        <p:spPr>
          <a:xfrm flipH="1" rot="10800000">
            <a:off x="2465484" y="5382003"/>
            <a:ext cx="215246" cy="182082"/>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pic>
        <p:nvPicPr>
          <p:cNvPr id="208" name="Google Shape;208;p9"/>
          <p:cNvPicPr preferRelativeResize="0"/>
          <p:nvPr/>
        </p:nvPicPr>
        <p:blipFill rotWithShape="1">
          <a:blip r:embed="rId12">
            <a:alphaModFix/>
          </a:blip>
          <a:srcRect b="0" l="0" r="0" t="0"/>
          <a:stretch/>
        </p:blipFill>
        <p:spPr>
          <a:xfrm>
            <a:off x="7962900" y="3048000"/>
            <a:ext cx="292100" cy="292100"/>
          </a:xfrm>
          <a:prstGeom prst="rect">
            <a:avLst/>
          </a:prstGeom>
          <a:noFill/>
          <a:ln>
            <a:noFill/>
          </a:ln>
        </p:spPr>
      </p:pic>
      <p:pic>
        <p:nvPicPr>
          <p:cNvPr id="209" name="Google Shape;209;p9"/>
          <p:cNvPicPr preferRelativeResize="0"/>
          <p:nvPr/>
        </p:nvPicPr>
        <p:blipFill rotWithShape="1">
          <a:blip r:embed="rId13">
            <a:alphaModFix/>
          </a:blip>
          <a:srcRect b="0" l="0" r="0" t="0"/>
          <a:stretch/>
        </p:blipFill>
        <p:spPr>
          <a:xfrm>
            <a:off x="7023100" y="1204508"/>
            <a:ext cx="845289" cy="155455"/>
          </a:xfrm>
          <a:prstGeom prst="rect">
            <a:avLst/>
          </a:prstGeom>
          <a:noFill/>
          <a:ln>
            <a:noFill/>
          </a:ln>
        </p:spPr>
      </p:pic>
      <p:pic>
        <p:nvPicPr>
          <p:cNvPr id="210" name="Google Shape;210;p9"/>
          <p:cNvPicPr preferRelativeResize="0"/>
          <p:nvPr/>
        </p:nvPicPr>
        <p:blipFill rotWithShape="1">
          <a:blip r:embed="rId14">
            <a:alphaModFix/>
          </a:blip>
          <a:srcRect b="0" l="0" r="0" t="0"/>
          <a:stretch/>
        </p:blipFill>
        <p:spPr>
          <a:xfrm>
            <a:off x="7339222" y="1391100"/>
            <a:ext cx="618067" cy="618067"/>
          </a:xfrm>
          <a:prstGeom prst="rect">
            <a:avLst/>
          </a:prstGeom>
          <a:noFill/>
          <a:ln>
            <a:noFill/>
          </a:ln>
        </p:spPr>
      </p:pic>
      <p:pic>
        <p:nvPicPr>
          <p:cNvPr id="211" name="Google Shape;211;p9"/>
          <p:cNvPicPr preferRelativeResize="0"/>
          <p:nvPr/>
        </p:nvPicPr>
        <p:blipFill rotWithShape="1">
          <a:blip r:embed="rId15">
            <a:alphaModFix/>
          </a:blip>
          <a:srcRect b="0" l="0" r="0" t="0"/>
          <a:stretch/>
        </p:blipFill>
        <p:spPr>
          <a:xfrm>
            <a:off x="6445697" y="869473"/>
            <a:ext cx="483863" cy="304338"/>
          </a:xfrm>
          <a:prstGeom prst="rect">
            <a:avLst/>
          </a:prstGeom>
          <a:noFill/>
          <a:ln>
            <a:noFill/>
          </a:ln>
        </p:spPr>
      </p:pic>
      <p:cxnSp>
        <p:nvCxnSpPr>
          <p:cNvPr id="212" name="Google Shape;212;p9"/>
          <p:cNvCxnSpPr>
            <a:endCxn id="211" idx="2"/>
          </p:cNvCxnSpPr>
          <p:nvPr/>
        </p:nvCxnSpPr>
        <p:spPr>
          <a:xfrm flipH="1" rot="10800000">
            <a:off x="6529529" y="1173811"/>
            <a:ext cx="158100" cy="287700"/>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cxnSp>
        <p:nvCxnSpPr>
          <p:cNvPr id="213" name="Google Shape;213;p9"/>
          <p:cNvCxnSpPr/>
          <p:nvPr/>
        </p:nvCxnSpPr>
        <p:spPr>
          <a:xfrm flipH="1" rot="10800000">
            <a:off x="6760997" y="1402411"/>
            <a:ext cx="427203" cy="287752"/>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cxnSp>
        <p:nvCxnSpPr>
          <p:cNvPr id="214" name="Google Shape;214;p9"/>
          <p:cNvCxnSpPr/>
          <p:nvPr/>
        </p:nvCxnSpPr>
        <p:spPr>
          <a:xfrm flipH="1" rot="10800000">
            <a:off x="6815260" y="1700134"/>
            <a:ext cx="549362" cy="153730"/>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pic>
        <p:nvPicPr>
          <p:cNvPr id="215" name="Google Shape;215;p9"/>
          <p:cNvPicPr preferRelativeResize="0"/>
          <p:nvPr/>
        </p:nvPicPr>
        <p:blipFill rotWithShape="1">
          <a:blip r:embed="rId16">
            <a:alphaModFix/>
          </a:blip>
          <a:srcRect b="0" l="0" r="0" t="0"/>
          <a:stretch/>
        </p:blipFill>
        <p:spPr>
          <a:xfrm>
            <a:off x="6789860" y="5481262"/>
            <a:ext cx="825500" cy="299576"/>
          </a:xfrm>
          <a:prstGeom prst="rect">
            <a:avLst/>
          </a:prstGeom>
          <a:noFill/>
          <a:ln>
            <a:noFill/>
          </a:ln>
        </p:spPr>
      </p:pic>
      <p:pic>
        <p:nvPicPr>
          <p:cNvPr id="216" name="Google Shape;216;p9"/>
          <p:cNvPicPr preferRelativeResize="0"/>
          <p:nvPr/>
        </p:nvPicPr>
        <p:blipFill rotWithShape="1">
          <a:blip r:embed="rId17">
            <a:alphaModFix/>
          </a:blip>
          <a:srcRect b="0" l="0" r="0" t="0"/>
          <a:stretch/>
        </p:blipFill>
        <p:spPr>
          <a:xfrm>
            <a:off x="7086600" y="4847380"/>
            <a:ext cx="850900" cy="456859"/>
          </a:xfrm>
          <a:prstGeom prst="rect">
            <a:avLst/>
          </a:prstGeom>
          <a:noFill/>
          <a:ln>
            <a:noFill/>
          </a:ln>
        </p:spPr>
      </p:pic>
      <p:pic>
        <p:nvPicPr>
          <p:cNvPr id="217" name="Google Shape;217;p9"/>
          <p:cNvPicPr preferRelativeResize="0"/>
          <p:nvPr/>
        </p:nvPicPr>
        <p:blipFill rotWithShape="1">
          <a:blip r:embed="rId18">
            <a:alphaModFix/>
          </a:blip>
          <a:srcRect b="0" l="0" r="0" t="0"/>
          <a:stretch/>
        </p:blipFill>
        <p:spPr>
          <a:xfrm>
            <a:off x="6061728" y="5748219"/>
            <a:ext cx="720072" cy="384663"/>
          </a:xfrm>
          <a:prstGeom prst="rect">
            <a:avLst/>
          </a:prstGeom>
          <a:noFill/>
          <a:ln>
            <a:noFill/>
          </a:ln>
        </p:spPr>
      </p:pic>
      <p:cxnSp>
        <p:nvCxnSpPr>
          <p:cNvPr id="218" name="Google Shape;218;p9"/>
          <p:cNvCxnSpPr/>
          <p:nvPr/>
        </p:nvCxnSpPr>
        <p:spPr>
          <a:xfrm flipH="1" rot="10800000">
            <a:off x="7395227" y="3225800"/>
            <a:ext cx="549362" cy="153730"/>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pic>
        <p:nvPicPr>
          <p:cNvPr id="219" name="Google Shape;219;p9"/>
          <p:cNvPicPr preferRelativeResize="0"/>
          <p:nvPr/>
        </p:nvPicPr>
        <p:blipFill rotWithShape="1">
          <a:blip r:embed="rId19">
            <a:alphaModFix/>
          </a:blip>
          <a:srcRect b="0" l="0" r="0" t="0"/>
          <a:stretch/>
        </p:blipFill>
        <p:spPr>
          <a:xfrm>
            <a:off x="7868389" y="3571359"/>
            <a:ext cx="524913" cy="250343"/>
          </a:xfrm>
          <a:prstGeom prst="rect">
            <a:avLst/>
          </a:prstGeom>
          <a:noFill/>
          <a:ln>
            <a:noFill/>
          </a:ln>
        </p:spPr>
      </p:pic>
      <p:cxnSp>
        <p:nvCxnSpPr>
          <p:cNvPr id="220" name="Google Shape;220;p9"/>
          <p:cNvCxnSpPr>
            <a:endCxn id="219" idx="1"/>
          </p:cNvCxnSpPr>
          <p:nvPr/>
        </p:nvCxnSpPr>
        <p:spPr>
          <a:xfrm>
            <a:off x="7413589" y="3571431"/>
            <a:ext cx="454800" cy="125100"/>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cxnSp>
        <p:nvCxnSpPr>
          <p:cNvPr id="221" name="Google Shape;221;p9"/>
          <p:cNvCxnSpPr/>
          <p:nvPr/>
        </p:nvCxnSpPr>
        <p:spPr>
          <a:xfrm>
            <a:off x="6654879" y="4900670"/>
            <a:ext cx="549362" cy="127891"/>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cxnSp>
        <p:nvCxnSpPr>
          <p:cNvPr id="222" name="Google Shape;222;p9"/>
          <p:cNvCxnSpPr/>
          <p:nvPr/>
        </p:nvCxnSpPr>
        <p:spPr>
          <a:xfrm>
            <a:off x="6565979" y="5281670"/>
            <a:ext cx="549362" cy="127891"/>
          </a:xfrm>
          <a:prstGeom prst="straightConnector1">
            <a:avLst/>
          </a:prstGeom>
          <a:noFill/>
          <a:ln cap="flat" cmpd="sng" w="25400">
            <a:solidFill>
              <a:srgbClr val="A6A6A6"/>
            </a:solidFill>
            <a:prstDash val="solid"/>
            <a:round/>
            <a:headEnd len="sm" w="sm" type="none"/>
            <a:tailEnd len="sm" w="sm" type="none"/>
          </a:ln>
          <a:effectLst>
            <a:outerShdw blurRad="40000" rotWithShape="0" dir="5400000" dist="20000">
              <a:srgbClr val="000000">
                <a:alpha val="37254"/>
              </a:srgbClr>
            </a:outerShdw>
          </a:effectLst>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Calibri"/>
              <a:buNone/>
            </a:pPr>
            <a:r>
              <a:rPr lang="en-US" sz="3959"/>
              <a:t>Velocity (Speed)</a:t>
            </a:r>
            <a:br>
              <a:rPr lang="en-US" sz="3959">
                <a:solidFill>
                  <a:srgbClr val="0000FF"/>
                </a:solidFill>
              </a:rPr>
            </a:br>
            <a:endParaRPr sz="3959"/>
          </a:p>
        </p:txBody>
      </p:sp>
      <p:sp>
        <p:nvSpPr>
          <p:cNvPr id="228" name="Google Shape;228;p10"/>
          <p:cNvSpPr txBox="1"/>
          <p:nvPr>
            <p:ph idx="1" type="body"/>
          </p:nvPr>
        </p:nvSpPr>
        <p:spPr>
          <a:xfrm>
            <a:off x="466244" y="1768251"/>
            <a:ext cx="8231609" cy="429727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Data is begin generated fast and need to be processed fast</a:t>
            </a:r>
            <a:endParaRPr/>
          </a:p>
          <a:p>
            <a:pPr indent="-342900" lvl="0" marL="342900" rtl="0" algn="l">
              <a:lnSpc>
                <a:spcPct val="90000"/>
              </a:lnSpc>
              <a:spcBef>
                <a:spcPts val="640"/>
              </a:spcBef>
              <a:spcAft>
                <a:spcPts val="0"/>
              </a:spcAft>
              <a:buClr>
                <a:schemeClr val="dk1"/>
              </a:buClr>
              <a:buSzPts val="3200"/>
              <a:buChar char="•"/>
            </a:pPr>
            <a:r>
              <a:rPr lang="en-US"/>
              <a:t>Online Data Analytics</a:t>
            </a:r>
            <a:endParaRPr/>
          </a:p>
          <a:p>
            <a:pPr indent="-342900" lvl="0" marL="342900" rtl="0" algn="l">
              <a:lnSpc>
                <a:spcPct val="90000"/>
              </a:lnSpc>
              <a:spcBef>
                <a:spcPts val="640"/>
              </a:spcBef>
              <a:spcAft>
                <a:spcPts val="0"/>
              </a:spcAft>
              <a:buClr>
                <a:schemeClr val="dk1"/>
              </a:buClr>
              <a:buSzPts val="3200"/>
              <a:buChar char="•"/>
            </a:pPr>
            <a:r>
              <a:rPr lang="en-US"/>
              <a:t>Late decisions 🡺 missing opportunities</a:t>
            </a:r>
            <a:endParaRPr/>
          </a:p>
          <a:p>
            <a:pPr indent="-342900" lvl="0" marL="342900" rtl="0" algn="l">
              <a:lnSpc>
                <a:spcPct val="90000"/>
              </a:lnSpc>
              <a:spcBef>
                <a:spcPts val="640"/>
              </a:spcBef>
              <a:spcAft>
                <a:spcPts val="0"/>
              </a:spcAft>
              <a:buClr>
                <a:srgbClr val="800000"/>
              </a:buClr>
              <a:buSzPts val="3200"/>
              <a:buChar char="•"/>
            </a:pPr>
            <a:r>
              <a:rPr b="1" lang="en-US">
                <a:solidFill>
                  <a:srgbClr val="800000"/>
                </a:solidFill>
              </a:rPr>
              <a:t>Examples</a:t>
            </a:r>
            <a:endParaRPr b="1">
              <a:solidFill>
                <a:srgbClr val="800000"/>
              </a:solidFill>
            </a:endParaRPr>
          </a:p>
          <a:p>
            <a:pPr indent="-285750" lvl="1" marL="742950" rtl="0" algn="l">
              <a:lnSpc>
                <a:spcPct val="90000"/>
              </a:lnSpc>
              <a:spcBef>
                <a:spcPts val="380"/>
              </a:spcBef>
              <a:spcAft>
                <a:spcPts val="0"/>
              </a:spcAft>
              <a:buClr>
                <a:srgbClr val="0000FF"/>
              </a:buClr>
              <a:buSzPts val="1900"/>
              <a:buChar char="–"/>
            </a:pPr>
            <a:r>
              <a:rPr b="1" lang="en-US" sz="1900">
                <a:solidFill>
                  <a:srgbClr val="0000FF"/>
                </a:solidFill>
              </a:rPr>
              <a:t>E-Promotions: </a:t>
            </a:r>
            <a:r>
              <a:rPr lang="en-US" sz="1900"/>
              <a:t>Based on your current location, your purchase history, what you like 🡺 send promotions right now for store next to you</a:t>
            </a:r>
            <a:endParaRPr/>
          </a:p>
          <a:p>
            <a:pPr indent="-165100" lvl="1" marL="742950" rtl="0" algn="l">
              <a:lnSpc>
                <a:spcPct val="90000"/>
              </a:lnSpc>
              <a:spcBef>
                <a:spcPts val="380"/>
              </a:spcBef>
              <a:spcAft>
                <a:spcPts val="0"/>
              </a:spcAft>
              <a:buClr>
                <a:schemeClr val="dk1"/>
              </a:buClr>
              <a:buSzPts val="1900"/>
              <a:buNone/>
            </a:pPr>
            <a:r>
              <a:t/>
            </a:r>
            <a:endParaRPr sz="1900"/>
          </a:p>
          <a:p>
            <a:pPr indent="-285750" lvl="1" marL="742950" rtl="0" algn="l">
              <a:lnSpc>
                <a:spcPct val="90000"/>
              </a:lnSpc>
              <a:spcBef>
                <a:spcPts val="380"/>
              </a:spcBef>
              <a:spcAft>
                <a:spcPts val="0"/>
              </a:spcAft>
              <a:buClr>
                <a:srgbClr val="0000FF"/>
              </a:buClr>
              <a:buSzPts val="1900"/>
              <a:buChar char="–"/>
            </a:pPr>
            <a:r>
              <a:rPr b="1" lang="en-US" sz="1900">
                <a:solidFill>
                  <a:srgbClr val="0000FF"/>
                </a:solidFill>
              </a:rPr>
              <a:t>Healthcare monitoring: </a:t>
            </a:r>
            <a:r>
              <a:rPr lang="en-US" sz="1900"/>
              <a:t>sensors monitoring your activities and body  🡺 any abnormal measurements require immediate reaction</a:t>
            </a:r>
            <a:endParaRPr sz="1900"/>
          </a:p>
        </p:txBody>
      </p:sp>
      <p:pic>
        <p:nvPicPr>
          <p:cNvPr id="229" name="Google Shape;229;p10"/>
          <p:cNvPicPr preferRelativeResize="0"/>
          <p:nvPr/>
        </p:nvPicPr>
        <p:blipFill rotWithShape="1">
          <a:blip r:embed="rId3">
            <a:alphaModFix/>
          </a:blip>
          <a:srcRect b="0" l="0" r="0" t="0"/>
          <a:stretch/>
        </p:blipFill>
        <p:spPr>
          <a:xfrm>
            <a:off x="7543800" y="2295602"/>
            <a:ext cx="1263656" cy="1385576"/>
          </a:xfrm>
          <a:prstGeom prst="rect">
            <a:avLst/>
          </a:prstGeom>
          <a:noFill/>
          <a:ln>
            <a:noFill/>
          </a:ln>
        </p:spPr>
      </p:pic>
      <p:sp>
        <p:nvSpPr>
          <p:cNvPr id="230" name="Google Shape;23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Real-time/Fast Data</a:t>
            </a:r>
            <a:endParaRPr/>
          </a:p>
        </p:txBody>
      </p:sp>
      <p:grpSp>
        <p:nvGrpSpPr>
          <p:cNvPr id="236" name="Google Shape;236;p11"/>
          <p:cNvGrpSpPr/>
          <p:nvPr/>
        </p:nvGrpSpPr>
        <p:grpSpPr>
          <a:xfrm>
            <a:off x="320661" y="1694798"/>
            <a:ext cx="2724724" cy="2202150"/>
            <a:chOff x="320661" y="1694798"/>
            <a:chExt cx="2724724" cy="2202150"/>
          </a:xfrm>
        </p:grpSpPr>
        <p:pic>
          <p:nvPicPr>
            <p:cNvPr descr="Screen shot 2013-01-13 at 5.24.36 PM.png" id="237" name="Google Shape;237;p11"/>
            <p:cNvPicPr preferRelativeResize="0"/>
            <p:nvPr/>
          </p:nvPicPr>
          <p:blipFill rotWithShape="1">
            <a:blip r:embed="rId3">
              <a:alphaModFix/>
            </a:blip>
            <a:srcRect b="0" l="0" r="0" t="0"/>
            <a:stretch/>
          </p:blipFill>
          <p:spPr>
            <a:xfrm>
              <a:off x="929973" y="1694798"/>
              <a:ext cx="1092761" cy="1806907"/>
            </a:xfrm>
            <a:prstGeom prst="rect">
              <a:avLst/>
            </a:prstGeom>
            <a:noFill/>
            <a:ln>
              <a:noFill/>
            </a:ln>
          </p:spPr>
        </p:pic>
        <p:sp>
          <p:nvSpPr>
            <p:cNvPr id="238" name="Google Shape;238;p11"/>
            <p:cNvSpPr txBox="1"/>
            <p:nvPr/>
          </p:nvSpPr>
          <p:spPr>
            <a:xfrm>
              <a:off x="320661" y="3312172"/>
              <a:ext cx="2724724"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800000"/>
                  </a:solidFill>
                  <a:latin typeface="Calibri"/>
                  <a:ea typeface="Calibri"/>
                  <a:cs typeface="Calibri"/>
                  <a:sym typeface="Calibri"/>
                </a:rPr>
                <a:t>Social media and networks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(all of us are generating data)</a:t>
              </a:r>
              <a:endParaRPr b="0" i="0" sz="1600" u="none" cap="none" strike="noStrike">
                <a:solidFill>
                  <a:schemeClr val="dk1"/>
                </a:solidFill>
                <a:latin typeface="Calibri"/>
                <a:ea typeface="Calibri"/>
                <a:cs typeface="Calibri"/>
                <a:sym typeface="Calibri"/>
              </a:endParaRPr>
            </a:p>
          </p:txBody>
        </p:sp>
      </p:grpSp>
      <p:grpSp>
        <p:nvGrpSpPr>
          <p:cNvPr id="239" name="Google Shape;239;p11"/>
          <p:cNvGrpSpPr/>
          <p:nvPr/>
        </p:nvGrpSpPr>
        <p:grpSpPr>
          <a:xfrm>
            <a:off x="3047431" y="1677257"/>
            <a:ext cx="2791218" cy="2266489"/>
            <a:chOff x="3047431" y="1677257"/>
            <a:chExt cx="2791218" cy="2266489"/>
          </a:xfrm>
        </p:grpSpPr>
        <p:pic>
          <p:nvPicPr>
            <p:cNvPr id="240" name="Google Shape;240;p11"/>
            <p:cNvPicPr preferRelativeResize="0"/>
            <p:nvPr/>
          </p:nvPicPr>
          <p:blipFill rotWithShape="1">
            <a:blip r:embed="rId4">
              <a:alphaModFix/>
            </a:blip>
            <a:srcRect b="0" l="0" r="0" t="0"/>
            <a:stretch/>
          </p:blipFill>
          <p:spPr>
            <a:xfrm>
              <a:off x="4641644" y="1868931"/>
              <a:ext cx="994591" cy="671289"/>
            </a:xfrm>
            <a:prstGeom prst="rect">
              <a:avLst/>
            </a:prstGeom>
            <a:noFill/>
            <a:ln>
              <a:noFill/>
            </a:ln>
          </p:spPr>
        </p:pic>
        <p:pic>
          <p:nvPicPr>
            <p:cNvPr id="241" name="Google Shape;241;p11"/>
            <p:cNvPicPr preferRelativeResize="0"/>
            <p:nvPr/>
          </p:nvPicPr>
          <p:blipFill rotWithShape="1">
            <a:blip r:embed="rId5">
              <a:alphaModFix/>
            </a:blip>
            <a:srcRect b="0" l="0" r="0" t="0"/>
            <a:stretch/>
          </p:blipFill>
          <p:spPr>
            <a:xfrm>
              <a:off x="3841011" y="1868931"/>
              <a:ext cx="800633" cy="671289"/>
            </a:xfrm>
            <a:prstGeom prst="rect">
              <a:avLst/>
            </a:prstGeom>
            <a:noFill/>
            <a:ln>
              <a:noFill/>
            </a:ln>
          </p:spPr>
        </p:pic>
        <p:pic>
          <p:nvPicPr>
            <p:cNvPr id="242" name="Google Shape;242;p11"/>
            <p:cNvPicPr preferRelativeResize="0"/>
            <p:nvPr/>
          </p:nvPicPr>
          <p:blipFill rotWithShape="1">
            <a:blip r:embed="rId6">
              <a:alphaModFix/>
            </a:blip>
            <a:srcRect b="0" l="0" r="0" t="0"/>
            <a:stretch/>
          </p:blipFill>
          <p:spPr>
            <a:xfrm>
              <a:off x="4651715" y="2540220"/>
              <a:ext cx="984520" cy="747822"/>
            </a:xfrm>
            <a:prstGeom prst="rect">
              <a:avLst/>
            </a:prstGeom>
            <a:noFill/>
            <a:ln>
              <a:noFill/>
            </a:ln>
          </p:spPr>
        </p:pic>
        <p:pic>
          <p:nvPicPr>
            <p:cNvPr id="243" name="Google Shape;243;p11"/>
            <p:cNvPicPr preferRelativeResize="0"/>
            <p:nvPr/>
          </p:nvPicPr>
          <p:blipFill rotWithShape="1">
            <a:blip r:embed="rId7">
              <a:alphaModFix/>
            </a:blip>
            <a:srcRect b="0" l="0" r="0" t="0"/>
            <a:stretch/>
          </p:blipFill>
          <p:spPr>
            <a:xfrm>
              <a:off x="3047431" y="1677257"/>
              <a:ext cx="691475" cy="968065"/>
            </a:xfrm>
            <a:prstGeom prst="rect">
              <a:avLst/>
            </a:prstGeom>
            <a:noFill/>
            <a:ln>
              <a:noFill/>
            </a:ln>
          </p:spPr>
        </p:pic>
        <p:pic>
          <p:nvPicPr>
            <p:cNvPr id="244" name="Google Shape;244;p11"/>
            <p:cNvPicPr preferRelativeResize="0"/>
            <p:nvPr/>
          </p:nvPicPr>
          <p:blipFill rotWithShape="1">
            <a:blip r:embed="rId8">
              <a:alphaModFix/>
            </a:blip>
            <a:srcRect b="0" l="0" r="0" t="0"/>
            <a:stretch/>
          </p:blipFill>
          <p:spPr>
            <a:xfrm>
              <a:off x="3492577" y="2540220"/>
              <a:ext cx="1149067" cy="747822"/>
            </a:xfrm>
            <a:prstGeom prst="rect">
              <a:avLst/>
            </a:prstGeom>
            <a:noFill/>
            <a:ln>
              <a:noFill/>
            </a:ln>
          </p:spPr>
        </p:pic>
        <p:sp>
          <p:nvSpPr>
            <p:cNvPr id="245" name="Google Shape;245;p11"/>
            <p:cNvSpPr txBox="1"/>
            <p:nvPr/>
          </p:nvSpPr>
          <p:spPr>
            <a:xfrm>
              <a:off x="3289353" y="3358970"/>
              <a:ext cx="2549296"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800000"/>
                  </a:solidFill>
                  <a:latin typeface="Calibri"/>
                  <a:ea typeface="Calibri"/>
                  <a:cs typeface="Calibri"/>
                  <a:sym typeface="Calibri"/>
                </a:rPr>
                <a:t>Scientific instruments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(collecting all sorts of data) </a:t>
              </a:r>
              <a:endParaRPr b="0" i="0" sz="1600" u="none" cap="none" strike="noStrike">
                <a:solidFill>
                  <a:schemeClr val="dk1"/>
                </a:solidFill>
                <a:latin typeface="Calibri"/>
                <a:ea typeface="Calibri"/>
                <a:cs typeface="Calibri"/>
                <a:sym typeface="Calibri"/>
              </a:endParaRPr>
            </a:p>
          </p:txBody>
        </p:sp>
      </p:grpSp>
      <p:grpSp>
        <p:nvGrpSpPr>
          <p:cNvPr id="246" name="Google Shape;246;p11"/>
          <p:cNvGrpSpPr/>
          <p:nvPr/>
        </p:nvGrpSpPr>
        <p:grpSpPr>
          <a:xfrm>
            <a:off x="6115278" y="1765168"/>
            <a:ext cx="2957260" cy="1359828"/>
            <a:chOff x="6115278" y="1765168"/>
            <a:chExt cx="2957260" cy="1359828"/>
          </a:xfrm>
        </p:grpSpPr>
        <p:pic>
          <p:nvPicPr>
            <p:cNvPr id="247" name="Google Shape;247;p11"/>
            <p:cNvPicPr preferRelativeResize="0"/>
            <p:nvPr/>
          </p:nvPicPr>
          <p:blipFill rotWithShape="1">
            <a:blip r:embed="rId9">
              <a:alphaModFix/>
            </a:blip>
            <a:srcRect b="0" l="0" r="0" t="0"/>
            <a:stretch/>
          </p:blipFill>
          <p:spPr>
            <a:xfrm>
              <a:off x="7575339" y="1765168"/>
              <a:ext cx="797063" cy="797063"/>
            </a:xfrm>
            <a:prstGeom prst="rect">
              <a:avLst/>
            </a:prstGeom>
            <a:noFill/>
            <a:ln>
              <a:noFill/>
            </a:ln>
          </p:spPr>
        </p:pic>
        <p:pic>
          <p:nvPicPr>
            <p:cNvPr id="248" name="Google Shape;248;p11"/>
            <p:cNvPicPr preferRelativeResize="0"/>
            <p:nvPr/>
          </p:nvPicPr>
          <p:blipFill rotWithShape="1">
            <a:blip r:embed="rId10">
              <a:alphaModFix/>
            </a:blip>
            <a:srcRect b="0" l="0" r="0" t="0"/>
            <a:stretch/>
          </p:blipFill>
          <p:spPr>
            <a:xfrm>
              <a:off x="6697879" y="1766568"/>
              <a:ext cx="877460" cy="795663"/>
            </a:xfrm>
            <a:prstGeom prst="rect">
              <a:avLst/>
            </a:prstGeom>
            <a:noFill/>
            <a:ln>
              <a:noFill/>
            </a:ln>
          </p:spPr>
        </p:pic>
        <p:sp>
          <p:nvSpPr>
            <p:cNvPr id="249" name="Google Shape;249;p11"/>
            <p:cNvSpPr txBox="1"/>
            <p:nvPr/>
          </p:nvSpPr>
          <p:spPr>
            <a:xfrm>
              <a:off x="6115278" y="2540220"/>
              <a:ext cx="2957260"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800000"/>
                  </a:solidFill>
                  <a:latin typeface="Calibri"/>
                  <a:ea typeface="Calibri"/>
                  <a:cs typeface="Calibri"/>
                  <a:sym typeface="Calibri"/>
                </a:rPr>
                <a:t>Mobile devices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(tracking all objects all the time)</a:t>
              </a:r>
              <a:endParaRPr b="0" i="0" sz="1600" u="none" cap="none" strike="noStrike">
                <a:solidFill>
                  <a:schemeClr val="dk1"/>
                </a:solidFill>
                <a:latin typeface="Calibri"/>
                <a:ea typeface="Calibri"/>
                <a:cs typeface="Calibri"/>
                <a:sym typeface="Calibri"/>
              </a:endParaRPr>
            </a:p>
          </p:txBody>
        </p:sp>
      </p:grpSp>
      <p:grpSp>
        <p:nvGrpSpPr>
          <p:cNvPr id="250" name="Google Shape;250;p11"/>
          <p:cNvGrpSpPr/>
          <p:nvPr/>
        </p:nvGrpSpPr>
        <p:grpSpPr>
          <a:xfrm>
            <a:off x="5859696" y="3469326"/>
            <a:ext cx="3161506" cy="1228153"/>
            <a:chOff x="5859696" y="3469326"/>
            <a:chExt cx="3161506" cy="1228153"/>
          </a:xfrm>
        </p:grpSpPr>
        <p:pic>
          <p:nvPicPr>
            <p:cNvPr id="251" name="Google Shape;251;p11"/>
            <p:cNvPicPr preferRelativeResize="0"/>
            <p:nvPr/>
          </p:nvPicPr>
          <p:blipFill rotWithShape="1">
            <a:blip r:embed="rId11">
              <a:alphaModFix/>
            </a:blip>
            <a:srcRect b="0" l="0" r="0" t="0"/>
            <a:stretch/>
          </p:blipFill>
          <p:spPr>
            <a:xfrm>
              <a:off x="6369098" y="3501410"/>
              <a:ext cx="984502" cy="640989"/>
            </a:xfrm>
            <a:prstGeom prst="rect">
              <a:avLst/>
            </a:prstGeom>
            <a:noFill/>
            <a:ln>
              <a:noFill/>
            </a:ln>
          </p:spPr>
        </p:pic>
        <p:pic>
          <p:nvPicPr>
            <p:cNvPr id="252" name="Google Shape;252;p11"/>
            <p:cNvPicPr preferRelativeResize="0"/>
            <p:nvPr/>
          </p:nvPicPr>
          <p:blipFill rotWithShape="1">
            <a:blip r:embed="rId12">
              <a:alphaModFix/>
            </a:blip>
            <a:srcRect b="0" l="0" r="0" t="0"/>
            <a:stretch/>
          </p:blipFill>
          <p:spPr>
            <a:xfrm>
              <a:off x="7353600" y="3469326"/>
              <a:ext cx="1143056" cy="643377"/>
            </a:xfrm>
            <a:prstGeom prst="rect">
              <a:avLst/>
            </a:prstGeom>
            <a:noFill/>
            <a:ln>
              <a:noFill/>
            </a:ln>
          </p:spPr>
        </p:pic>
        <p:sp>
          <p:nvSpPr>
            <p:cNvPr id="253" name="Google Shape;253;p11"/>
            <p:cNvSpPr txBox="1"/>
            <p:nvPr/>
          </p:nvSpPr>
          <p:spPr>
            <a:xfrm>
              <a:off x="5859696" y="4112703"/>
              <a:ext cx="3161506"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800000"/>
                  </a:solidFill>
                  <a:latin typeface="Calibri"/>
                  <a:ea typeface="Calibri"/>
                  <a:cs typeface="Calibri"/>
                  <a:sym typeface="Calibri"/>
                </a:rPr>
                <a:t>Sensor technology and networks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(measuring all kinds of data) </a:t>
              </a:r>
              <a:endParaRPr b="0" i="0" sz="1600" u="none" cap="none" strike="noStrike">
                <a:solidFill>
                  <a:schemeClr val="dk1"/>
                </a:solidFill>
                <a:latin typeface="Calibri"/>
                <a:ea typeface="Calibri"/>
                <a:cs typeface="Calibri"/>
                <a:sym typeface="Calibri"/>
              </a:endParaRPr>
            </a:p>
          </p:txBody>
        </p:sp>
      </p:grpSp>
      <p:sp>
        <p:nvSpPr>
          <p:cNvPr id="254" name="Google Shape;254;p11"/>
          <p:cNvSpPr txBox="1"/>
          <p:nvPr>
            <p:ph idx="1" type="body"/>
          </p:nvPr>
        </p:nvSpPr>
        <p:spPr>
          <a:xfrm>
            <a:off x="425331" y="4985478"/>
            <a:ext cx="8071325" cy="1329316"/>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760"/>
              <a:buChar char="•"/>
            </a:pPr>
            <a:r>
              <a:rPr lang="en-US" sz="1760"/>
              <a:t>The progress and innovation is no longer hindered by the ability to collect data</a:t>
            </a:r>
            <a:endParaRPr/>
          </a:p>
          <a:p>
            <a:pPr indent="-342900" lvl="0" marL="342900" rtl="0" algn="l">
              <a:lnSpc>
                <a:spcPct val="100000"/>
              </a:lnSpc>
              <a:spcBef>
                <a:spcPts val="352"/>
              </a:spcBef>
              <a:spcAft>
                <a:spcPts val="0"/>
              </a:spcAft>
              <a:buClr>
                <a:schemeClr val="dk1"/>
              </a:buClr>
              <a:buSzPts val="1760"/>
              <a:buChar char="•"/>
            </a:pPr>
            <a:r>
              <a:rPr lang="en-US" sz="1760"/>
              <a:t>But, by the ability to manage, analyze, summarize, visualize, and discover knowledge from the collected data in a timely manner and in a scalable fashion</a:t>
            </a:r>
            <a:endParaRPr sz="1760"/>
          </a:p>
        </p:txBody>
      </p:sp>
      <p:sp>
        <p:nvSpPr>
          <p:cNvPr id="255" name="Google Shape;255;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animEffect filter="fade" transition="in">
                                      <p:cBhvr>
                                        <p:cTn dur="500"/>
                                        <p:tgtEl>
                                          <p:spTgt spid="2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animEffect filter="fade" transition="in">
                                      <p:cBhvr>
                                        <p:cTn dur="500"/>
                                        <p:tgtEl>
                                          <p:spTgt spid="25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12"/>
          <p:cNvPicPr preferRelativeResize="0"/>
          <p:nvPr/>
        </p:nvPicPr>
        <p:blipFill rotWithShape="1">
          <a:blip r:embed="rId3">
            <a:alphaModFix/>
          </a:blip>
          <a:srcRect b="0" l="0" r="0" t="0"/>
          <a:stretch/>
        </p:blipFill>
        <p:spPr>
          <a:xfrm>
            <a:off x="3251200" y="1803399"/>
            <a:ext cx="2476500" cy="2476500"/>
          </a:xfrm>
          <a:prstGeom prst="rect">
            <a:avLst/>
          </a:prstGeom>
          <a:noFill/>
          <a:ln>
            <a:noFill/>
          </a:ln>
        </p:spPr>
      </p:pic>
      <p:sp>
        <p:nvSpPr>
          <p:cNvPr id="261" name="Google Shape;261;p12"/>
          <p:cNvSpPr txBox="1"/>
          <p:nvPr/>
        </p:nvSpPr>
        <p:spPr>
          <a:xfrm>
            <a:off x="469236" y="368300"/>
            <a:ext cx="8229600" cy="622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Calibri"/>
              <a:buNone/>
            </a:pPr>
            <a:r>
              <a:rPr b="1" i="0" lang="en-US" sz="2800" u="none" cap="none" strike="noStrike">
                <a:solidFill>
                  <a:schemeClr val="dk1"/>
                </a:solidFill>
                <a:latin typeface="Calibri"/>
                <a:ea typeface="Calibri"/>
                <a:cs typeface="Calibri"/>
                <a:sym typeface="Calibri"/>
              </a:rPr>
              <a:t>Real-Time Analytics/Decision Requirement</a:t>
            </a:r>
            <a:endParaRPr b="1" i="0" sz="2800" u="none" cap="none" strike="noStrike">
              <a:solidFill>
                <a:schemeClr val="dk1"/>
              </a:solidFill>
              <a:latin typeface="Calibri"/>
              <a:ea typeface="Calibri"/>
              <a:cs typeface="Calibri"/>
              <a:sym typeface="Calibri"/>
            </a:endParaRPr>
          </a:p>
        </p:txBody>
      </p:sp>
      <p:sp>
        <p:nvSpPr>
          <p:cNvPr id="262" name="Google Shape;262;p12"/>
          <p:cNvSpPr/>
          <p:nvPr/>
        </p:nvSpPr>
        <p:spPr>
          <a:xfrm>
            <a:off x="1701800" y="1371599"/>
            <a:ext cx="2222500" cy="1790700"/>
          </a:xfrm>
          <a:prstGeom prst="cloud">
            <a:avLst/>
          </a:prstGeom>
          <a:solidFill>
            <a:srgbClr val="D8D8D8"/>
          </a:solidFill>
          <a:ln cap="flat" cmpd="sng" w="9525">
            <a:solidFill>
              <a:srgbClr val="A6A6A6"/>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3" name="Google Shape;263;p12"/>
          <p:cNvSpPr/>
          <p:nvPr/>
        </p:nvSpPr>
        <p:spPr>
          <a:xfrm>
            <a:off x="5201108" y="1358899"/>
            <a:ext cx="2222500" cy="1790700"/>
          </a:xfrm>
          <a:prstGeom prst="cloud">
            <a:avLst/>
          </a:prstGeom>
          <a:solidFill>
            <a:srgbClr val="D8D8D8"/>
          </a:solidFill>
          <a:ln cap="flat" cmpd="sng" w="9525">
            <a:solidFill>
              <a:srgbClr val="A6A6A6"/>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4" name="Google Shape;264;p12"/>
          <p:cNvSpPr/>
          <p:nvPr/>
        </p:nvSpPr>
        <p:spPr>
          <a:xfrm>
            <a:off x="5880100" y="3132781"/>
            <a:ext cx="2222500" cy="1790700"/>
          </a:xfrm>
          <a:prstGeom prst="cloud">
            <a:avLst/>
          </a:prstGeom>
          <a:solidFill>
            <a:srgbClr val="D8D8D8"/>
          </a:solidFill>
          <a:ln cap="flat" cmpd="sng" w="9525">
            <a:solidFill>
              <a:srgbClr val="A5A5A5"/>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5" name="Google Shape;265;p12"/>
          <p:cNvSpPr txBox="1"/>
          <p:nvPr/>
        </p:nvSpPr>
        <p:spPr>
          <a:xfrm>
            <a:off x="3715223" y="3469331"/>
            <a:ext cx="163378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alibri"/>
                <a:ea typeface="Calibri"/>
                <a:cs typeface="Calibri"/>
                <a:sym typeface="Calibri"/>
              </a:rPr>
              <a:t>Customer</a:t>
            </a:r>
            <a:endParaRPr b="1" i="0" sz="2800" u="none" cap="none" strike="noStrike">
              <a:solidFill>
                <a:schemeClr val="lt1"/>
              </a:solidFill>
              <a:latin typeface="Calibri"/>
              <a:ea typeface="Calibri"/>
              <a:cs typeface="Calibri"/>
              <a:sym typeface="Calibri"/>
            </a:endParaRPr>
          </a:p>
        </p:txBody>
      </p:sp>
      <p:sp>
        <p:nvSpPr>
          <p:cNvPr id="266" name="Google Shape;266;p12"/>
          <p:cNvSpPr/>
          <p:nvPr/>
        </p:nvSpPr>
        <p:spPr>
          <a:xfrm>
            <a:off x="4203700" y="2031999"/>
            <a:ext cx="635000" cy="459264"/>
          </a:xfrm>
          <a:prstGeom prst="cloud">
            <a:avLst/>
          </a:prstGeom>
          <a:solidFill>
            <a:srgbClr val="D8D8D8"/>
          </a:solidFill>
          <a:ln cap="flat" cmpd="sng" w="9525">
            <a:solidFill>
              <a:srgbClr val="A5A5A5"/>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7" name="Google Shape;267;p12"/>
          <p:cNvSpPr txBox="1"/>
          <p:nvPr/>
        </p:nvSpPr>
        <p:spPr>
          <a:xfrm>
            <a:off x="4203700" y="2083831"/>
            <a:ext cx="629706"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Calibri"/>
                <a:ea typeface="Calibri"/>
                <a:cs typeface="Calibri"/>
                <a:sym typeface="Calibri"/>
              </a:rPr>
              <a:t>Influence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Calibri"/>
                <a:ea typeface="Calibri"/>
                <a:cs typeface="Calibri"/>
                <a:sym typeface="Calibri"/>
              </a:rPr>
              <a:t>Behavior</a:t>
            </a:r>
            <a:endParaRPr b="1" i="0" sz="900" u="none" cap="none" strike="noStrike">
              <a:solidFill>
                <a:schemeClr val="dk1"/>
              </a:solidFill>
              <a:latin typeface="Calibri"/>
              <a:ea typeface="Calibri"/>
              <a:cs typeface="Calibri"/>
              <a:sym typeface="Calibri"/>
            </a:endParaRPr>
          </a:p>
        </p:txBody>
      </p:sp>
      <p:sp>
        <p:nvSpPr>
          <p:cNvPr id="268" name="Google Shape;268;p12"/>
          <p:cNvSpPr/>
          <p:nvPr/>
        </p:nvSpPr>
        <p:spPr>
          <a:xfrm>
            <a:off x="3378200" y="4365603"/>
            <a:ext cx="2222500" cy="1790700"/>
          </a:xfrm>
          <a:prstGeom prst="cloud">
            <a:avLst/>
          </a:prstGeom>
          <a:solidFill>
            <a:srgbClr val="D8D8D8"/>
          </a:solidFill>
          <a:ln cap="flat" cmpd="sng" w="9525">
            <a:solidFill>
              <a:srgbClr val="A6A6A6"/>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9" name="Google Shape;269;p12"/>
          <p:cNvSpPr txBox="1"/>
          <p:nvPr/>
        </p:nvSpPr>
        <p:spPr>
          <a:xfrm>
            <a:off x="1872268" y="1663699"/>
            <a:ext cx="1780656"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Product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Recommendations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that are </a:t>
            </a:r>
            <a:r>
              <a:rPr b="1" i="1" lang="en-US" sz="1600" u="sng" cap="none" strike="noStrike">
                <a:solidFill>
                  <a:schemeClr val="dk1"/>
                </a:solidFill>
                <a:latin typeface="Calibri"/>
                <a:ea typeface="Calibri"/>
                <a:cs typeface="Calibri"/>
                <a:sym typeface="Calibri"/>
              </a:rPr>
              <a:t>Relevant</a:t>
            </a:r>
            <a:r>
              <a:rPr b="1" i="0" lang="en-US" sz="16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&amp; </a:t>
            </a:r>
            <a:r>
              <a:rPr b="1" i="1" lang="en-US" sz="1600" u="sng" cap="none" strike="noStrike">
                <a:solidFill>
                  <a:schemeClr val="dk1"/>
                </a:solidFill>
                <a:latin typeface="Calibri"/>
                <a:ea typeface="Calibri"/>
                <a:cs typeface="Calibri"/>
                <a:sym typeface="Calibri"/>
              </a:rPr>
              <a:t>Compelling</a:t>
            </a:r>
            <a:r>
              <a:rPr b="1" i="0" lang="en-US" sz="16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70" name="Google Shape;270;p12"/>
          <p:cNvSpPr txBox="1"/>
          <p:nvPr/>
        </p:nvSpPr>
        <p:spPr>
          <a:xfrm>
            <a:off x="6176824" y="3372364"/>
            <a:ext cx="1679166" cy="132343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Friend Invitations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to join a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Game or Activity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that expands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business </a:t>
            </a:r>
            <a:endParaRPr b="0" i="0" sz="1400" u="none" cap="none" strike="noStrike">
              <a:solidFill>
                <a:srgbClr val="000000"/>
              </a:solidFill>
              <a:latin typeface="Arial"/>
              <a:ea typeface="Arial"/>
              <a:cs typeface="Arial"/>
              <a:sym typeface="Arial"/>
            </a:endParaRPr>
          </a:p>
        </p:txBody>
      </p:sp>
      <p:sp>
        <p:nvSpPr>
          <p:cNvPr id="271" name="Google Shape;271;p12"/>
          <p:cNvSpPr txBox="1"/>
          <p:nvPr/>
        </p:nvSpPr>
        <p:spPr>
          <a:xfrm>
            <a:off x="3607913" y="4797571"/>
            <a:ext cx="1800493"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Preventing Fraud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 as it is </a:t>
            </a:r>
            <a:r>
              <a:rPr b="1" i="1" lang="en-US" sz="1600" u="sng" cap="none" strike="noStrike">
                <a:solidFill>
                  <a:schemeClr val="dk1"/>
                </a:solidFill>
                <a:latin typeface="Calibri"/>
                <a:ea typeface="Calibri"/>
                <a:cs typeface="Calibri"/>
                <a:sym typeface="Calibri"/>
              </a:rPr>
              <a:t>Occurring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&amp; preventing more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proactively </a:t>
            </a:r>
            <a:endParaRPr b="0" i="0" sz="1400" u="none" cap="none" strike="noStrike">
              <a:solidFill>
                <a:srgbClr val="000000"/>
              </a:solidFill>
              <a:latin typeface="Arial"/>
              <a:ea typeface="Arial"/>
              <a:cs typeface="Arial"/>
              <a:sym typeface="Arial"/>
            </a:endParaRPr>
          </a:p>
        </p:txBody>
      </p:sp>
      <p:sp>
        <p:nvSpPr>
          <p:cNvPr id="272" name="Google Shape;272;p12"/>
          <p:cNvSpPr txBox="1"/>
          <p:nvPr/>
        </p:nvSpPr>
        <p:spPr>
          <a:xfrm>
            <a:off x="5212308" y="1848364"/>
            <a:ext cx="2276785"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Learning why Customers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Switch to competitors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 and their offers; 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 time to Counter </a:t>
            </a:r>
            <a:endParaRPr b="0" i="0" sz="1400" u="none" cap="none" strike="noStrike">
              <a:solidFill>
                <a:srgbClr val="000000"/>
              </a:solidFill>
              <a:latin typeface="Arial"/>
              <a:ea typeface="Arial"/>
              <a:cs typeface="Arial"/>
              <a:sym typeface="Arial"/>
            </a:endParaRPr>
          </a:p>
        </p:txBody>
      </p:sp>
      <p:sp>
        <p:nvSpPr>
          <p:cNvPr id="273" name="Google Shape;273;p12"/>
          <p:cNvSpPr/>
          <p:nvPr/>
        </p:nvSpPr>
        <p:spPr>
          <a:xfrm>
            <a:off x="901700" y="3448049"/>
            <a:ext cx="2222500" cy="1790700"/>
          </a:xfrm>
          <a:prstGeom prst="cloud">
            <a:avLst/>
          </a:prstGeom>
          <a:solidFill>
            <a:srgbClr val="D8D8D8"/>
          </a:solidFill>
          <a:ln cap="flat" cmpd="sng" w="9525">
            <a:solidFill>
              <a:srgbClr val="A6A6A6"/>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4" name="Google Shape;274;p12"/>
          <p:cNvSpPr txBox="1"/>
          <p:nvPr/>
        </p:nvSpPr>
        <p:spPr>
          <a:xfrm>
            <a:off x="1143548" y="3702217"/>
            <a:ext cx="1776247" cy="132343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Improving 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Marketing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Effectiveness of a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Promotion while it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Calibri"/>
                <a:ea typeface="Calibri"/>
                <a:cs typeface="Calibri"/>
                <a:sym typeface="Calibri"/>
              </a:rPr>
              <a:t>is still in Play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Some Make it 4V’s</a:t>
            </a:r>
            <a:endParaRPr/>
          </a:p>
        </p:txBody>
      </p:sp>
      <p:sp>
        <p:nvSpPr>
          <p:cNvPr id="280" name="Google Shape;28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81" name="Google Shape;281;p13"/>
          <p:cNvPicPr preferRelativeResize="0"/>
          <p:nvPr/>
        </p:nvPicPr>
        <p:blipFill rotWithShape="1">
          <a:blip r:embed="rId3">
            <a:alphaModFix/>
          </a:blip>
          <a:srcRect b="0" l="0" r="0" t="0"/>
          <a:stretch/>
        </p:blipFill>
        <p:spPr>
          <a:xfrm>
            <a:off x="1000633" y="1948548"/>
            <a:ext cx="7012956" cy="35840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Harnessing Big Data</a:t>
            </a:r>
            <a:endParaRPr/>
          </a:p>
        </p:txBody>
      </p:sp>
      <p:pic>
        <p:nvPicPr>
          <p:cNvPr id="287" name="Google Shape;287;p14"/>
          <p:cNvPicPr preferRelativeResize="0"/>
          <p:nvPr/>
        </p:nvPicPr>
        <p:blipFill rotWithShape="1">
          <a:blip r:embed="rId3">
            <a:alphaModFix/>
          </a:blip>
          <a:srcRect b="0" l="0" r="0" t="0"/>
          <a:stretch/>
        </p:blipFill>
        <p:spPr>
          <a:xfrm>
            <a:off x="2021832" y="1711110"/>
            <a:ext cx="4636981" cy="2763951"/>
          </a:xfrm>
          <a:prstGeom prst="rect">
            <a:avLst/>
          </a:prstGeom>
          <a:noFill/>
          <a:ln cap="flat" cmpd="sng" w="9525">
            <a:solidFill>
              <a:schemeClr val="dk1"/>
            </a:solidFill>
            <a:prstDash val="solid"/>
            <a:round/>
            <a:headEnd len="sm" w="sm" type="none"/>
            <a:tailEnd len="sm" w="sm" type="none"/>
          </a:ln>
        </p:spPr>
      </p:pic>
      <p:sp>
        <p:nvSpPr>
          <p:cNvPr id="288" name="Google Shape;288;p14"/>
          <p:cNvSpPr txBox="1"/>
          <p:nvPr>
            <p:ph idx="1" type="body"/>
          </p:nvPr>
        </p:nvSpPr>
        <p:spPr>
          <a:xfrm>
            <a:off x="472808" y="4653113"/>
            <a:ext cx="8370002" cy="1637941"/>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0000FF"/>
              </a:buClr>
              <a:buSzPts val="1800"/>
              <a:buChar char="•"/>
            </a:pPr>
            <a:r>
              <a:rPr b="1" lang="en-US" sz="1800">
                <a:solidFill>
                  <a:srgbClr val="0000FF"/>
                </a:solidFill>
              </a:rPr>
              <a:t>OLTP: </a:t>
            </a:r>
            <a:r>
              <a:rPr lang="en-US" sz="1800"/>
              <a:t>Online Transaction Processing   (DBMSs)</a:t>
            </a:r>
            <a:endParaRPr/>
          </a:p>
          <a:p>
            <a:pPr indent="-342900" lvl="0" marL="342900" rtl="0" algn="l">
              <a:lnSpc>
                <a:spcPct val="100000"/>
              </a:lnSpc>
              <a:spcBef>
                <a:spcPts val="360"/>
              </a:spcBef>
              <a:spcAft>
                <a:spcPts val="0"/>
              </a:spcAft>
              <a:buClr>
                <a:srgbClr val="0000FF"/>
              </a:buClr>
              <a:buSzPts val="1800"/>
              <a:buChar char="•"/>
            </a:pPr>
            <a:r>
              <a:rPr b="1" lang="en-US" sz="1800">
                <a:solidFill>
                  <a:srgbClr val="0000FF"/>
                </a:solidFill>
              </a:rPr>
              <a:t>OLAP: </a:t>
            </a:r>
            <a:r>
              <a:rPr lang="en-US" sz="1800"/>
              <a:t>Online Analytical Processing   (Data Warehousing)</a:t>
            </a:r>
            <a:endParaRPr/>
          </a:p>
          <a:p>
            <a:pPr indent="-342900" lvl="0" marL="342900" rtl="0" algn="l">
              <a:lnSpc>
                <a:spcPct val="100000"/>
              </a:lnSpc>
              <a:spcBef>
                <a:spcPts val="360"/>
              </a:spcBef>
              <a:spcAft>
                <a:spcPts val="0"/>
              </a:spcAft>
              <a:buClr>
                <a:srgbClr val="0000FF"/>
              </a:buClr>
              <a:buSzPts val="1800"/>
              <a:buChar char="•"/>
            </a:pPr>
            <a:r>
              <a:rPr b="1" lang="en-US" sz="1800">
                <a:solidFill>
                  <a:srgbClr val="0000FF"/>
                </a:solidFill>
              </a:rPr>
              <a:t>RTAP: </a:t>
            </a:r>
            <a:r>
              <a:rPr lang="en-US" sz="1800"/>
              <a:t>Real-Time Analytics Processing  (Big Data Architecture &amp; technology)</a:t>
            </a:r>
            <a:endParaRPr sz="1800"/>
          </a:p>
        </p:txBody>
      </p:sp>
      <p:sp>
        <p:nvSpPr>
          <p:cNvPr id="289" name="Google Shape;28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0" st="0"/>
                                            </p:txEl>
                                          </p:spTgt>
                                        </p:tgtEl>
                                        <p:attrNameLst>
                                          <p:attrName>style.visibility</p:attrName>
                                        </p:attrNameLst>
                                      </p:cBhvr>
                                      <p:to>
                                        <p:strVal val="visible"/>
                                      </p:to>
                                    </p:set>
                                    <p:animEffect filter="fade" transition="in">
                                      <p:cBhvr>
                                        <p:cTn dur="500"/>
                                        <p:tgtEl>
                                          <p:spTgt spid="2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1" st="1"/>
                                            </p:txEl>
                                          </p:spTgt>
                                        </p:tgtEl>
                                        <p:attrNameLst>
                                          <p:attrName>style.visibility</p:attrName>
                                        </p:attrNameLst>
                                      </p:cBhvr>
                                      <p:to>
                                        <p:strVal val="visible"/>
                                      </p:to>
                                    </p:set>
                                    <p:animEffect filter="fade" transition="in">
                                      <p:cBhvr>
                                        <p:cTn dur="500"/>
                                        <p:tgtEl>
                                          <p:spTgt spid="2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xEl>
                                              <p:pRg end="2" st="2"/>
                                            </p:txEl>
                                          </p:spTgt>
                                        </p:tgtEl>
                                        <p:attrNameLst>
                                          <p:attrName>style.visibility</p:attrName>
                                        </p:attrNameLst>
                                      </p:cBhvr>
                                      <p:to>
                                        <p:strVal val="visible"/>
                                      </p:to>
                                    </p:set>
                                    <p:animEffect filter="fade" transition="in">
                                      <p:cBhvr>
                                        <p:cTn dur="500"/>
                                        <p:tgtEl>
                                          <p:spTgt spid="28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24f41145577_0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a:t>OLTP</a:t>
            </a:r>
            <a:endParaRPr/>
          </a:p>
        </p:txBody>
      </p:sp>
      <p:sp>
        <p:nvSpPr>
          <p:cNvPr id="296" name="Google Shape;296;g24f41145577_0_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pic>
        <p:nvPicPr>
          <p:cNvPr id="297" name="Google Shape;297;g24f41145577_0_0"/>
          <p:cNvPicPr preferRelativeResize="0"/>
          <p:nvPr/>
        </p:nvPicPr>
        <p:blipFill rotWithShape="1">
          <a:blip r:embed="rId3">
            <a:alphaModFix/>
          </a:blip>
          <a:srcRect b="0" l="0" r="0" t="0"/>
          <a:stretch/>
        </p:blipFill>
        <p:spPr>
          <a:xfrm>
            <a:off x="457200" y="1600200"/>
            <a:ext cx="8134626" cy="3930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24f41145577_0_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a:t>OLAP</a:t>
            </a:r>
            <a:endParaRPr/>
          </a:p>
        </p:txBody>
      </p:sp>
      <p:pic>
        <p:nvPicPr>
          <p:cNvPr id="304" name="Google Shape;304;g24f41145577_0_7"/>
          <p:cNvPicPr preferRelativeResize="0"/>
          <p:nvPr/>
        </p:nvPicPr>
        <p:blipFill rotWithShape="1">
          <a:blip r:embed="rId3">
            <a:alphaModFix/>
          </a:blip>
          <a:srcRect b="0" l="0" r="0" t="0"/>
          <a:stretch/>
        </p:blipFill>
        <p:spPr>
          <a:xfrm>
            <a:off x="1332987" y="1417650"/>
            <a:ext cx="6478024" cy="52092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24f41145577_0_14"/>
          <p:cNvSpPr txBox="1"/>
          <p:nvPr>
            <p:ph type="title"/>
          </p:nvPr>
        </p:nvSpPr>
        <p:spPr>
          <a:xfrm>
            <a:off x="418900" y="13598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a:t>LTAP</a:t>
            </a:r>
            <a:endParaRPr/>
          </a:p>
        </p:txBody>
      </p:sp>
      <p:pic>
        <p:nvPicPr>
          <p:cNvPr id="311" name="Google Shape;311;g24f41145577_0_14"/>
          <p:cNvPicPr preferRelativeResize="0"/>
          <p:nvPr/>
        </p:nvPicPr>
        <p:blipFill rotWithShape="1">
          <a:blip r:embed="rId3">
            <a:alphaModFix/>
          </a:blip>
          <a:srcRect b="0" l="0" r="0" t="0"/>
          <a:stretch/>
        </p:blipFill>
        <p:spPr>
          <a:xfrm>
            <a:off x="855450" y="1057175"/>
            <a:ext cx="7356500" cy="2772800"/>
          </a:xfrm>
          <a:prstGeom prst="rect">
            <a:avLst/>
          </a:prstGeom>
          <a:noFill/>
          <a:ln>
            <a:noFill/>
          </a:ln>
        </p:spPr>
      </p:pic>
      <p:pic>
        <p:nvPicPr>
          <p:cNvPr id="312" name="Google Shape;312;g24f41145577_0_14"/>
          <p:cNvPicPr preferRelativeResize="0"/>
          <p:nvPr/>
        </p:nvPicPr>
        <p:blipFill rotWithShape="1">
          <a:blip r:embed="rId4">
            <a:alphaModFix/>
          </a:blip>
          <a:srcRect b="0" l="0" r="0" t="0"/>
          <a:stretch/>
        </p:blipFill>
        <p:spPr>
          <a:xfrm>
            <a:off x="1348850" y="4163700"/>
            <a:ext cx="6863101" cy="2694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g24f41145577_0_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a:t>Benefits</a:t>
            </a:r>
            <a:endParaRPr/>
          </a:p>
        </p:txBody>
      </p:sp>
      <p:pic>
        <p:nvPicPr>
          <p:cNvPr id="319" name="Google Shape;319;g24f41145577_0_21"/>
          <p:cNvPicPr preferRelativeResize="0"/>
          <p:nvPr/>
        </p:nvPicPr>
        <p:blipFill rotWithShape="1">
          <a:blip r:embed="rId3">
            <a:alphaModFix/>
          </a:blip>
          <a:srcRect b="0" l="0" r="0" t="0"/>
          <a:stretch/>
        </p:blipFill>
        <p:spPr>
          <a:xfrm>
            <a:off x="2170325" y="1332000"/>
            <a:ext cx="4929750" cy="5512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24f41145577_0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a:t>Examples</a:t>
            </a:r>
            <a:endParaRPr/>
          </a:p>
        </p:txBody>
      </p:sp>
      <p:pic>
        <p:nvPicPr>
          <p:cNvPr id="326" name="Google Shape;326;g24f41145577_0_28"/>
          <p:cNvPicPr preferRelativeResize="0"/>
          <p:nvPr/>
        </p:nvPicPr>
        <p:blipFill rotWithShape="1">
          <a:blip r:embed="rId3">
            <a:alphaModFix/>
          </a:blip>
          <a:srcRect b="0" l="0" r="0" t="0"/>
          <a:stretch/>
        </p:blipFill>
        <p:spPr>
          <a:xfrm>
            <a:off x="1353950" y="1255801"/>
            <a:ext cx="7195074" cy="5365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24f41145577_0_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a:t>Examples</a:t>
            </a:r>
            <a:endParaRPr/>
          </a:p>
        </p:txBody>
      </p:sp>
      <p:pic>
        <p:nvPicPr>
          <p:cNvPr id="333" name="Google Shape;333;g24f41145577_0_36"/>
          <p:cNvPicPr preferRelativeResize="0"/>
          <p:nvPr/>
        </p:nvPicPr>
        <p:blipFill rotWithShape="1">
          <a:blip r:embed="rId3">
            <a:alphaModFix/>
          </a:blip>
          <a:srcRect b="0" l="0" r="0" t="0"/>
          <a:stretch/>
        </p:blipFill>
        <p:spPr>
          <a:xfrm>
            <a:off x="596050" y="1417638"/>
            <a:ext cx="8294661" cy="513556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24f41145577_0_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a:t>Examples</a:t>
            </a:r>
            <a:endParaRPr/>
          </a:p>
        </p:txBody>
      </p:sp>
      <p:pic>
        <p:nvPicPr>
          <p:cNvPr id="340" name="Google Shape;340;g24f41145577_0_43"/>
          <p:cNvPicPr preferRelativeResize="0"/>
          <p:nvPr/>
        </p:nvPicPr>
        <p:blipFill rotWithShape="1">
          <a:blip r:embed="rId3">
            <a:alphaModFix/>
          </a:blip>
          <a:srcRect b="0" l="0" r="0" t="0"/>
          <a:stretch/>
        </p:blipFill>
        <p:spPr>
          <a:xfrm>
            <a:off x="906476" y="1332001"/>
            <a:ext cx="7685599" cy="53839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24f41145577_0_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a:t>Examples</a:t>
            </a:r>
            <a:endParaRPr/>
          </a:p>
        </p:txBody>
      </p:sp>
      <p:pic>
        <p:nvPicPr>
          <p:cNvPr id="347" name="Google Shape;347;g24f41145577_0_50"/>
          <p:cNvPicPr preferRelativeResize="0"/>
          <p:nvPr/>
        </p:nvPicPr>
        <p:blipFill rotWithShape="1">
          <a:blip r:embed="rId3">
            <a:alphaModFix/>
          </a:blip>
          <a:srcRect b="0" l="0" r="0" t="0"/>
          <a:stretch/>
        </p:blipFill>
        <p:spPr>
          <a:xfrm>
            <a:off x="873300" y="1292763"/>
            <a:ext cx="7710874" cy="513556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The Model Has Changed…</a:t>
            </a:r>
            <a:endParaRPr/>
          </a:p>
        </p:txBody>
      </p:sp>
      <p:sp>
        <p:nvSpPr>
          <p:cNvPr id="353" name="Google Shape;353;p15"/>
          <p:cNvSpPr txBox="1"/>
          <p:nvPr>
            <p:ph idx="1" type="body"/>
          </p:nvPr>
        </p:nvSpPr>
        <p:spPr>
          <a:xfrm>
            <a:off x="567765" y="1801236"/>
            <a:ext cx="8144480" cy="69150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rgbClr val="800000"/>
              </a:buClr>
              <a:buSzPts val="2480"/>
              <a:buChar char="•"/>
            </a:pPr>
            <a:r>
              <a:rPr b="1" lang="en-US" sz="2480">
                <a:solidFill>
                  <a:srgbClr val="800000"/>
                </a:solidFill>
              </a:rPr>
              <a:t>The Model of Generating/Consuming Data has Changed</a:t>
            </a:r>
            <a:endParaRPr b="1" sz="2480">
              <a:solidFill>
                <a:srgbClr val="800000"/>
              </a:solidFill>
            </a:endParaRPr>
          </a:p>
        </p:txBody>
      </p:sp>
      <p:pic>
        <p:nvPicPr>
          <p:cNvPr descr="Screen shot 2013-01-13 at 5.46.48 PM.png" id="354" name="Google Shape;354;p15"/>
          <p:cNvPicPr preferRelativeResize="0"/>
          <p:nvPr/>
        </p:nvPicPr>
        <p:blipFill rotWithShape="1">
          <a:blip r:embed="rId3">
            <a:alphaModFix/>
          </a:blip>
          <a:srcRect b="0" l="0" r="0" t="0"/>
          <a:stretch/>
        </p:blipFill>
        <p:spPr>
          <a:xfrm>
            <a:off x="809052" y="3190160"/>
            <a:ext cx="996168" cy="928795"/>
          </a:xfrm>
          <a:prstGeom prst="rect">
            <a:avLst/>
          </a:prstGeom>
          <a:noFill/>
          <a:ln>
            <a:noFill/>
          </a:ln>
        </p:spPr>
      </p:pic>
      <p:pic>
        <p:nvPicPr>
          <p:cNvPr id="355" name="Google Shape;355;p15"/>
          <p:cNvPicPr preferRelativeResize="0"/>
          <p:nvPr/>
        </p:nvPicPr>
        <p:blipFill rotWithShape="1">
          <a:blip r:embed="rId4">
            <a:alphaModFix/>
          </a:blip>
          <a:srcRect b="0" l="0" r="0" t="0"/>
          <a:stretch/>
        </p:blipFill>
        <p:spPr>
          <a:xfrm>
            <a:off x="1828960" y="3190160"/>
            <a:ext cx="889834" cy="889149"/>
          </a:xfrm>
          <a:prstGeom prst="rect">
            <a:avLst/>
          </a:prstGeom>
          <a:noFill/>
          <a:ln>
            <a:noFill/>
          </a:ln>
        </p:spPr>
      </p:pic>
      <p:sp>
        <p:nvSpPr>
          <p:cNvPr id="356" name="Google Shape;356;p15"/>
          <p:cNvSpPr txBox="1"/>
          <p:nvPr/>
        </p:nvSpPr>
        <p:spPr>
          <a:xfrm>
            <a:off x="413461" y="2729902"/>
            <a:ext cx="78149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Old Model: </a:t>
            </a:r>
            <a:r>
              <a:rPr b="0" i="0" lang="en-US" sz="1800" u="none" cap="none" strike="noStrike">
                <a:solidFill>
                  <a:schemeClr val="dk1"/>
                </a:solidFill>
                <a:latin typeface="Calibri"/>
                <a:ea typeface="Calibri"/>
                <a:cs typeface="Calibri"/>
                <a:sym typeface="Calibri"/>
              </a:rPr>
              <a:t>Few companies are generating data, all others are consuming data </a:t>
            </a:r>
            <a:endParaRPr b="0" i="0" sz="1800" u="none" cap="none" strike="noStrike">
              <a:solidFill>
                <a:schemeClr val="dk1"/>
              </a:solidFill>
              <a:latin typeface="Calibri"/>
              <a:ea typeface="Calibri"/>
              <a:cs typeface="Calibri"/>
              <a:sym typeface="Calibri"/>
            </a:endParaRPr>
          </a:p>
        </p:txBody>
      </p:sp>
      <p:pic>
        <p:nvPicPr>
          <p:cNvPr id="357" name="Google Shape;357;p15"/>
          <p:cNvPicPr preferRelativeResize="0"/>
          <p:nvPr/>
        </p:nvPicPr>
        <p:blipFill rotWithShape="1">
          <a:blip r:embed="rId5">
            <a:alphaModFix/>
          </a:blip>
          <a:srcRect b="0" l="0" r="0" t="0"/>
          <a:stretch/>
        </p:blipFill>
        <p:spPr>
          <a:xfrm>
            <a:off x="4872831" y="3099234"/>
            <a:ext cx="1251853" cy="929560"/>
          </a:xfrm>
          <a:prstGeom prst="rect">
            <a:avLst/>
          </a:prstGeom>
          <a:noFill/>
          <a:ln>
            <a:noFill/>
          </a:ln>
        </p:spPr>
      </p:pic>
      <p:sp>
        <p:nvSpPr>
          <p:cNvPr id="358" name="Google Shape;358;p15"/>
          <p:cNvSpPr/>
          <p:nvPr/>
        </p:nvSpPr>
        <p:spPr>
          <a:xfrm>
            <a:off x="2884299" y="3383003"/>
            <a:ext cx="1768562" cy="486678"/>
          </a:xfrm>
          <a:prstGeom prst="rightArrow">
            <a:avLst>
              <a:gd fmla="val 50000" name="adj1"/>
              <a:gd fmla="val 50000" name="adj2"/>
            </a:avLst>
          </a:prstGeom>
          <a:gradFill>
            <a:gsLst>
              <a:gs pos="0">
                <a:srgbClr val="2D5C97"/>
              </a:gs>
              <a:gs pos="80000">
                <a:srgbClr val="3C7AC5"/>
              </a:gs>
              <a:gs pos="100000">
                <a:srgbClr val="397BC9"/>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359" name="Google Shape;359;p15"/>
          <p:cNvGrpSpPr/>
          <p:nvPr/>
        </p:nvGrpSpPr>
        <p:grpSpPr>
          <a:xfrm>
            <a:off x="413460" y="4565868"/>
            <a:ext cx="7717177" cy="1381096"/>
            <a:chOff x="413460" y="4565868"/>
            <a:chExt cx="7717177" cy="1381096"/>
          </a:xfrm>
        </p:grpSpPr>
        <p:pic>
          <p:nvPicPr>
            <p:cNvPr descr="Screen shot 2013-01-13 at 5.50.25 PM.png" id="360" name="Google Shape;360;p15"/>
            <p:cNvPicPr preferRelativeResize="0"/>
            <p:nvPr/>
          </p:nvPicPr>
          <p:blipFill rotWithShape="1">
            <a:blip r:embed="rId6">
              <a:alphaModFix/>
            </a:blip>
            <a:srcRect b="0" l="0" r="0" t="0"/>
            <a:stretch/>
          </p:blipFill>
          <p:spPr>
            <a:xfrm>
              <a:off x="567765" y="5032760"/>
              <a:ext cx="1317519" cy="914204"/>
            </a:xfrm>
            <a:prstGeom prst="rect">
              <a:avLst/>
            </a:prstGeom>
            <a:noFill/>
            <a:ln>
              <a:noFill/>
            </a:ln>
          </p:spPr>
        </p:pic>
        <p:sp>
          <p:nvSpPr>
            <p:cNvPr id="361" name="Google Shape;361;p15"/>
            <p:cNvSpPr/>
            <p:nvPr/>
          </p:nvSpPr>
          <p:spPr>
            <a:xfrm>
              <a:off x="413460" y="4565868"/>
              <a:ext cx="771717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FF"/>
                  </a:solidFill>
                  <a:latin typeface="Calibri"/>
                  <a:ea typeface="Calibri"/>
                  <a:cs typeface="Calibri"/>
                  <a:sym typeface="Calibri"/>
                </a:rPr>
                <a:t>New Model: </a:t>
              </a:r>
              <a:r>
                <a:rPr b="0" i="0" lang="en-US" sz="1800" u="none" cap="none" strike="noStrike">
                  <a:solidFill>
                    <a:schemeClr val="dk1"/>
                  </a:solidFill>
                  <a:latin typeface="Calibri"/>
                  <a:ea typeface="Calibri"/>
                  <a:cs typeface="Calibri"/>
                  <a:sym typeface="Calibri"/>
                </a:rPr>
                <a:t>all of us are generating data, and all of us are consuming data </a:t>
              </a:r>
              <a:endParaRPr b="0" i="0" sz="1800" u="none" cap="none" strike="noStrike">
                <a:solidFill>
                  <a:schemeClr val="dk1"/>
                </a:solidFill>
                <a:latin typeface="Calibri"/>
                <a:ea typeface="Calibri"/>
                <a:cs typeface="Calibri"/>
                <a:sym typeface="Calibri"/>
              </a:endParaRPr>
            </a:p>
          </p:txBody>
        </p:sp>
        <p:sp>
          <p:nvSpPr>
            <p:cNvPr id="362" name="Google Shape;362;p15"/>
            <p:cNvSpPr/>
            <p:nvPr/>
          </p:nvSpPr>
          <p:spPr>
            <a:xfrm>
              <a:off x="2277048" y="5185359"/>
              <a:ext cx="1768562" cy="486678"/>
            </a:xfrm>
            <a:prstGeom prst="rightArrow">
              <a:avLst>
                <a:gd fmla="val 50000" name="adj1"/>
                <a:gd fmla="val 50000" name="adj2"/>
              </a:avLst>
            </a:prstGeom>
            <a:gradFill>
              <a:gsLst>
                <a:gs pos="0">
                  <a:srgbClr val="2D5C97"/>
                </a:gs>
                <a:gs pos="80000">
                  <a:srgbClr val="3C7AC5"/>
                </a:gs>
                <a:gs pos="100000">
                  <a:srgbClr val="397BC9"/>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63" name="Google Shape;363;p15"/>
            <p:cNvPicPr preferRelativeResize="0"/>
            <p:nvPr/>
          </p:nvPicPr>
          <p:blipFill rotWithShape="1">
            <a:blip r:embed="rId5">
              <a:alphaModFix/>
            </a:blip>
            <a:srcRect b="0" l="0" r="0" t="0"/>
            <a:stretch/>
          </p:blipFill>
          <p:spPr>
            <a:xfrm>
              <a:off x="4158754" y="4973409"/>
              <a:ext cx="1251853" cy="929560"/>
            </a:xfrm>
            <a:prstGeom prst="rect">
              <a:avLst/>
            </a:prstGeom>
            <a:noFill/>
            <a:ln>
              <a:noFill/>
            </a:ln>
          </p:spPr>
        </p:pic>
      </p:grpSp>
      <p:sp>
        <p:nvSpPr>
          <p:cNvPr id="364" name="Google Shape;36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What’s driving Big Data</a:t>
            </a:r>
            <a:endParaRPr/>
          </a:p>
        </p:txBody>
      </p:sp>
      <p:pic>
        <p:nvPicPr>
          <p:cNvPr id="370" name="Google Shape;370;p16"/>
          <p:cNvPicPr preferRelativeResize="0"/>
          <p:nvPr/>
        </p:nvPicPr>
        <p:blipFill rotWithShape="1">
          <a:blip r:embed="rId3">
            <a:alphaModFix/>
          </a:blip>
          <a:srcRect b="0" l="0" r="0" t="0"/>
          <a:stretch/>
        </p:blipFill>
        <p:spPr>
          <a:xfrm>
            <a:off x="-40968" y="1945773"/>
            <a:ext cx="5170209" cy="3864239"/>
          </a:xfrm>
          <a:prstGeom prst="rect">
            <a:avLst/>
          </a:prstGeom>
          <a:noFill/>
          <a:ln>
            <a:noFill/>
          </a:ln>
        </p:spPr>
      </p:pic>
      <p:grpSp>
        <p:nvGrpSpPr>
          <p:cNvPr id="371" name="Google Shape;371;p16"/>
          <p:cNvGrpSpPr/>
          <p:nvPr/>
        </p:nvGrpSpPr>
        <p:grpSpPr>
          <a:xfrm>
            <a:off x="2206987" y="4191949"/>
            <a:ext cx="6692952" cy="1200329"/>
            <a:chOff x="2206987" y="4191949"/>
            <a:chExt cx="6692952" cy="1200329"/>
          </a:xfrm>
        </p:grpSpPr>
        <p:cxnSp>
          <p:nvCxnSpPr>
            <p:cNvPr id="372" name="Google Shape;372;p16"/>
            <p:cNvCxnSpPr/>
            <p:nvPr/>
          </p:nvCxnSpPr>
          <p:spPr>
            <a:xfrm rot="10800000">
              <a:off x="2206987" y="4451385"/>
              <a:ext cx="3186864" cy="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254"/>
                </a:srgbClr>
              </a:outerShdw>
            </a:effectLst>
          </p:spPr>
        </p:cxnSp>
        <p:sp>
          <p:nvSpPr>
            <p:cNvPr id="373" name="Google Shape;373;p16"/>
            <p:cNvSpPr txBox="1"/>
            <p:nvPr/>
          </p:nvSpPr>
          <p:spPr>
            <a:xfrm>
              <a:off x="5393851" y="4191949"/>
              <a:ext cx="3506088" cy="1200329"/>
            </a:xfrm>
            <a:prstGeom prst="rect">
              <a:avLst/>
            </a:prstGeom>
            <a:solidFill>
              <a:srgbClr val="E5DFEC"/>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Ad-hoc querying and reporting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Data mining techniques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Structured data, typical sources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Small to mid-size datasets</a:t>
              </a:r>
              <a:endParaRPr b="0" i="0" sz="1800" u="none" cap="none" strike="noStrike">
                <a:solidFill>
                  <a:schemeClr val="dk1"/>
                </a:solidFill>
                <a:latin typeface="Calibri"/>
                <a:ea typeface="Calibri"/>
                <a:cs typeface="Calibri"/>
                <a:sym typeface="Calibri"/>
              </a:endParaRPr>
            </a:p>
          </p:txBody>
        </p:sp>
      </p:grpSp>
      <p:grpSp>
        <p:nvGrpSpPr>
          <p:cNvPr id="374" name="Google Shape;374;p16"/>
          <p:cNvGrpSpPr/>
          <p:nvPr/>
        </p:nvGrpSpPr>
        <p:grpSpPr>
          <a:xfrm>
            <a:off x="2034655" y="1960356"/>
            <a:ext cx="6530418" cy="1477328"/>
            <a:chOff x="2034655" y="1960356"/>
            <a:chExt cx="6530418" cy="1477328"/>
          </a:xfrm>
        </p:grpSpPr>
        <p:sp>
          <p:nvSpPr>
            <p:cNvPr id="375" name="Google Shape;375;p16"/>
            <p:cNvSpPr txBox="1"/>
            <p:nvPr/>
          </p:nvSpPr>
          <p:spPr>
            <a:xfrm>
              <a:off x="4508441" y="1960356"/>
              <a:ext cx="4056632" cy="1477328"/>
            </a:xfrm>
            <a:prstGeom prst="rect">
              <a:avLst/>
            </a:prstGeom>
            <a:solidFill>
              <a:srgbClr val="E5DFEC"/>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Optimizations and predictive analytics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Complex statistical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All types of data, and many sources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Very large datasets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More of a real-time </a:t>
              </a:r>
              <a:endParaRPr b="0" i="0" sz="1800" u="none" cap="none" strike="noStrike">
                <a:solidFill>
                  <a:schemeClr val="dk1"/>
                </a:solidFill>
                <a:latin typeface="Calibri"/>
                <a:ea typeface="Calibri"/>
                <a:cs typeface="Calibri"/>
                <a:sym typeface="Calibri"/>
              </a:endParaRPr>
            </a:p>
          </p:txBody>
        </p:sp>
        <p:cxnSp>
          <p:nvCxnSpPr>
            <p:cNvPr id="376" name="Google Shape;376;p16"/>
            <p:cNvCxnSpPr/>
            <p:nvPr/>
          </p:nvCxnSpPr>
          <p:spPr>
            <a:xfrm flipH="1">
              <a:off x="2034655" y="2553402"/>
              <a:ext cx="2473786" cy="477909"/>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254"/>
                </a:srgbClr>
              </a:outerShdw>
            </a:effectLst>
          </p:spPr>
        </p:cxnSp>
      </p:grpSp>
      <p:sp>
        <p:nvSpPr>
          <p:cNvPr id="377" name="Google Shape;377;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7"/>
          <p:cNvSpPr/>
          <p:nvPr/>
        </p:nvSpPr>
        <p:spPr>
          <a:xfrm>
            <a:off x="5029200" y="3115746"/>
            <a:ext cx="3276600" cy="2167467"/>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Big Data: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Batch Processing &amp;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Distributed Data Store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Hadoop/Spark; HBase/Cassandra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3" name="Google Shape;383;p17"/>
          <p:cNvSpPr/>
          <p:nvPr/>
        </p:nvSpPr>
        <p:spPr>
          <a:xfrm>
            <a:off x="253991" y="2658546"/>
            <a:ext cx="2751667" cy="2167467"/>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BI Reporting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OLAP &amp;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Dataware house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Business Objects, SAS, Informatica, Cognos other SQL Reporting Tools</a:t>
            </a:r>
            <a:endParaRPr b="0" i="0" sz="1100" u="none" cap="none" strike="noStrike">
              <a:solidFill>
                <a:schemeClr val="lt1"/>
              </a:solidFill>
              <a:latin typeface="Calibri"/>
              <a:ea typeface="Calibri"/>
              <a:cs typeface="Calibri"/>
              <a:sym typeface="Calibri"/>
            </a:endParaRPr>
          </a:p>
        </p:txBody>
      </p:sp>
      <p:sp>
        <p:nvSpPr>
          <p:cNvPr id="384" name="Google Shape;384;p17"/>
          <p:cNvSpPr/>
          <p:nvPr/>
        </p:nvSpPr>
        <p:spPr>
          <a:xfrm>
            <a:off x="3208865" y="1308113"/>
            <a:ext cx="2810935" cy="2167467"/>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Interactive Business Intelligence &amp;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In-memory RDBMS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QliqView, Tableau, HANA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5" name="Google Shape;385;p17"/>
          <p:cNvSpPr/>
          <p:nvPr/>
        </p:nvSpPr>
        <p:spPr>
          <a:xfrm>
            <a:off x="6316131" y="1600213"/>
            <a:ext cx="2751667" cy="2167467"/>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25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Big Data: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Real Time &amp;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Calibri"/>
                <a:ea typeface="Calibri"/>
                <a:cs typeface="Calibri"/>
                <a:sym typeface="Calibri"/>
              </a:rPr>
              <a:t>Single View</a:t>
            </a:r>
            <a:endParaRPr b="1" i="0" sz="24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Graph Databases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6" name="Google Shape;386;p17"/>
          <p:cNvSpPr txBox="1"/>
          <p:nvPr>
            <p:ph type="title"/>
          </p:nvPr>
        </p:nvSpPr>
        <p:spPr>
          <a:xfrm>
            <a:off x="1380054" y="609618"/>
            <a:ext cx="7374479" cy="59266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Calibri"/>
              <a:buNone/>
            </a:pPr>
            <a:r>
              <a:rPr b="1" lang="en-US" sz="2800"/>
              <a:t>THE EVOLUTION </a:t>
            </a:r>
            <a:r>
              <a:rPr lang="en-US" sz="2800"/>
              <a:t>OF BUSINESS INTELLIGENCE</a:t>
            </a:r>
            <a:endParaRPr b="1" sz="2800"/>
          </a:p>
        </p:txBody>
      </p:sp>
      <p:sp>
        <p:nvSpPr>
          <p:cNvPr id="387" name="Google Shape;387;p17"/>
          <p:cNvSpPr txBox="1"/>
          <p:nvPr/>
        </p:nvSpPr>
        <p:spPr>
          <a:xfrm>
            <a:off x="1174542" y="5350915"/>
            <a:ext cx="10107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1990’s</a:t>
            </a:r>
            <a:endParaRPr b="1" i="0" sz="2400" u="none" cap="none" strike="noStrike">
              <a:solidFill>
                <a:schemeClr val="dk1"/>
              </a:solidFill>
              <a:latin typeface="Calibri"/>
              <a:ea typeface="Calibri"/>
              <a:cs typeface="Calibri"/>
              <a:sym typeface="Calibri"/>
            </a:endParaRPr>
          </a:p>
        </p:txBody>
      </p:sp>
      <p:sp>
        <p:nvSpPr>
          <p:cNvPr id="388" name="Google Shape;388;p17"/>
          <p:cNvSpPr txBox="1"/>
          <p:nvPr/>
        </p:nvSpPr>
        <p:spPr>
          <a:xfrm>
            <a:off x="4104009" y="5350918"/>
            <a:ext cx="10107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2000’s</a:t>
            </a:r>
            <a:endParaRPr b="1" i="0" sz="2400" u="none" cap="none" strike="noStrike">
              <a:solidFill>
                <a:schemeClr val="dk1"/>
              </a:solidFill>
              <a:latin typeface="Calibri"/>
              <a:ea typeface="Calibri"/>
              <a:cs typeface="Calibri"/>
              <a:sym typeface="Calibri"/>
            </a:endParaRPr>
          </a:p>
        </p:txBody>
      </p:sp>
      <p:sp>
        <p:nvSpPr>
          <p:cNvPr id="389" name="Google Shape;389;p17"/>
          <p:cNvSpPr txBox="1"/>
          <p:nvPr/>
        </p:nvSpPr>
        <p:spPr>
          <a:xfrm>
            <a:off x="7063815" y="5350918"/>
            <a:ext cx="10107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2010’s</a:t>
            </a:r>
            <a:endParaRPr b="1" i="0" sz="2400" u="none" cap="none" strike="noStrike">
              <a:solidFill>
                <a:schemeClr val="dk1"/>
              </a:solidFill>
              <a:latin typeface="Calibri"/>
              <a:ea typeface="Calibri"/>
              <a:cs typeface="Calibri"/>
              <a:sym typeface="Calibri"/>
            </a:endParaRPr>
          </a:p>
        </p:txBody>
      </p:sp>
      <p:cxnSp>
        <p:nvCxnSpPr>
          <p:cNvPr id="390" name="Google Shape;390;p17"/>
          <p:cNvCxnSpPr>
            <a:stCxn id="383" idx="0"/>
          </p:cNvCxnSpPr>
          <p:nvPr/>
        </p:nvCxnSpPr>
        <p:spPr>
          <a:xfrm flipH="1" rot="10800000">
            <a:off x="1629825" y="1752546"/>
            <a:ext cx="1578900" cy="9060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254"/>
              </a:srgbClr>
            </a:outerShdw>
          </a:effectLst>
        </p:spPr>
      </p:cxnSp>
      <p:sp>
        <p:nvSpPr>
          <p:cNvPr id="391" name="Google Shape;391;p17"/>
          <p:cNvSpPr txBox="1"/>
          <p:nvPr/>
        </p:nvSpPr>
        <p:spPr>
          <a:xfrm>
            <a:off x="1751613" y="1916668"/>
            <a:ext cx="762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Speed</a:t>
            </a:r>
            <a:endParaRPr b="0" i="0" sz="1800" u="none" cap="none" strike="noStrike">
              <a:solidFill>
                <a:schemeClr val="dk1"/>
              </a:solidFill>
              <a:latin typeface="Calibri"/>
              <a:ea typeface="Calibri"/>
              <a:cs typeface="Calibri"/>
              <a:sym typeface="Calibri"/>
            </a:endParaRPr>
          </a:p>
        </p:txBody>
      </p:sp>
      <p:cxnSp>
        <p:nvCxnSpPr>
          <p:cNvPr id="392" name="Google Shape;392;p17"/>
          <p:cNvCxnSpPr>
            <a:stCxn id="383" idx="3"/>
            <a:endCxn id="382" idx="1"/>
          </p:cNvCxnSpPr>
          <p:nvPr/>
        </p:nvCxnSpPr>
        <p:spPr>
          <a:xfrm>
            <a:off x="3005658" y="3742280"/>
            <a:ext cx="2023500" cy="4572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254"/>
              </a:srgbClr>
            </a:outerShdw>
          </a:effectLst>
        </p:spPr>
      </p:cxnSp>
      <p:sp>
        <p:nvSpPr>
          <p:cNvPr id="393" name="Google Shape;393;p17"/>
          <p:cNvSpPr txBox="1"/>
          <p:nvPr/>
        </p:nvSpPr>
        <p:spPr>
          <a:xfrm>
            <a:off x="3429922" y="3927528"/>
            <a:ext cx="666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Scale</a:t>
            </a:r>
            <a:endParaRPr b="0" i="0" sz="1800" u="none" cap="none" strike="noStrike">
              <a:solidFill>
                <a:schemeClr val="dk1"/>
              </a:solidFill>
              <a:latin typeface="Calibri"/>
              <a:ea typeface="Calibri"/>
              <a:cs typeface="Calibri"/>
              <a:sym typeface="Calibri"/>
            </a:endParaRPr>
          </a:p>
        </p:txBody>
      </p:sp>
      <p:cxnSp>
        <p:nvCxnSpPr>
          <p:cNvPr id="394" name="Google Shape;394;p17"/>
          <p:cNvCxnSpPr>
            <a:stCxn id="384" idx="3"/>
            <a:endCxn id="385" idx="1"/>
          </p:cNvCxnSpPr>
          <p:nvPr/>
        </p:nvCxnSpPr>
        <p:spPr>
          <a:xfrm>
            <a:off x="6019800" y="2391847"/>
            <a:ext cx="296400" cy="2922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254"/>
              </a:srgbClr>
            </a:outerShdw>
          </a:effectLst>
        </p:spPr>
      </p:cxnSp>
      <p:cxnSp>
        <p:nvCxnSpPr>
          <p:cNvPr id="395" name="Google Shape;395;p17"/>
          <p:cNvCxnSpPr>
            <a:stCxn id="382" idx="3"/>
          </p:cNvCxnSpPr>
          <p:nvPr/>
        </p:nvCxnSpPr>
        <p:spPr>
          <a:xfrm flipH="1" rot="10800000">
            <a:off x="8305800" y="3767780"/>
            <a:ext cx="381000" cy="4317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254"/>
              </a:srgbClr>
            </a:outerShdw>
          </a:effectLst>
        </p:spPr>
      </p:cxnSp>
      <p:sp>
        <p:nvSpPr>
          <p:cNvPr id="396" name="Google Shape;396;p17"/>
          <p:cNvSpPr txBox="1"/>
          <p:nvPr/>
        </p:nvSpPr>
        <p:spPr>
          <a:xfrm>
            <a:off x="5962669" y="2124115"/>
            <a:ext cx="666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Scale</a:t>
            </a:r>
            <a:endParaRPr b="0" i="0" sz="1800" u="none" cap="none" strike="noStrike">
              <a:solidFill>
                <a:schemeClr val="dk1"/>
              </a:solidFill>
              <a:latin typeface="Calibri"/>
              <a:ea typeface="Calibri"/>
              <a:cs typeface="Calibri"/>
              <a:sym typeface="Calibri"/>
            </a:endParaRPr>
          </a:p>
        </p:txBody>
      </p:sp>
      <p:sp>
        <p:nvSpPr>
          <p:cNvPr id="397" name="Google Shape;397;p17"/>
          <p:cNvSpPr txBox="1"/>
          <p:nvPr/>
        </p:nvSpPr>
        <p:spPr>
          <a:xfrm>
            <a:off x="8317511" y="3913214"/>
            <a:ext cx="7629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Speed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Big Data Analytics</a:t>
            </a:r>
            <a:endParaRPr/>
          </a:p>
        </p:txBody>
      </p:sp>
      <p:sp>
        <p:nvSpPr>
          <p:cNvPr id="403" name="Google Shape;403;p18"/>
          <p:cNvSpPr txBox="1"/>
          <p:nvPr>
            <p:ph idx="1" type="body"/>
          </p:nvPr>
        </p:nvSpPr>
        <p:spPr>
          <a:xfrm>
            <a:off x="312931" y="1870673"/>
            <a:ext cx="4398184" cy="411002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Char char="•"/>
            </a:pPr>
            <a:r>
              <a:rPr lang="en-US" sz="2000"/>
              <a:t>Big data is more real-time in nature than traditional DW applications</a:t>
            </a:r>
            <a:endParaRPr sz="2000"/>
          </a:p>
          <a:p>
            <a:pPr indent="-342900" lvl="0" marL="342900" rtl="0" algn="l">
              <a:lnSpc>
                <a:spcPct val="100000"/>
              </a:lnSpc>
              <a:spcBef>
                <a:spcPts val="400"/>
              </a:spcBef>
              <a:spcAft>
                <a:spcPts val="0"/>
              </a:spcAft>
              <a:buClr>
                <a:schemeClr val="dk1"/>
              </a:buClr>
              <a:buSzPts val="2000"/>
              <a:buChar char="•"/>
            </a:pPr>
            <a:r>
              <a:rPr lang="en-US" sz="2000"/>
              <a:t>Traditional DW architectures (e.g. Exadata, Teradata) are not well-suited for big data apps</a:t>
            </a:r>
            <a:endParaRPr sz="2000"/>
          </a:p>
          <a:p>
            <a:pPr indent="-342900" lvl="0" marL="342900" rtl="0" algn="l">
              <a:lnSpc>
                <a:spcPct val="100000"/>
              </a:lnSpc>
              <a:spcBef>
                <a:spcPts val="400"/>
              </a:spcBef>
              <a:spcAft>
                <a:spcPts val="0"/>
              </a:spcAft>
              <a:buClr>
                <a:schemeClr val="dk1"/>
              </a:buClr>
              <a:buSzPts val="2000"/>
              <a:buChar char="•"/>
            </a:pPr>
            <a:r>
              <a:rPr lang="en-US" sz="2000"/>
              <a:t>Shared nothing, massively parallel processing, scale out architectures are well-suited for big data apps</a:t>
            </a:r>
            <a:endParaRPr sz="2000"/>
          </a:p>
        </p:txBody>
      </p:sp>
      <p:pic>
        <p:nvPicPr>
          <p:cNvPr descr="Screen shot 2013-01-13 at 9.45.03 PM.png" id="404" name="Google Shape;404;p18"/>
          <p:cNvPicPr preferRelativeResize="0"/>
          <p:nvPr/>
        </p:nvPicPr>
        <p:blipFill rotWithShape="1">
          <a:blip r:embed="rId3">
            <a:alphaModFix/>
          </a:blip>
          <a:srcRect b="0" l="0" r="0" t="0"/>
          <a:stretch/>
        </p:blipFill>
        <p:spPr>
          <a:xfrm>
            <a:off x="4820358" y="1802401"/>
            <a:ext cx="3851882" cy="2812838"/>
          </a:xfrm>
          <a:prstGeom prst="rect">
            <a:avLst/>
          </a:prstGeom>
          <a:noFill/>
          <a:ln cap="flat" cmpd="sng" w="9525">
            <a:solidFill>
              <a:schemeClr val="dk1"/>
            </a:solidFill>
            <a:prstDash val="solid"/>
            <a:round/>
            <a:headEnd len="sm" w="sm" type="none"/>
            <a:tailEnd len="sm" w="sm" type="none"/>
          </a:ln>
        </p:spPr>
      </p:pic>
      <p:sp>
        <p:nvSpPr>
          <p:cNvPr id="405" name="Google Shape;405;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411" name="Google Shape;411;p19"/>
          <p:cNvPicPr preferRelativeResize="0"/>
          <p:nvPr>
            <p:ph idx="1" type="body"/>
          </p:nvPr>
        </p:nvPicPr>
        <p:blipFill rotWithShape="1">
          <a:blip r:embed="rId3">
            <a:alphaModFix/>
          </a:blip>
          <a:srcRect b="0" l="-3570" r="-3568" t="0"/>
          <a:stretch/>
        </p:blipFill>
        <p:spPr>
          <a:xfrm>
            <a:off x="-304800" y="-76200"/>
            <a:ext cx="9802813" cy="7162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Big Data Technology</a:t>
            </a:r>
            <a:endParaRPr/>
          </a:p>
        </p:txBody>
      </p:sp>
      <p:pic>
        <p:nvPicPr>
          <p:cNvPr id="417" name="Google Shape;417;p20"/>
          <p:cNvPicPr preferRelativeResize="0"/>
          <p:nvPr/>
        </p:nvPicPr>
        <p:blipFill rotWithShape="1">
          <a:blip r:embed="rId3">
            <a:alphaModFix/>
          </a:blip>
          <a:srcRect b="0" l="0" r="0" t="0"/>
          <a:stretch/>
        </p:blipFill>
        <p:spPr>
          <a:xfrm>
            <a:off x="320478" y="1584008"/>
            <a:ext cx="8542618" cy="4884889"/>
          </a:xfrm>
          <a:prstGeom prst="rect">
            <a:avLst/>
          </a:prstGeom>
          <a:noFill/>
          <a:ln>
            <a:noFill/>
          </a:ln>
        </p:spPr>
      </p:pic>
      <p:sp>
        <p:nvSpPr>
          <p:cNvPr id="418" name="Google Shape;41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Cloud Computing </a:t>
            </a:r>
            <a:endParaRPr/>
          </a:p>
        </p:txBody>
      </p:sp>
      <p:sp>
        <p:nvSpPr>
          <p:cNvPr id="424" name="Google Shape;424;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IT resources provided as a service</a:t>
            </a:r>
            <a:endParaRPr/>
          </a:p>
          <a:p>
            <a:pPr indent="-285750" lvl="1" marL="742950" rtl="0" algn="l">
              <a:lnSpc>
                <a:spcPct val="100000"/>
              </a:lnSpc>
              <a:spcBef>
                <a:spcPts val="560"/>
              </a:spcBef>
              <a:spcAft>
                <a:spcPts val="0"/>
              </a:spcAft>
              <a:buClr>
                <a:schemeClr val="dk1"/>
              </a:buClr>
              <a:buSzPts val="2800"/>
              <a:buChar char="–"/>
            </a:pPr>
            <a:r>
              <a:rPr lang="en-US"/>
              <a:t>Compute, storage, databases, queues</a:t>
            </a:r>
            <a:endParaRPr/>
          </a:p>
          <a:p>
            <a:pPr indent="-342900" lvl="0" marL="342900" rtl="0" algn="l">
              <a:lnSpc>
                <a:spcPct val="100000"/>
              </a:lnSpc>
              <a:spcBef>
                <a:spcPts val="640"/>
              </a:spcBef>
              <a:spcAft>
                <a:spcPts val="0"/>
              </a:spcAft>
              <a:buClr>
                <a:schemeClr val="dk1"/>
              </a:buClr>
              <a:buSzPts val="3200"/>
              <a:buChar char="•"/>
            </a:pPr>
            <a:r>
              <a:rPr lang="en-US"/>
              <a:t>Clouds leverage economies of scale of commodity hardware</a:t>
            </a:r>
            <a:endParaRPr/>
          </a:p>
          <a:p>
            <a:pPr indent="-285750" lvl="1" marL="742950" rtl="0" algn="l">
              <a:lnSpc>
                <a:spcPct val="100000"/>
              </a:lnSpc>
              <a:spcBef>
                <a:spcPts val="560"/>
              </a:spcBef>
              <a:spcAft>
                <a:spcPts val="0"/>
              </a:spcAft>
              <a:buClr>
                <a:schemeClr val="dk1"/>
              </a:buClr>
              <a:buSzPts val="2800"/>
              <a:buChar char="–"/>
            </a:pPr>
            <a:r>
              <a:rPr lang="en-US"/>
              <a:t>Cheap storage, high bandwidth networks &amp; multicore processors </a:t>
            </a:r>
            <a:endParaRPr/>
          </a:p>
          <a:p>
            <a:pPr indent="-285750" lvl="1" marL="742950" rtl="0" algn="l">
              <a:lnSpc>
                <a:spcPct val="100000"/>
              </a:lnSpc>
              <a:spcBef>
                <a:spcPts val="560"/>
              </a:spcBef>
              <a:spcAft>
                <a:spcPts val="0"/>
              </a:spcAft>
              <a:buClr>
                <a:schemeClr val="dk1"/>
              </a:buClr>
              <a:buSzPts val="2800"/>
              <a:buChar char="–"/>
            </a:pPr>
            <a:r>
              <a:rPr lang="en-US"/>
              <a:t>Geographically distributed data centers</a:t>
            </a:r>
            <a:endParaRPr/>
          </a:p>
          <a:p>
            <a:pPr indent="-342900" lvl="0" marL="342900" rtl="0" algn="l">
              <a:lnSpc>
                <a:spcPct val="100000"/>
              </a:lnSpc>
              <a:spcBef>
                <a:spcPts val="640"/>
              </a:spcBef>
              <a:spcAft>
                <a:spcPts val="0"/>
              </a:spcAft>
              <a:buClr>
                <a:schemeClr val="dk1"/>
              </a:buClr>
              <a:buSzPts val="3200"/>
              <a:buChar char="•"/>
            </a:pPr>
            <a:r>
              <a:rPr lang="en-US"/>
              <a:t>Offerings from Microsoft, Amazon, Google, …</a:t>
            </a:r>
            <a:endParaRPr/>
          </a:p>
          <a:p>
            <a:pPr indent="-3429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p22"/>
          <p:cNvPicPr preferRelativeResize="0"/>
          <p:nvPr/>
        </p:nvPicPr>
        <p:blipFill rotWithShape="1">
          <a:blip r:embed="rId3">
            <a:alphaModFix/>
          </a:blip>
          <a:srcRect b="0" l="0" r="0" t="0"/>
          <a:stretch/>
        </p:blipFill>
        <p:spPr>
          <a:xfrm>
            <a:off x="914400" y="228600"/>
            <a:ext cx="7612660" cy="5943600"/>
          </a:xfrm>
          <a:prstGeom prst="rect">
            <a:avLst/>
          </a:prstGeom>
          <a:noFill/>
          <a:ln>
            <a:noFill/>
          </a:ln>
        </p:spPr>
      </p:pic>
      <p:sp>
        <p:nvSpPr>
          <p:cNvPr id="430" name="Google Shape;430;p22"/>
          <p:cNvSpPr txBox="1"/>
          <p:nvPr/>
        </p:nvSpPr>
        <p:spPr>
          <a:xfrm>
            <a:off x="2634669" y="6336268"/>
            <a:ext cx="3613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wikipedia:Cloud Computing</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Benefits</a:t>
            </a:r>
            <a:endParaRPr/>
          </a:p>
        </p:txBody>
      </p:sp>
      <p:sp>
        <p:nvSpPr>
          <p:cNvPr id="436" name="Google Shape;436;p23"/>
          <p:cNvSpPr txBox="1"/>
          <p:nvPr>
            <p:ph idx="1" type="body"/>
          </p:nvPr>
        </p:nvSpPr>
        <p:spPr>
          <a:xfrm>
            <a:off x="457200" y="1600200"/>
            <a:ext cx="8229600" cy="4724400"/>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960"/>
              <a:buChar char="•"/>
            </a:pPr>
            <a:r>
              <a:rPr lang="en-US" sz="2960"/>
              <a:t>Cost &amp; management</a:t>
            </a:r>
            <a:endParaRPr/>
          </a:p>
          <a:p>
            <a:pPr indent="-285750" lvl="1" marL="742950" rtl="0" algn="l">
              <a:lnSpc>
                <a:spcPct val="80000"/>
              </a:lnSpc>
              <a:spcBef>
                <a:spcPts val="518"/>
              </a:spcBef>
              <a:spcAft>
                <a:spcPts val="0"/>
              </a:spcAft>
              <a:buClr>
                <a:schemeClr val="dk1"/>
              </a:buClr>
              <a:buSzPts val="2590"/>
              <a:buChar char="–"/>
            </a:pPr>
            <a:r>
              <a:rPr lang="en-US" sz="2590"/>
              <a:t>Economies of scale, “out-sourced” resource management</a:t>
            </a:r>
            <a:endParaRPr/>
          </a:p>
          <a:p>
            <a:pPr indent="-342900" lvl="0" marL="342900" rtl="0" algn="l">
              <a:lnSpc>
                <a:spcPct val="80000"/>
              </a:lnSpc>
              <a:spcBef>
                <a:spcPts val="592"/>
              </a:spcBef>
              <a:spcAft>
                <a:spcPts val="0"/>
              </a:spcAft>
              <a:buClr>
                <a:schemeClr val="dk1"/>
              </a:buClr>
              <a:buSzPts val="2960"/>
              <a:buChar char="•"/>
            </a:pPr>
            <a:r>
              <a:rPr lang="en-US" sz="2960"/>
              <a:t>Reduced Time to deployment</a:t>
            </a:r>
            <a:endParaRPr/>
          </a:p>
          <a:p>
            <a:pPr indent="-285750" lvl="1" marL="742950" rtl="0" algn="l">
              <a:lnSpc>
                <a:spcPct val="80000"/>
              </a:lnSpc>
              <a:spcBef>
                <a:spcPts val="518"/>
              </a:spcBef>
              <a:spcAft>
                <a:spcPts val="0"/>
              </a:spcAft>
              <a:buClr>
                <a:schemeClr val="dk1"/>
              </a:buClr>
              <a:buSzPts val="2590"/>
              <a:buChar char="–"/>
            </a:pPr>
            <a:r>
              <a:rPr lang="en-US" sz="2590"/>
              <a:t>Ease of assembly, works “out of the box”</a:t>
            </a:r>
            <a:endParaRPr/>
          </a:p>
          <a:p>
            <a:pPr indent="-342900" lvl="0" marL="342900" rtl="0" algn="l">
              <a:lnSpc>
                <a:spcPct val="80000"/>
              </a:lnSpc>
              <a:spcBef>
                <a:spcPts val="592"/>
              </a:spcBef>
              <a:spcAft>
                <a:spcPts val="0"/>
              </a:spcAft>
              <a:buClr>
                <a:schemeClr val="dk1"/>
              </a:buClr>
              <a:buSzPts val="2960"/>
              <a:buChar char="•"/>
            </a:pPr>
            <a:r>
              <a:rPr lang="en-US" sz="2960"/>
              <a:t>Scaling</a:t>
            </a:r>
            <a:endParaRPr/>
          </a:p>
          <a:p>
            <a:pPr indent="-285750" lvl="1" marL="742950" rtl="0" algn="l">
              <a:lnSpc>
                <a:spcPct val="80000"/>
              </a:lnSpc>
              <a:spcBef>
                <a:spcPts val="518"/>
              </a:spcBef>
              <a:spcAft>
                <a:spcPts val="0"/>
              </a:spcAft>
              <a:buClr>
                <a:schemeClr val="dk1"/>
              </a:buClr>
              <a:buSzPts val="2590"/>
              <a:buChar char="–"/>
            </a:pPr>
            <a:r>
              <a:rPr lang="en-US" sz="2590"/>
              <a:t>On demand provisioning, co-locate data and compute</a:t>
            </a:r>
            <a:endParaRPr/>
          </a:p>
          <a:p>
            <a:pPr indent="-342900" lvl="0" marL="342900" rtl="0" algn="l">
              <a:lnSpc>
                <a:spcPct val="80000"/>
              </a:lnSpc>
              <a:spcBef>
                <a:spcPts val="592"/>
              </a:spcBef>
              <a:spcAft>
                <a:spcPts val="0"/>
              </a:spcAft>
              <a:buClr>
                <a:schemeClr val="dk1"/>
              </a:buClr>
              <a:buSzPts val="2960"/>
              <a:buChar char="•"/>
            </a:pPr>
            <a:r>
              <a:rPr lang="en-US" sz="2960"/>
              <a:t>Reliability</a:t>
            </a:r>
            <a:endParaRPr/>
          </a:p>
          <a:p>
            <a:pPr indent="-285750" lvl="1" marL="742950" rtl="0" algn="l">
              <a:lnSpc>
                <a:spcPct val="80000"/>
              </a:lnSpc>
              <a:spcBef>
                <a:spcPts val="518"/>
              </a:spcBef>
              <a:spcAft>
                <a:spcPts val="0"/>
              </a:spcAft>
              <a:buClr>
                <a:schemeClr val="dk1"/>
              </a:buClr>
              <a:buSzPts val="2590"/>
              <a:buChar char="–"/>
            </a:pPr>
            <a:r>
              <a:rPr lang="en-US" sz="2590"/>
              <a:t>Massive, redundant, shared resources</a:t>
            </a:r>
            <a:endParaRPr/>
          </a:p>
          <a:p>
            <a:pPr indent="-342900" lvl="0" marL="342900" rtl="0" algn="l">
              <a:lnSpc>
                <a:spcPct val="80000"/>
              </a:lnSpc>
              <a:spcBef>
                <a:spcPts val="592"/>
              </a:spcBef>
              <a:spcAft>
                <a:spcPts val="0"/>
              </a:spcAft>
              <a:buClr>
                <a:schemeClr val="dk1"/>
              </a:buClr>
              <a:buSzPts val="2960"/>
              <a:buChar char="•"/>
            </a:pPr>
            <a:r>
              <a:rPr lang="en-US" sz="2960"/>
              <a:t>Sustainability</a:t>
            </a:r>
            <a:endParaRPr/>
          </a:p>
          <a:p>
            <a:pPr indent="-285750" lvl="1" marL="742950" rtl="0" algn="l">
              <a:lnSpc>
                <a:spcPct val="80000"/>
              </a:lnSpc>
              <a:spcBef>
                <a:spcPts val="518"/>
              </a:spcBef>
              <a:spcAft>
                <a:spcPts val="0"/>
              </a:spcAft>
              <a:buClr>
                <a:schemeClr val="dk1"/>
              </a:buClr>
              <a:buSzPts val="2590"/>
              <a:buChar char="–"/>
            </a:pPr>
            <a:r>
              <a:rPr lang="en-US" sz="2590"/>
              <a:t>Hardware not owned</a:t>
            </a:r>
            <a:endParaRPr/>
          </a:p>
          <a:p>
            <a:pPr indent="-154940" lvl="0" marL="342900" rtl="0" algn="l">
              <a:lnSpc>
                <a:spcPct val="80000"/>
              </a:lnSpc>
              <a:spcBef>
                <a:spcPts val="592"/>
              </a:spcBef>
              <a:spcAft>
                <a:spcPts val="0"/>
              </a:spcAft>
              <a:buClr>
                <a:schemeClr val="dk1"/>
              </a:buClr>
              <a:buSzPts val="2960"/>
              <a:buNone/>
            </a:pPr>
            <a:r>
              <a:t/>
            </a:r>
            <a:endParaRPr sz="2960"/>
          </a:p>
          <a:p>
            <a:pPr indent="-154940" lvl="0" marL="342900" rtl="0" algn="l">
              <a:lnSpc>
                <a:spcPct val="80000"/>
              </a:lnSpc>
              <a:spcBef>
                <a:spcPts val="592"/>
              </a:spcBef>
              <a:spcAft>
                <a:spcPts val="0"/>
              </a:spcAft>
              <a:buClr>
                <a:schemeClr val="dk1"/>
              </a:buClr>
              <a:buSzPts val="2960"/>
              <a:buNone/>
            </a:pPr>
            <a:r>
              <a:t/>
            </a:r>
            <a:endParaRPr sz="296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4"/>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Types of Cloud Computing</a:t>
            </a:r>
            <a:endParaRPr/>
          </a:p>
        </p:txBody>
      </p:sp>
      <p:sp>
        <p:nvSpPr>
          <p:cNvPr id="442" name="Google Shape;442;p24"/>
          <p:cNvSpPr txBox="1"/>
          <p:nvPr>
            <p:ph idx="1" type="body"/>
          </p:nvPr>
        </p:nvSpPr>
        <p:spPr>
          <a:xfrm>
            <a:off x="76200" y="1066801"/>
            <a:ext cx="8458200" cy="3809999"/>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Char char="•"/>
            </a:pPr>
            <a:r>
              <a:rPr b="1" lang="en-US" sz="2400"/>
              <a:t>Public Cloud</a:t>
            </a:r>
            <a:r>
              <a:rPr lang="en-US" sz="2400"/>
              <a:t>: Computing infrastructure is hosted at the vendor’s premises. </a:t>
            </a:r>
            <a:endParaRPr/>
          </a:p>
          <a:p>
            <a:pPr indent="-342900" lvl="0" marL="342900" rtl="0" algn="l">
              <a:lnSpc>
                <a:spcPct val="100000"/>
              </a:lnSpc>
              <a:spcBef>
                <a:spcPts val="480"/>
              </a:spcBef>
              <a:spcAft>
                <a:spcPts val="0"/>
              </a:spcAft>
              <a:buClr>
                <a:schemeClr val="dk1"/>
              </a:buClr>
              <a:buSzPts val="2400"/>
              <a:buChar char="•"/>
            </a:pPr>
            <a:r>
              <a:rPr b="1" lang="en-US" sz="2400"/>
              <a:t>Private Cloud</a:t>
            </a:r>
            <a:r>
              <a:rPr lang="en-US" sz="2400"/>
              <a:t>: Computing architecture is dedicated to the customer and is not shared with other organisations. </a:t>
            </a:r>
            <a:endParaRPr/>
          </a:p>
          <a:p>
            <a:pPr indent="-342900" lvl="0" marL="342900" rtl="0" algn="l">
              <a:lnSpc>
                <a:spcPct val="100000"/>
              </a:lnSpc>
              <a:spcBef>
                <a:spcPts val="480"/>
              </a:spcBef>
              <a:spcAft>
                <a:spcPts val="0"/>
              </a:spcAft>
              <a:buClr>
                <a:schemeClr val="dk1"/>
              </a:buClr>
              <a:buSzPts val="2400"/>
              <a:buChar char="•"/>
            </a:pPr>
            <a:r>
              <a:rPr b="1" lang="en-US" sz="2400"/>
              <a:t>Hybrid Cloud</a:t>
            </a:r>
            <a:r>
              <a:rPr lang="en-US" sz="2400"/>
              <a:t>: Organisations host some critical, secure applications in private clouds. The not so critical applications are hosted in the public cloud</a:t>
            </a:r>
            <a:endParaRPr/>
          </a:p>
          <a:p>
            <a:pPr indent="-285750" lvl="1" marL="742950" rtl="0" algn="l">
              <a:lnSpc>
                <a:spcPct val="100000"/>
              </a:lnSpc>
              <a:spcBef>
                <a:spcPts val="400"/>
              </a:spcBef>
              <a:spcAft>
                <a:spcPts val="0"/>
              </a:spcAft>
              <a:buClr>
                <a:schemeClr val="dk1"/>
              </a:buClr>
              <a:buSzPts val="2000"/>
              <a:buChar char="–"/>
            </a:pPr>
            <a:r>
              <a:rPr b="1" lang="en-US" sz="2000"/>
              <a:t>Cloud bursting</a:t>
            </a:r>
            <a:r>
              <a:rPr lang="en-US" sz="2000"/>
              <a:t>: the organisation uses its own infrastructure for normal usage, but cloud is used for peak loads.</a:t>
            </a:r>
            <a:endParaRPr/>
          </a:p>
          <a:p>
            <a:pPr indent="-342900" lvl="0" marL="342900" rtl="0" algn="l">
              <a:lnSpc>
                <a:spcPct val="100000"/>
              </a:lnSpc>
              <a:spcBef>
                <a:spcPts val="480"/>
              </a:spcBef>
              <a:spcAft>
                <a:spcPts val="0"/>
              </a:spcAft>
              <a:buClr>
                <a:schemeClr val="dk1"/>
              </a:buClr>
              <a:buSzPts val="2400"/>
              <a:buChar char="•"/>
            </a:pPr>
            <a:r>
              <a:rPr b="1" lang="en-US" sz="2400"/>
              <a:t>Community Cloud</a:t>
            </a:r>
            <a:endParaRPr sz="2400"/>
          </a:p>
        </p:txBody>
      </p:sp>
      <p:pic>
        <p:nvPicPr>
          <p:cNvPr id="443" name="Google Shape;443;p24"/>
          <p:cNvPicPr preferRelativeResize="0"/>
          <p:nvPr/>
        </p:nvPicPr>
        <p:blipFill rotWithShape="1">
          <a:blip r:embed="rId3">
            <a:alphaModFix/>
          </a:blip>
          <a:srcRect b="0" l="0" r="0" t="0"/>
          <a:stretch/>
        </p:blipFill>
        <p:spPr>
          <a:xfrm>
            <a:off x="4800600" y="4415719"/>
            <a:ext cx="4267200" cy="251848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Calibri"/>
              <a:buNone/>
            </a:pPr>
            <a:r>
              <a:rPr lang="en-US" sz="3959"/>
              <a:t>Classification of Cloud Computing based on Service Provided</a:t>
            </a:r>
            <a:endParaRPr sz="3959"/>
          </a:p>
        </p:txBody>
      </p:sp>
      <p:sp>
        <p:nvSpPr>
          <p:cNvPr id="449" name="Google Shape;449;p25"/>
          <p:cNvSpPr txBox="1"/>
          <p:nvPr>
            <p:ph idx="1" type="body"/>
          </p:nvPr>
        </p:nvSpPr>
        <p:spPr>
          <a:xfrm>
            <a:off x="228600" y="1600200"/>
            <a:ext cx="8458200" cy="5029200"/>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660"/>
              <a:buChar char="•"/>
            </a:pPr>
            <a:r>
              <a:rPr lang="en-US" sz="2660"/>
              <a:t>Infrastructure as a service (IaaS) </a:t>
            </a:r>
            <a:endParaRPr/>
          </a:p>
          <a:p>
            <a:pPr indent="-285750" lvl="1" marL="742950" rtl="0" algn="l">
              <a:lnSpc>
                <a:spcPct val="80000"/>
              </a:lnSpc>
              <a:spcBef>
                <a:spcPts val="392"/>
              </a:spcBef>
              <a:spcAft>
                <a:spcPts val="0"/>
              </a:spcAft>
              <a:buClr>
                <a:schemeClr val="dk1"/>
              </a:buClr>
              <a:buSzPts val="1960"/>
              <a:buChar char="–"/>
            </a:pPr>
            <a:r>
              <a:rPr lang="en-US" sz="1960"/>
              <a:t>Offering hardware related services using the principles of cloud computing. These could include storage services (database or disk storage) or virtual servers. </a:t>
            </a:r>
            <a:endParaRPr sz="1960"/>
          </a:p>
          <a:p>
            <a:pPr indent="-285750" lvl="1" marL="742950" rtl="0" algn="l">
              <a:lnSpc>
                <a:spcPct val="80000"/>
              </a:lnSpc>
              <a:spcBef>
                <a:spcPts val="392"/>
              </a:spcBef>
              <a:spcAft>
                <a:spcPts val="0"/>
              </a:spcAft>
              <a:buClr>
                <a:schemeClr val="dk1"/>
              </a:buClr>
              <a:buSzPts val="1960"/>
              <a:buChar char="–"/>
            </a:pPr>
            <a:r>
              <a:rPr lang="en-US" sz="1960" u="sng">
                <a:solidFill>
                  <a:schemeClr val="hlink"/>
                </a:solidFill>
                <a:hlinkClick r:id="rId3"/>
              </a:rPr>
              <a:t>Amazon EC2</a:t>
            </a:r>
            <a:r>
              <a:rPr lang="en-US" sz="1960"/>
              <a:t>, </a:t>
            </a:r>
            <a:r>
              <a:rPr lang="en-US" sz="1960" u="sng">
                <a:solidFill>
                  <a:schemeClr val="hlink"/>
                </a:solidFill>
                <a:hlinkClick r:id="rId4"/>
              </a:rPr>
              <a:t>Amazon S3</a:t>
            </a:r>
            <a:r>
              <a:rPr lang="en-US" sz="1960"/>
              <a:t>, </a:t>
            </a:r>
            <a:r>
              <a:rPr lang="en-US" sz="1960" u="sng">
                <a:solidFill>
                  <a:schemeClr val="hlink"/>
                </a:solidFill>
                <a:hlinkClick r:id="rId5"/>
              </a:rPr>
              <a:t>Rackspace Cloud Servers</a:t>
            </a:r>
            <a:r>
              <a:rPr lang="en-US" sz="1960"/>
              <a:t> and </a:t>
            </a:r>
            <a:r>
              <a:rPr lang="en-US" sz="1960" u="sng">
                <a:solidFill>
                  <a:schemeClr val="hlink"/>
                </a:solidFill>
                <a:hlinkClick r:id="rId6"/>
              </a:rPr>
              <a:t>Flexiscale</a:t>
            </a:r>
            <a:r>
              <a:rPr lang="en-US" sz="1960"/>
              <a:t>.</a:t>
            </a:r>
            <a:endParaRPr sz="1960"/>
          </a:p>
          <a:p>
            <a:pPr indent="-342900" lvl="0" marL="342900" rtl="0" algn="l">
              <a:lnSpc>
                <a:spcPct val="80000"/>
              </a:lnSpc>
              <a:spcBef>
                <a:spcPts val="532"/>
              </a:spcBef>
              <a:spcAft>
                <a:spcPts val="0"/>
              </a:spcAft>
              <a:buClr>
                <a:schemeClr val="dk1"/>
              </a:buClr>
              <a:buSzPts val="2660"/>
              <a:buChar char="•"/>
            </a:pPr>
            <a:r>
              <a:rPr lang="en-US" sz="2660"/>
              <a:t>Platform as a Service (PaaS) </a:t>
            </a:r>
            <a:endParaRPr/>
          </a:p>
          <a:p>
            <a:pPr indent="-285750" lvl="1" marL="742950" rtl="0" algn="l">
              <a:lnSpc>
                <a:spcPct val="80000"/>
              </a:lnSpc>
              <a:spcBef>
                <a:spcPts val="448"/>
              </a:spcBef>
              <a:spcAft>
                <a:spcPts val="0"/>
              </a:spcAft>
              <a:buClr>
                <a:schemeClr val="dk1"/>
              </a:buClr>
              <a:buSzPts val="2240"/>
              <a:buChar char="–"/>
            </a:pPr>
            <a:r>
              <a:rPr lang="en-US" sz="2240"/>
              <a:t>Offering a development platform on the cloud. </a:t>
            </a:r>
            <a:endParaRPr/>
          </a:p>
          <a:p>
            <a:pPr indent="-285750" lvl="1" marL="742950" rtl="0" algn="l">
              <a:lnSpc>
                <a:spcPct val="80000"/>
              </a:lnSpc>
              <a:spcBef>
                <a:spcPts val="448"/>
              </a:spcBef>
              <a:spcAft>
                <a:spcPts val="0"/>
              </a:spcAft>
              <a:buClr>
                <a:schemeClr val="dk1"/>
              </a:buClr>
              <a:buSzPts val="2240"/>
              <a:buChar char="–"/>
            </a:pPr>
            <a:r>
              <a:rPr lang="en-US" sz="2240" u="sng">
                <a:solidFill>
                  <a:schemeClr val="hlink"/>
                </a:solidFill>
                <a:hlinkClick r:id="rId7"/>
              </a:rPr>
              <a:t>Google’s Application Engine</a:t>
            </a:r>
            <a:r>
              <a:rPr lang="en-US" sz="2240"/>
              <a:t>, </a:t>
            </a:r>
            <a:r>
              <a:rPr lang="en-US" sz="2240" u="sng">
                <a:solidFill>
                  <a:schemeClr val="hlink"/>
                </a:solidFill>
                <a:hlinkClick r:id="rId8"/>
              </a:rPr>
              <a:t>Microsofts Azure</a:t>
            </a:r>
            <a:r>
              <a:rPr lang="en-US" sz="2240"/>
              <a:t>, Salesforce.com’s </a:t>
            </a:r>
            <a:r>
              <a:rPr lang="en-US" sz="2240" u="sng">
                <a:solidFill>
                  <a:schemeClr val="hlink"/>
                </a:solidFill>
                <a:hlinkClick r:id="rId9"/>
              </a:rPr>
              <a:t>force.com</a:t>
            </a:r>
            <a:r>
              <a:rPr lang="en-US" sz="2240"/>
              <a:t> .</a:t>
            </a:r>
            <a:endParaRPr sz="1960"/>
          </a:p>
          <a:p>
            <a:pPr indent="-342900" lvl="0" marL="342900" rtl="0" algn="l">
              <a:lnSpc>
                <a:spcPct val="80000"/>
              </a:lnSpc>
              <a:spcBef>
                <a:spcPts val="532"/>
              </a:spcBef>
              <a:spcAft>
                <a:spcPts val="0"/>
              </a:spcAft>
              <a:buClr>
                <a:schemeClr val="dk1"/>
              </a:buClr>
              <a:buSzPts val="2660"/>
              <a:buChar char="•"/>
            </a:pPr>
            <a:r>
              <a:rPr lang="en-US" sz="2660"/>
              <a:t>Software as a service (SaaS</a:t>
            </a:r>
            <a:r>
              <a:rPr lang="en-US" sz="2240"/>
              <a:t>) </a:t>
            </a:r>
            <a:endParaRPr/>
          </a:p>
          <a:p>
            <a:pPr indent="-285750" lvl="1" marL="742950" rtl="0" algn="l">
              <a:lnSpc>
                <a:spcPct val="80000"/>
              </a:lnSpc>
              <a:spcBef>
                <a:spcPts val="448"/>
              </a:spcBef>
              <a:spcAft>
                <a:spcPts val="0"/>
              </a:spcAft>
              <a:buClr>
                <a:schemeClr val="dk1"/>
              </a:buClr>
              <a:buSzPts val="2240"/>
              <a:buChar char="–"/>
            </a:pPr>
            <a:r>
              <a:rPr lang="en-US" sz="2240"/>
              <a:t>Including a complete software offering on the cloud. Users can access a software application hosted by the cloud vendor on pay-per-use basis. This is a well-established sector. </a:t>
            </a:r>
            <a:endParaRPr/>
          </a:p>
          <a:p>
            <a:pPr indent="-285750" lvl="1" marL="742950" rtl="0" algn="l">
              <a:lnSpc>
                <a:spcPct val="80000"/>
              </a:lnSpc>
              <a:spcBef>
                <a:spcPts val="448"/>
              </a:spcBef>
              <a:spcAft>
                <a:spcPts val="0"/>
              </a:spcAft>
              <a:buClr>
                <a:schemeClr val="dk1"/>
              </a:buClr>
              <a:buSzPts val="2240"/>
              <a:buChar char="–"/>
            </a:pPr>
            <a:r>
              <a:rPr lang="en-US" sz="2240"/>
              <a:t>Salesforce.coms’ offering in the online Customer Relationship Management (CRM) space, Googles </a:t>
            </a:r>
            <a:r>
              <a:rPr lang="en-US" sz="2240" u="sng">
                <a:solidFill>
                  <a:schemeClr val="hlink"/>
                </a:solidFill>
                <a:hlinkClick r:id="rId10"/>
              </a:rPr>
              <a:t>gmail</a:t>
            </a:r>
            <a:r>
              <a:rPr lang="en-US" sz="2240"/>
              <a:t> and Microsofts </a:t>
            </a:r>
            <a:r>
              <a:rPr lang="en-US" sz="2240" u="sng">
                <a:solidFill>
                  <a:schemeClr val="hlink"/>
                </a:solidFill>
                <a:hlinkClick r:id="rId11"/>
              </a:rPr>
              <a:t>hotmail</a:t>
            </a:r>
            <a:r>
              <a:rPr lang="en-US" sz="2240"/>
              <a:t>, </a:t>
            </a:r>
            <a:r>
              <a:rPr lang="en-US" sz="2240" u="sng">
                <a:solidFill>
                  <a:schemeClr val="hlink"/>
                </a:solidFill>
                <a:hlinkClick r:id="rId12"/>
              </a:rPr>
              <a:t>Google docs</a:t>
            </a:r>
            <a:r>
              <a:rPr lang="en-US" sz="2240"/>
              <a:t>. </a:t>
            </a:r>
            <a:endParaRPr sz="224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Infrastructure as a Service (IaaS)</a:t>
            </a:r>
            <a:endParaRPr/>
          </a:p>
        </p:txBody>
      </p:sp>
      <p:pic>
        <p:nvPicPr>
          <p:cNvPr id="455" name="Google Shape;455;p26"/>
          <p:cNvPicPr preferRelativeResize="0"/>
          <p:nvPr>
            <p:ph idx="1" type="body"/>
          </p:nvPr>
        </p:nvPicPr>
        <p:blipFill rotWithShape="1">
          <a:blip r:embed="rId3">
            <a:alphaModFix/>
          </a:blip>
          <a:srcRect b="0" l="0" r="0" t="0"/>
          <a:stretch/>
        </p:blipFill>
        <p:spPr>
          <a:xfrm>
            <a:off x="1524000" y="1600200"/>
            <a:ext cx="6355619" cy="4953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More Refined Categorization</a:t>
            </a:r>
            <a:endParaRPr/>
          </a:p>
        </p:txBody>
      </p:sp>
      <p:sp>
        <p:nvSpPr>
          <p:cNvPr id="461" name="Google Shape;461;p27"/>
          <p:cNvSpPr txBox="1"/>
          <p:nvPr>
            <p:ph idx="1" type="body"/>
          </p:nvPr>
        </p:nvSpPr>
        <p:spPr>
          <a:xfrm>
            <a:off x="76200" y="1524000"/>
            <a:ext cx="8229600" cy="4648200"/>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480"/>
              <a:buChar char="•"/>
            </a:pPr>
            <a:r>
              <a:rPr lang="en-US" sz="2480"/>
              <a:t>Storage-as-a-service</a:t>
            </a:r>
            <a:endParaRPr/>
          </a:p>
          <a:p>
            <a:pPr indent="-342900" lvl="0" marL="342900" rtl="0" algn="l">
              <a:lnSpc>
                <a:spcPct val="80000"/>
              </a:lnSpc>
              <a:spcBef>
                <a:spcPts val="496"/>
              </a:spcBef>
              <a:spcAft>
                <a:spcPts val="0"/>
              </a:spcAft>
              <a:buClr>
                <a:schemeClr val="dk1"/>
              </a:buClr>
              <a:buSzPts val="2480"/>
              <a:buChar char="•"/>
            </a:pPr>
            <a:r>
              <a:rPr lang="en-US" sz="2480"/>
              <a:t>Database-as-a-service</a:t>
            </a:r>
            <a:endParaRPr/>
          </a:p>
          <a:p>
            <a:pPr indent="-342900" lvl="0" marL="342900" rtl="0" algn="l">
              <a:lnSpc>
                <a:spcPct val="80000"/>
              </a:lnSpc>
              <a:spcBef>
                <a:spcPts val="496"/>
              </a:spcBef>
              <a:spcAft>
                <a:spcPts val="0"/>
              </a:spcAft>
              <a:buClr>
                <a:schemeClr val="dk1"/>
              </a:buClr>
              <a:buSzPts val="2480"/>
              <a:buChar char="•"/>
            </a:pPr>
            <a:r>
              <a:rPr lang="en-US" sz="2480"/>
              <a:t>Information-as-a-service</a:t>
            </a:r>
            <a:endParaRPr/>
          </a:p>
          <a:p>
            <a:pPr indent="-342900" lvl="0" marL="342900" rtl="0" algn="l">
              <a:lnSpc>
                <a:spcPct val="80000"/>
              </a:lnSpc>
              <a:spcBef>
                <a:spcPts val="496"/>
              </a:spcBef>
              <a:spcAft>
                <a:spcPts val="0"/>
              </a:spcAft>
              <a:buClr>
                <a:schemeClr val="dk1"/>
              </a:buClr>
              <a:buSzPts val="2480"/>
              <a:buChar char="•"/>
            </a:pPr>
            <a:r>
              <a:rPr lang="en-US" sz="2480"/>
              <a:t>Process-as-a-service</a:t>
            </a:r>
            <a:endParaRPr/>
          </a:p>
          <a:p>
            <a:pPr indent="-342900" lvl="0" marL="342900" rtl="0" algn="l">
              <a:lnSpc>
                <a:spcPct val="80000"/>
              </a:lnSpc>
              <a:spcBef>
                <a:spcPts val="496"/>
              </a:spcBef>
              <a:spcAft>
                <a:spcPts val="0"/>
              </a:spcAft>
              <a:buClr>
                <a:schemeClr val="dk1"/>
              </a:buClr>
              <a:buSzPts val="2480"/>
              <a:buChar char="•"/>
            </a:pPr>
            <a:r>
              <a:rPr lang="en-US" sz="2480"/>
              <a:t>Application-as-a-service</a:t>
            </a:r>
            <a:endParaRPr/>
          </a:p>
          <a:p>
            <a:pPr indent="-342900" lvl="0" marL="342900" rtl="0" algn="l">
              <a:lnSpc>
                <a:spcPct val="80000"/>
              </a:lnSpc>
              <a:spcBef>
                <a:spcPts val="496"/>
              </a:spcBef>
              <a:spcAft>
                <a:spcPts val="0"/>
              </a:spcAft>
              <a:buClr>
                <a:schemeClr val="dk1"/>
              </a:buClr>
              <a:buSzPts val="2480"/>
              <a:buChar char="•"/>
            </a:pPr>
            <a:r>
              <a:rPr lang="en-US" sz="2480"/>
              <a:t>Platform-as-a-service</a:t>
            </a:r>
            <a:endParaRPr/>
          </a:p>
          <a:p>
            <a:pPr indent="-342900" lvl="0" marL="342900" rtl="0" algn="l">
              <a:lnSpc>
                <a:spcPct val="80000"/>
              </a:lnSpc>
              <a:spcBef>
                <a:spcPts val="496"/>
              </a:spcBef>
              <a:spcAft>
                <a:spcPts val="0"/>
              </a:spcAft>
              <a:buClr>
                <a:schemeClr val="dk1"/>
              </a:buClr>
              <a:buSzPts val="2480"/>
              <a:buChar char="•"/>
            </a:pPr>
            <a:r>
              <a:rPr lang="en-US" sz="2480"/>
              <a:t>Integration-as-a-service</a:t>
            </a:r>
            <a:endParaRPr/>
          </a:p>
          <a:p>
            <a:pPr indent="-342900" lvl="0" marL="342900" rtl="0" algn="l">
              <a:lnSpc>
                <a:spcPct val="80000"/>
              </a:lnSpc>
              <a:spcBef>
                <a:spcPts val="496"/>
              </a:spcBef>
              <a:spcAft>
                <a:spcPts val="0"/>
              </a:spcAft>
              <a:buClr>
                <a:schemeClr val="dk1"/>
              </a:buClr>
              <a:buSzPts val="2480"/>
              <a:buChar char="•"/>
            </a:pPr>
            <a:r>
              <a:rPr lang="en-US" sz="2480"/>
              <a:t>Security-as-a-service</a:t>
            </a:r>
            <a:endParaRPr/>
          </a:p>
          <a:p>
            <a:pPr indent="-342900" lvl="0" marL="342900" rtl="0" algn="l">
              <a:lnSpc>
                <a:spcPct val="80000"/>
              </a:lnSpc>
              <a:spcBef>
                <a:spcPts val="496"/>
              </a:spcBef>
              <a:spcAft>
                <a:spcPts val="0"/>
              </a:spcAft>
              <a:buClr>
                <a:schemeClr val="dk1"/>
              </a:buClr>
              <a:buSzPts val="2480"/>
              <a:buChar char="•"/>
            </a:pPr>
            <a:r>
              <a:rPr lang="en-US" sz="2480"/>
              <a:t>Management/</a:t>
            </a:r>
            <a:endParaRPr/>
          </a:p>
          <a:p>
            <a:pPr indent="0" lvl="0" marL="0" rtl="0" algn="l">
              <a:lnSpc>
                <a:spcPct val="80000"/>
              </a:lnSpc>
              <a:spcBef>
                <a:spcPts val="496"/>
              </a:spcBef>
              <a:spcAft>
                <a:spcPts val="0"/>
              </a:spcAft>
              <a:buClr>
                <a:schemeClr val="dk1"/>
              </a:buClr>
              <a:buSzPts val="2480"/>
              <a:buNone/>
            </a:pPr>
            <a:r>
              <a:rPr lang="en-US" sz="2480"/>
              <a:t>     Governance-as-a-service</a:t>
            </a:r>
            <a:endParaRPr/>
          </a:p>
          <a:p>
            <a:pPr indent="-342900" lvl="0" marL="342900" rtl="0" algn="l">
              <a:lnSpc>
                <a:spcPct val="80000"/>
              </a:lnSpc>
              <a:spcBef>
                <a:spcPts val="496"/>
              </a:spcBef>
              <a:spcAft>
                <a:spcPts val="0"/>
              </a:spcAft>
              <a:buClr>
                <a:schemeClr val="dk1"/>
              </a:buClr>
              <a:buSzPts val="2480"/>
              <a:buChar char="•"/>
            </a:pPr>
            <a:r>
              <a:rPr lang="en-US" sz="2480"/>
              <a:t>Testing-as-a-service</a:t>
            </a:r>
            <a:endParaRPr/>
          </a:p>
          <a:p>
            <a:pPr indent="-342900" lvl="0" marL="342900" rtl="0" algn="l">
              <a:lnSpc>
                <a:spcPct val="80000"/>
              </a:lnSpc>
              <a:spcBef>
                <a:spcPts val="496"/>
              </a:spcBef>
              <a:spcAft>
                <a:spcPts val="0"/>
              </a:spcAft>
              <a:buClr>
                <a:schemeClr val="dk1"/>
              </a:buClr>
              <a:buSzPts val="2480"/>
              <a:buChar char="•"/>
            </a:pPr>
            <a:r>
              <a:rPr lang="en-US" sz="2480"/>
              <a:t>Infrastructure-as-a-service</a:t>
            </a:r>
            <a:endParaRPr sz="2480"/>
          </a:p>
        </p:txBody>
      </p:sp>
      <p:pic>
        <p:nvPicPr>
          <p:cNvPr id="462" name="Google Shape;462;p27"/>
          <p:cNvPicPr preferRelativeResize="0"/>
          <p:nvPr/>
        </p:nvPicPr>
        <p:blipFill rotWithShape="1">
          <a:blip r:embed="rId3">
            <a:alphaModFix/>
          </a:blip>
          <a:srcRect b="0" l="0" r="0" t="0"/>
          <a:stretch/>
        </p:blipFill>
        <p:spPr>
          <a:xfrm>
            <a:off x="4016829" y="1295400"/>
            <a:ext cx="5105400" cy="4567238"/>
          </a:xfrm>
          <a:prstGeom prst="rect">
            <a:avLst/>
          </a:prstGeom>
          <a:noFill/>
          <a:ln>
            <a:noFill/>
          </a:ln>
        </p:spPr>
      </p:pic>
      <p:sp>
        <p:nvSpPr>
          <p:cNvPr id="463" name="Google Shape;463;p27"/>
          <p:cNvSpPr txBox="1"/>
          <p:nvPr/>
        </p:nvSpPr>
        <p:spPr>
          <a:xfrm>
            <a:off x="4876800" y="6031468"/>
            <a:ext cx="381816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InfoWorld Cloud Computing Deep Dive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Calibri"/>
              <a:buNone/>
            </a:pPr>
            <a:r>
              <a:rPr lang="en-US" sz="3959"/>
              <a:t>Key Ingredients in Cloud Computing</a:t>
            </a:r>
            <a:endParaRPr sz="3959"/>
          </a:p>
        </p:txBody>
      </p:sp>
      <p:sp>
        <p:nvSpPr>
          <p:cNvPr id="469" name="Google Shape;469;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Service-Oriented Architecture  (SOA)</a:t>
            </a:r>
            <a:endParaRPr/>
          </a:p>
          <a:p>
            <a:pPr indent="-342900" lvl="0" marL="342900" rtl="0" algn="l">
              <a:lnSpc>
                <a:spcPct val="100000"/>
              </a:lnSpc>
              <a:spcBef>
                <a:spcPts val="640"/>
              </a:spcBef>
              <a:spcAft>
                <a:spcPts val="0"/>
              </a:spcAft>
              <a:buClr>
                <a:schemeClr val="dk1"/>
              </a:buClr>
              <a:buSzPts val="3200"/>
              <a:buChar char="•"/>
            </a:pPr>
            <a:r>
              <a:rPr lang="en-US"/>
              <a:t>Utility Computing (on demand)</a:t>
            </a:r>
            <a:endParaRPr/>
          </a:p>
          <a:p>
            <a:pPr indent="-342900" lvl="0" marL="342900" rtl="0" algn="l">
              <a:lnSpc>
                <a:spcPct val="100000"/>
              </a:lnSpc>
              <a:spcBef>
                <a:spcPts val="640"/>
              </a:spcBef>
              <a:spcAft>
                <a:spcPts val="0"/>
              </a:spcAft>
              <a:buClr>
                <a:schemeClr val="dk1"/>
              </a:buClr>
              <a:buSzPts val="3200"/>
              <a:buChar char="•"/>
            </a:pPr>
            <a:r>
              <a:rPr lang="en-US"/>
              <a:t>Virtualization (P2P Network)</a:t>
            </a:r>
            <a:endParaRPr/>
          </a:p>
          <a:p>
            <a:pPr indent="-342900" lvl="0" marL="342900" rtl="0" algn="l">
              <a:lnSpc>
                <a:spcPct val="100000"/>
              </a:lnSpc>
              <a:spcBef>
                <a:spcPts val="640"/>
              </a:spcBef>
              <a:spcAft>
                <a:spcPts val="0"/>
              </a:spcAft>
              <a:buClr>
                <a:schemeClr val="dk1"/>
              </a:buClr>
              <a:buSzPts val="3200"/>
              <a:buChar char="•"/>
            </a:pPr>
            <a:r>
              <a:rPr lang="en-US"/>
              <a:t>SAAS (Software As A Service)</a:t>
            </a:r>
            <a:endParaRPr/>
          </a:p>
          <a:p>
            <a:pPr indent="-342900" lvl="0" marL="342900" rtl="0" algn="l">
              <a:lnSpc>
                <a:spcPct val="100000"/>
              </a:lnSpc>
              <a:spcBef>
                <a:spcPts val="640"/>
              </a:spcBef>
              <a:spcAft>
                <a:spcPts val="0"/>
              </a:spcAft>
              <a:buClr>
                <a:schemeClr val="dk1"/>
              </a:buClr>
              <a:buSzPts val="3200"/>
              <a:buChar char="•"/>
            </a:pPr>
            <a:r>
              <a:rPr lang="en-US"/>
              <a:t>PAAS (Platform AS A Service)</a:t>
            </a:r>
            <a:endParaRPr/>
          </a:p>
          <a:p>
            <a:pPr indent="-342900" lvl="0" marL="342900" rtl="0" algn="l">
              <a:lnSpc>
                <a:spcPct val="100000"/>
              </a:lnSpc>
              <a:spcBef>
                <a:spcPts val="640"/>
              </a:spcBef>
              <a:spcAft>
                <a:spcPts val="0"/>
              </a:spcAft>
              <a:buClr>
                <a:schemeClr val="dk1"/>
              </a:buClr>
              <a:buSzPts val="3200"/>
              <a:buChar char="•"/>
            </a:pPr>
            <a:r>
              <a:rPr lang="en-US"/>
              <a:t>IAAS (Infrastructure AS A Servie)</a:t>
            </a:r>
            <a:endParaRPr/>
          </a:p>
          <a:p>
            <a:pPr indent="-342900" lvl="0" marL="342900" rtl="0" algn="l">
              <a:lnSpc>
                <a:spcPct val="100000"/>
              </a:lnSpc>
              <a:spcBef>
                <a:spcPts val="640"/>
              </a:spcBef>
              <a:spcAft>
                <a:spcPts val="0"/>
              </a:spcAft>
              <a:buClr>
                <a:schemeClr val="dk1"/>
              </a:buClr>
              <a:buSzPts val="3200"/>
              <a:buChar char="•"/>
            </a:pPr>
            <a:r>
              <a:rPr lang="en-US"/>
              <a:t>Web Services in Cloud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Enabling Technology: Virtualization</a:t>
            </a:r>
            <a:endParaRPr/>
          </a:p>
        </p:txBody>
      </p:sp>
      <p:grpSp>
        <p:nvGrpSpPr>
          <p:cNvPr id="475" name="Google Shape;475;p29"/>
          <p:cNvGrpSpPr/>
          <p:nvPr/>
        </p:nvGrpSpPr>
        <p:grpSpPr>
          <a:xfrm>
            <a:off x="990600" y="2819400"/>
            <a:ext cx="2895600" cy="2000250"/>
            <a:chOff x="2057400" y="2209800"/>
            <a:chExt cx="2895600" cy="2000310"/>
          </a:xfrm>
        </p:grpSpPr>
        <p:sp>
          <p:nvSpPr>
            <p:cNvPr id="476" name="Google Shape;476;p29"/>
            <p:cNvSpPr/>
            <p:nvPr/>
          </p:nvSpPr>
          <p:spPr>
            <a:xfrm>
              <a:off x="2057400" y="3276600"/>
              <a:ext cx="2895600" cy="457200"/>
            </a:xfrm>
            <a:prstGeom prst="roundRect">
              <a:avLst>
                <a:gd fmla="val 16667" name="adj"/>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Hardware</a:t>
              </a:r>
              <a:endParaRPr b="0" i="0" sz="1400" u="none" cap="none" strike="noStrike">
                <a:solidFill>
                  <a:srgbClr val="000000"/>
                </a:solidFill>
                <a:latin typeface="Arial"/>
                <a:ea typeface="Arial"/>
                <a:cs typeface="Arial"/>
                <a:sym typeface="Arial"/>
              </a:endParaRPr>
            </a:p>
          </p:txBody>
        </p:sp>
        <p:sp>
          <p:nvSpPr>
            <p:cNvPr id="477" name="Google Shape;477;p29"/>
            <p:cNvSpPr/>
            <p:nvPr/>
          </p:nvSpPr>
          <p:spPr>
            <a:xfrm>
              <a:off x="2057400" y="2743200"/>
              <a:ext cx="2895600" cy="457200"/>
            </a:xfrm>
            <a:prstGeom prst="roundRect">
              <a:avLst>
                <a:gd fmla="val 16667" name="adj"/>
              </a:avLst>
            </a:prstGeom>
            <a:solidFill>
              <a:schemeClr val="accent3"/>
            </a:solidFill>
            <a:ln cap="flat" cmpd="sng" w="25400">
              <a:solidFill>
                <a:srgbClr val="7188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Operating System</a:t>
              </a:r>
              <a:endParaRPr b="0" i="0" sz="1400" u="none" cap="none" strike="noStrike">
                <a:solidFill>
                  <a:srgbClr val="000000"/>
                </a:solidFill>
                <a:latin typeface="Arial"/>
                <a:ea typeface="Arial"/>
                <a:cs typeface="Arial"/>
                <a:sym typeface="Arial"/>
              </a:endParaRPr>
            </a:p>
          </p:txBody>
        </p:sp>
        <p:sp>
          <p:nvSpPr>
            <p:cNvPr id="478" name="Google Shape;478;p29"/>
            <p:cNvSpPr/>
            <p:nvPr/>
          </p:nvSpPr>
          <p:spPr>
            <a:xfrm>
              <a:off x="2057400" y="2209800"/>
              <a:ext cx="914400" cy="45720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App</a:t>
              </a:r>
              <a:endParaRPr b="0" i="0" sz="1400" u="none" cap="none" strike="noStrike">
                <a:solidFill>
                  <a:srgbClr val="000000"/>
                </a:solidFill>
                <a:latin typeface="Arial"/>
                <a:ea typeface="Arial"/>
                <a:cs typeface="Arial"/>
                <a:sym typeface="Arial"/>
              </a:endParaRPr>
            </a:p>
          </p:txBody>
        </p:sp>
        <p:sp>
          <p:nvSpPr>
            <p:cNvPr id="479" name="Google Shape;479;p29"/>
            <p:cNvSpPr/>
            <p:nvPr/>
          </p:nvSpPr>
          <p:spPr>
            <a:xfrm>
              <a:off x="3048000" y="2209800"/>
              <a:ext cx="914400" cy="45720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App</a:t>
              </a:r>
              <a:endParaRPr b="0" i="0" sz="1400" u="none" cap="none" strike="noStrike">
                <a:solidFill>
                  <a:srgbClr val="000000"/>
                </a:solidFill>
                <a:latin typeface="Arial"/>
                <a:ea typeface="Arial"/>
                <a:cs typeface="Arial"/>
                <a:sym typeface="Arial"/>
              </a:endParaRPr>
            </a:p>
          </p:txBody>
        </p:sp>
        <p:sp>
          <p:nvSpPr>
            <p:cNvPr id="480" name="Google Shape;480;p29"/>
            <p:cNvSpPr/>
            <p:nvPr/>
          </p:nvSpPr>
          <p:spPr>
            <a:xfrm>
              <a:off x="4038600" y="2209800"/>
              <a:ext cx="914400" cy="45720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App</a:t>
              </a:r>
              <a:endParaRPr b="0" i="0" sz="1400" u="none" cap="none" strike="noStrike">
                <a:solidFill>
                  <a:srgbClr val="000000"/>
                </a:solidFill>
                <a:latin typeface="Arial"/>
                <a:ea typeface="Arial"/>
                <a:cs typeface="Arial"/>
                <a:sym typeface="Arial"/>
              </a:endParaRPr>
            </a:p>
          </p:txBody>
        </p:sp>
        <p:sp>
          <p:nvSpPr>
            <p:cNvPr id="481" name="Google Shape;481;p29"/>
            <p:cNvSpPr txBox="1"/>
            <p:nvPr/>
          </p:nvSpPr>
          <p:spPr>
            <a:xfrm>
              <a:off x="2439584" y="3810000"/>
              <a:ext cx="223516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Traditional Stack</a:t>
              </a:r>
              <a:endParaRPr b="0" i="0" sz="1400" u="none" cap="none" strike="noStrike">
                <a:solidFill>
                  <a:srgbClr val="000000"/>
                </a:solidFill>
                <a:latin typeface="Arial"/>
                <a:ea typeface="Arial"/>
                <a:cs typeface="Arial"/>
                <a:sym typeface="Arial"/>
              </a:endParaRPr>
            </a:p>
          </p:txBody>
        </p:sp>
      </p:grpSp>
      <p:grpSp>
        <p:nvGrpSpPr>
          <p:cNvPr id="482" name="Google Shape;482;p29"/>
          <p:cNvGrpSpPr/>
          <p:nvPr/>
        </p:nvGrpSpPr>
        <p:grpSpPr>
          <a:xfrm>
            <a:off x="5029200" y="2286000"/>
            <a:ext cx="2895600" cy="2533650"/>
            <a:chOff x="5638800" y="1676400"/>
            <a:chExt cx="2895600" cy="2533710"/>
          </a:xfrm>
        </p:grpSpPr>
        <p:sp>
          <p:nvSpPr>
            <p:cNvPr id="483" name="Google Shape;483;p29"/>
            <p:cNvSpPr/>
            <p:nvPr/>
          </p:nvSpPr>
          <p:spPr>
            <a:xfrm>
              <a:off x="5638800" y="3276600"/>
              <a:ext cx="2895600" cy="457200"/>
            </a:xfrm>
            <a:prstGeom prst="roundRect">
              <a:avLst>
                <a:gd fmla="val 16667" name="adj"/>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Hardware</a:t>
              </a:r>
              <a:endParaRPr b="0" i="0" sz="1400" u="none" cap="none" strike="noStrike">
                <a:solidFill>
                  <a:srgbClr val="000000"/>
                </a:solidFill>
                <a:latin typeface="Arial"/>
                <a:ea typeface="Arial"/>
                <a:cs typeface="Arial"/>
                <a:sym typeface="Arial"/>
              </a:endParaRPr>
            </a:p>
          </p:txBody>
        </p:sp>
        <p:sp>
          <p:nvSpPr>
            <p:cNvPr id="484" name="Google Shape;484;p29"/>
            <p:cNvSpPr/>
            <p:nvPr/>
          </p:nvSpPr>
          <p:spPr>
            <a:xfrm>
              <a:off x="5638800" y="2209800"/>
              <a:ext cx="914400" cy="457200"/>
            </a:xfrm>
            <a:prstGeom prst="roundRect">
              <a:avLst>
                <a:gd fmla="val 16667" name="adj"/>
              </a:avLst>
            </a:prstGeom>
            <a:solidFill>
              <a:schemeClr val="accent3"/>
            </a:solidFill>
            <a:ln cap="flat" cmpd="sng" w="25400">
              <a:solidFill>
                <a:srgbClr val="7188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OS</a:t>
              </a:r>
              <a:endParaRPr b="0" i="0" sz="1400" u="none" cap="none" strike="noStrike">
                <a:solidFill>
                  <a:srgbClr val="000000"/>
                </a:solidFill>
                <a:latin typeface="Arial"/>
                <a:ea typeface="Arial"/>
                <a:cs typeface="Arial"/>
                <a:sym typeface="Arial"/>
              </a:endParaRPr>
            </a:p>
          </p:txBody>
        </p:sp>
        <p:sp>
          <p:nvSpPr>
            <p:cNvPr id="485" name="Google Shape;485;p29"/>
            <p:cNvSpPr/>
            <p:nvPr/>
          </p:nvSpPr>
          <p:spPr>
            <a:xfrm>
              <a:off x="5638800" y="1676400"/>
              <a:ext cx="914400" cy="45720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App</a:t>
              </a:r>
              <a:endParaRPr b="0" i="0" sz="1400" u="none" cap="none" strike="noStrike">
                <a:solidFill>
                  <a:srgbClr val="000000"/>
                </a:solidFill>
                <a:latin typeface="Arial"/>
                <a:ea typeface="Arial"/>
                <a:cs typeface="Arial"/>
                <a:sym typeface="Arial"/>
              </a:endParaRPr>
            </a:p>
          </p:txBody>
        </p:sp>
        <p:sp>
          <p:nvSpPr>
            <p:cNvPr id="486" name="Google Shape;486;p29"/>
            <p:cNvSpPr/>
            <p:nvPr/>
          </p:nvSpPr>
          <p:spPr>
            <a:xfrm>
              <a:off x="6629400" y="1676400"/>
              <a:ext cx="914400" cy="45720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App</a:t>
              </a:r>
              <a:endParaRPr b="0" i="0" sz="1400" u="none" cap="none" strike="noStrike">
                <a:solidFill>
                  <a:srgbClr val="000000"/>
                </a:solidFill>
                <a:latin typeface="Arial"/>
                <a:ea typeface="Arial"/>
                <a:cs typeface="Arial"/>
                <a:sym typeface="Arial"/>
              </a:endParaRPr>
            </a:p>
          </p:txBody>
        </p:sp>
        <p:sp>
          <p:nvSpPr>
            <p:cNvPr id="487" name="Google Shape;487;p29"/>
            <p:cNvSpPr/>
            <p:nvPr/>
          </p:nvSpPr>
          <p:spPr>
            <a:xfrm>
              <a:off x="7620000" y="1676400"/>
              <a:ext cx="914400" cy="457200"/>
            </a:xfrm>
            <a:prstGeom prst="roundRect">
              <a:avLst>
                <a:gd fmla="val 16667" name="adj"/>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App</a:t>
              </a:r>
              <a:endParaRPr b="0" i="0" sz="1400" u="none" cap="none" strike="noStrike">
                <a:solidFill>
                  <a:srgbClr val="000000"/>
                </a:solidFill>
                <a:latin typeface="Arial"/>
                <a:ea typeface="Arial"/>
                <a:cs typeface="Arial"/>
                <a:sym typeface="Arial"/>
              </a:endParaRPr>
            </a:p>
          </p:txBody>
        </p:sp>
        <p:sp>
          <p:nvSpPr>
            <p:cNvPr id="488" name="Google Shape;488;p29"/>
            <p:cNvSpPr/>
            <p:nvPr/>
          </p:nvSpPr>
          <p:spPr>
            <a:xfrm>
              <a:off x="5638800" y="2743200"/>
              <a:ext cx="2895600" cy="457200"/>
            </a:xfrm>
            <a:prstGeom prst="roundRect">
              <a:avLst>
                <a:gd fmla="val 16667" name="adj"/>
              </a:avLst>
            </a:prstGeom>
            <a:solidFill>
              <a:schemeClr val="accent2"/>
            </a:solidFill>
            <a:ln cap="flat" cmpd="sng" w="25400">
              <a:solidFill>
                <a:srgbClr val="8C3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Hypervisor</a:t>
              </a:r>
              <a:endParaRPr b="0" i="0" sz="1400" u="none" cap="none" strike="noStrike">
                <a:solidFill>
                  <a:srgbClr val="000000"/>
                </a:solidFill>
                <a:latin typeface="Arial"/>
                <a:ea typeface="Arial"/>
                <a:cs typeface="Arial"/>
                <a:sym typeface="Arial"/>
              </a:endParaRPr>
            </a:p>
          </p:txBody>
        </p:sp>
        <p:sp>
          <p:nvSpPr>
            <p:cNvPr id="489" name="Google Shape;489;p29"/>
            <p:cNvSpPr/>
            <p:nvPr/>
          </p:nvSpPr>
          <p:spPr>
            <a:xfrm>
              <a:off x="6629400" y="2209800"/>
              <a:ext cx="914400" cy="457200"/>
            </a:xfrm>
            <a:prstGeom prst="roundRect">
              <a:avLst>
                <a:gd fmla="val 16667" name="adj"/>
              </a:avLst>
            </a:prstGeom>
            <a:solidFill>
              <a:schemeClr val="accent3"/>
            </a:solidFill>
            <a:ln cap="flat" cmpd="sng" w="25400">
              <a:solidFill>
                <a:srgbClr val="7188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OS</a:t>
              </a:r>
              <a:endParaRPr b="0" i="0" sz="1400" u="none" cap="none" strike="noStrike">
                <a:solidFill>
                  <a:srgbClr val="000000"/>
                </a:solidFill>
                <a:latin typeface="Arial"/>
                <a:ea typeface="Arial"/>
                <a:cs typeface="Arial"/>
                <a:sym typeface="Arial"/>
              </a:endParaRPr>
            </a:p>
          </p:txBody>
        </p:sp>
        <p:sp>
          <p:nvSpPr>
            <p:cNvPr id="490" name="Google Shape;490;p29"/>
            <p:cNvSpPr/>
            <p:nvPr/>
          </p:nvSpPr>
          <p:spPr>
            <a:xfrm>
              <a:off x="7620000" y="2209800"/>
              <a:ext cx="914400" cy="457200"/>
            </a:xfrm>
            <a:prstGeom prst="roundRect">
              <a:avLst>
                <a:gd fmla="val 16667" name="adj"/>
              </a:avLst>
            </a:prstGeom>
            <a:solidFill>
              <a:schemeClr val="accent3"/>
            </a:solidFill>
            <a:ln cap="flat" cmpd="sng" w="25400">
              <a:solidFill>
                <a:srgbClr val="71884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Calibri"/>
                  <a:ea typeface="Calibri"/>
                  <a:cs typeface="Calibri"/>
                  <a:sym typeface="Calibri"/>
                </a:rPr>
                <a:t>OS</a:t>
              </a:r>
              <a:endParaRPr b="0" i="0" sz="1400" u="none" cap="none" strike="noStrike">
                <a:solidFill>
                  <a:srgbClr val="000000"/>
                </a:solidFill>
                <a:latin typeface="Arial"/>
                <a:ea typeface="Arial"/>
                <a:cs typeface="Arial"/>
                <a:sym typeface="Arial"/>
              </a:endParaRPr>
            </a:p>
          </p:txBody>
        </p:sp>
        <p:sp>
          <p:nvSpPr>
            <p:cNvPr id="491" name="Google Shape;491;p29"/>
            <p:cNvSpPr txBox="1"/>
            <p:nvPr/>
          </p:nvSpPr>
          <p:spPr>
            <a:xfrm>
              <a:off x="5999309" y="3810000"/>
              <a:ext cx="223029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Virtualized Stack</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Everything as a Service</a:t>
            </a:r>
            <a:endParaRPr/>
          </a:p>
        </p:txBody>
      </p:sp>
      <p:sp>
        <p:nvSpPr>
          <p:cNvPr id="497" name="Google Shape;497;p30"/>
          <p:cNvSpPr txBox="1"/>
          <p:nvPr>
            <p:ph idx="1" type="body"/>
          </p:nvPr>
        </p:nvSpPr>
        <p:spPr>
          <a:xfrm>
            <a:off x="304800" y="1600200"/>
            <a:ext cx="8382000" cy="4572000"/>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960"/>
              <a:buChar char="•"/>
            </a:pPr>
            <a:r>
              <a:rPr lang="en-US" sz="2960"/>
              <a:t>Utility computing = Infrastructure as a Service (IaaS)</a:t>
            </a:r>
            <a:endParaRPr/>
          </a:p>
          <a:p>
            <a:pPr indent="-285750" lvl="1" marL="742950" rtl="0" algn="l">
              <a:lnSpc>
                <a:spcPct val="80000"/>
              </a:lnSpc>
              <a:spcBef>
                <a:spcPts val="518"/>
              </a:spcBef>
              <a:spcAft>
                <a:spcPts val="0"/>
              </a:spcAft>
              <a:buClr>
                <a:schemeClr val="dk1"/>
              </a:buClr>
              <a:buSzPts val="2590"/>
              <a:buChar char="–"/>
            </a:pPr>
            <a:r>
              <a:rPr lang="en-US" sz="2590"/>
              <a:t>Why buy machines when you can rent cycles?</a:t>
            </a:r>
            <a:endParaRPr/>
          </a:p>
          <a:p>
            <a:pPr indent="-285750" lvl="1" marL="742950" rtl="0" algn="l">
              <a:lnSpc>
                <a:spcPct val="80000"/>
              </a:lnSpc>
              <a:spcBef>
                <a:spcPts val="518"/>
              </a:spcBef>
              <a:spcAft>
                <a:spcPts val="0"/>
              </a:spcAft>
              <a:buClr>
                <a:schemeClr val="dk1"/>
              </a:buClr>
              <a:buSzPts val="2590"/>
              <a:buChar char="–"/>
            </a:pPr>
            <a:r>
              <a:rPr lang="en-US" sz="2590"/>
              <a:t>Examples: Amazon’s EC2, Rackspace</a:t>
            </a:r>
            <a:endParaRPr sz="2590"/>
          </a:p>
          <a:p>
            <a:pPr indent="-342900" lvl="0" marL="342900" rtl="0" algn="l">
              <a:lnSpc>
                <a:spcPct val="80000"/>
              </a:lnSpc>
              <a:spcBef>
                <a:spcPts val="592"/>
              </a:spcBef>
              <a:spcAft>
                <a:spcPts val="0"/>
              </a:spcAft>
              <a:buClr>
                <a:schemeClr val="dk1"/>
              </a:buClr>
              <a:buSzPts val="2960"/>
              <a:buChar char="•"/>
            </a:pPr>
            <a:r>
              <a:rPr lang="en-US" sz="2960"/>
              <a:t>Platform as a Service (PaaS)</a:t>
            </a:r>
            <a:endParaRPr/>
          </a:p>
          <a:p>
            <a:pPr indent="-285750" lvl="1" marL="742950" rtl="0" algn="l">
              <a:lnSpc>
                <a:spcPct val="80000"/>
              </a:lnSpc>
              <a:spcBef>
                <a:spcPts val="518"/>
              </a:spcBef>
              <a:spcAft>
                <a:spcPts val="0"/>
              </a:spcAft>
              <a:buClr>
                <a:schemeClr val="dk1"/>
              </a:buClr>
              <a:buSzPts val="2590"/>
              <a:buChar char="–"/>
            </a:pPr>
            <a:r>
              <a:rPr lang="en-US" sz="2590"/>
              <a:t>Give me nice API and take care of the maintenance, upgrades, …</a:t>
            </a:r>
            <a:endParaRPr/>
          </a:p>
          <a:p>
            <a:pPr indent="-285750" lvl="1" marL="742950" rtl="0" algn="l">
              <a:lnSpc>
                <a:spcPct val="80000"/>
              </a:lnSpc>
              <a:spcBef>
                <a:spcPts val="518"/>
              </a:spcBef>
              <a:spcAft>
                <a:spcPts val="0"/>
              </a:spcAft>
              <a:buClr>
                <a:schemeClr val="dk1"/>
              </a:buClr>
              <a:buSzPts val="2590"/>
              <a:buChar char="–"/>
            </a:pPr>
            <a:r>
              <a:rPr lang="en-US" sz="2590"/>
              <a:t>Example: Google App Engine</a:t>
            </a:r>
            <a:endParaRPr/>
          </a:p>
          <a:p>
            <a:pPr indent="-342900" lvl="0" marL="342900" rtl="0" algn="l">
              <a:lnSpc>
                <a:spcPct val="80000"/>
              </a:lnSpc>
              <a:spcBef>
                <a:spcPts val="592"/>
              </a:spcBef>
              <a:spcAft>
                <a:spcPts val="0"/>
              </a:spcAft>
              <a:buClr>
                <a:schemeClr val="dk1"/>
              </a:buClr>
              <a:buSzPts val="2960"/>
              <a:buChar char="•"/>
            </a:pPr>
            <a:r>
              <a:rPr lang="en-US" sz="2960"/>
              <a:t>Software as a Service (SaaS)</a:t>
            </a:r>
            <a:endParaRPr/>
          </a:p>
          <a:p>
            <a:pPr indent="-285750" lvl="1" marL="742950" rtl="0" algn="l">
              <a:lnSpc>
                <a:spcPct val="80000"/>
              </a:lnSpc>
              <a:spcBef>
                <a:spcPts val="518"/>
              </a:spcBef>
              <a:spcAft>
                <a:spcPts val="0"/>
              </a:spcAft>
              <a:buClr>
                <a:schemeClr val="dk1"/>
              </a:buClr>
              <a:buSzPts val="2590"/>
              <a:buChar char="–"/>
            </a:pPr>
            <a:r>
              <a:rPr lang="en-US" sz="2590"/>
              <a:t>Just run it for me!</a:t>
            </a:r>
            <a:endParaRPr/>
          </a:p>
          <a:p>
            <a:pPr indent="-285750" lvl="1" marL="742950" rtl="0" algn="l">
              <a:lnSpc>
                <a:spcPct val="80000"/>
              </a:lnSpc>
              <a:spcBef>
                <a:spcPts val="518"/>
              </a:spcBef>
              <a:spcAft>
                <a:spcPts val="0"/>
              </a:spcAft>
              <a:buClr>
                <a:schemeClr val="dk1"/>
              </a:buClr>
              <a:buSzPts val="2590"/>
              <a:buChar char="–"/>
            </a:pPr>
            <a:r>
              <a:rPr lang="en-US" sz="2590"/>
              <a:t>Example: Gmail, Salesforce</a:t>
            </a:r>
            <a:endParaRPr sz="2590"/>
          </a:p>
          <a:p>
            <a:pPr indent="-154940" lvl="0" marL="342900" rtl="0" algn="l">
              <a:lnSpc>
                <a:spcPct val="80000"/>
              </a:lnSpc>
              <a:spcBef>
                <a:spcPts val="592"/>
              </a:spcBef>
              <a:spcAft>
                <a:spcPts val="0"/>
              </a:spcAft>
              <a:buClr>
                <a:schemeClr val="dk1"/>
              </a:buClr>
              <a:buSzPts val="2960"/>
              <a:buNone/>
            </a:pPr>
            <a:r>
              <a:t/>
            </a:r>
            <a:endParaRPr sz="296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Cloud versus cloud</a:t>
            </a:r>
            <a:endParaRPr/>
          </a:p>
        </p:txBody>
      </p:sp>
      <p:sp>
        <p:nvSpPr>
          <p:cNvPr id="503" name="Google Shape;503;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Amazon Elastic Compute Cloud</a:t>
            </a:r>
            <a:endParaRPr/>
          </a:p>
          <a:p>
            <a:pPr indent="-342900" lvl="0" marL="342900" rtl="0" algn="l">
              <a:lnSpc>
                <a:spcPct val="100000"/>
              </a:lnSpc>
              <a:spcBef>
                <a:spcPts val="640"/>
              </a:spcBef>
              <a:spcAft>
                <a:spcPts val="0"/>
              </a:spcAft>
              <a:buClr>
                <a:schemeClr val="dk1"/>
              </a:buClr>
              <a:buSzPts val="3200"/>
              <a:buChar char="•"/>
            </a:pPr>
            <a:r>
              <a:rPr lang="en-US"/>
              <a:t>Google App Engine</a:t>
            </a:r>
            <a:endParaRPr/>
          </a:p>
          <a:p>
            <a:pPr indent="-342900" lvl="0" marL="342900" rtl="0" algn="l">
              <a:lnSpc>
                <a:spcPct val="100000"/>
              </a:lnSpc>
              <a:spcBef>
                <a:spcPts val="640"/>
              </a:spcBef>
              <a:spcAft>
                <a:spcPts val="0"/>
              </a:spcAft>
              <a:buClr>
                <a:schemeClr val="dk1"/>
              </a:buClr>
              <a:buSzPts val="3200"/>
              <a:buChar char="•"/>
            </a:pPr>
            <a:r>
              <a:rPr lang="en-US"/>
              <a:t>Microsoft Azure</a:t>
            </a:r>
            <a:endParaRPr/>
          </a:p>
          <a:p>
            <a:pPr indent="-342900" lvl="0" marL="342900" rtl="0" algn="l">
              <a:lnSpc>
                <a:spcPct val="100000"/>
              </a:lnSpc>
              <a:spcBef>
                <a:spcPts val="640"/>
              </a:spcBef>
              <a:spcAft>
                <a:spcPts val="0"/>
              </a:spcAft>
              <a:buClr>
                <a:schemeClr val="dk1"/>
              </a:buClr>
              <a:buSzPts val="3200"/>
              <a:buChar char="•"/>
            </a:pPr>
            <a:r>
              <a:rPr lang="en-US"/>
              <a:t>GoGrid</a:t>
            </a:r>
            <a:endParaRPr/>
          </a:p>
          <a:p>
            <a:pPr indent="-342900" lvl="0" marL="342900" rtl="0" algn="l">
              <a:lnSpc>
                <a:spcPct val="100000"/>
              </a:lnSpc>
              <a:spcBef>
                <a:spcPts val="640"/>
              </a:spcBef>
              <a:spcAft>
                <a:spcPts val="0"/>
              </a:spcAft>
              <a:buClr>
                <a:schemeClr val="dk1"/>
              </a:buClr>
              <a:buSzPts val="3200"/>
              <a:buChar char="•"/>
            </a:pPr>
            <a:r>
              <a:rPr lang="en-US"/>
              <a:t>AppNexus</a:t>
            </a:r>
            <a:endParaRPr/>
          </a:p>
          <a:p>
            <a:pPr indent="0" lvl="0" marL="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2"/>
          <p:cNvSpPr/>
          <p:nvPr/>
        </p:nvSpPr>
        <p:spPr>
          <a:xfrm>
            <a:off x="381000" y="3276600"/>
            <a:ext cx="8610600" cy="1447800"/>
          </a:xfrm>
          <a:prstGeom prst="rightArrow">
            <a:avLst>
              <a:gd fmla="val 50000" name="adj1"/>
              <a:gd fmla="val 50000" name="adj2"/>
            </a:avLst>
          </a:prstGeom>
          <a:gradFill>
            <a:gsLst>
              <a:gs pos="0">
                <a:srgbClr val="000000"/>
              </a:gs>
              <a:gs pos="39999">
                <a:srgbClr val="0A128C"/>
              </a:gs>
              <a:gs pos="70000">
                <a:srgbClr val="181CC7">
                  <a:alpha val="49411"/>
                </a:srgbClr>
              </a:gs>
              <a:gs pos="88000">
                <a:srgbClr val="7005D4">
                  <a:alpha val="40000"/>
                </a:srgbClr>
              </a:gs>
              <a:gs pos="100000">
                <a:srgbClr val="8C3D91">
                  <a:alpha val="29411"/>
                </a:srgbClr>
              </a:gs>
            </a:gsLst>
            <a:lin ang="0" scaled="0"/>
          </a:grad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510" name="Google Shape;51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Calibri"/>
              <a:buNone/>
            </a:pPr>
            <a:r>
              <a:rPr lang="en-US" sz="3959"/>
              <a:t>The Obligatory Timeline Slide </a:t>
            </a:r>
            <a:br>
              <a:rPr lang="en-US" sz="3959"/>
            </a:br>
            <a:r>
              <a:rPr lang="en-US" sz="3959"/>
              <a:t>(</a:t>
            </a:r>
            <a:r>
              <a:rPr lang="en-US" sz="3959">
                <a:solidFill>
                  <a:srgbClr val="898989"/>
                </a:solidFill>
              </a:rPr>
              <a:t>Mike Culver @ AWS)</a:t>
            </a:r>
            <a:br>
              <a:rPr lang="en-US" sz="3959"/>
            </a:br>
            <a:endParaRPr sz="3959"/>
          </a:p>
        </p:txBody>
      </p:sp>
      <p:sp>
        <p:nvSpPr>
          <p:cNvPr id="511" name="Google Shape;511;p32"/>
          <p:cNvSpPr/>
          <p:nvPr/>
        </p:nvSpPr>
        <p:spPr>
          <a:xfrm>
            <a:off x="459024" y="2952693"/>
            <a:ext cx="990780" cy="686017"/>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path>
              <a:path extrusionOk="0" fill="none" h="120000" w="120000">
                <a:moveTo>
                  <a:pt x="-10000" y="22500"/>
                </a:moveTo>
                <a:lnTo>
                  <a:pt x="-20000" y="22500"/>
                </a:lnTo>
                <a:lnTo>
                  <a:pt x="-78752" y="268334"/>
                </a:lnTo>
              </a:path>
            </a:pathLst>
          </a:custGeom>
          <a:solidFill>
            <a:srgbClr val="FFE2B7"/>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COBOL, Edsel</a:t>
            </a:r>
            <a:endParaRPr b="0" i="0" sz="1600" u="none" cap="none" strike="noStrike">
              <a:solidFill>
                <a:schemeClr val="dk1"/>
              </a:solidFill>
              <a:latin typeface="Calibri"/>
              <a:ea typeface="Calibri"/>
              <a:cs typeface="Calibri"/>
              <a:sym typeface="Calibri"/>
            </a:endParaRPr>
          </a:p>
        </p:txBody>
      </p:sp>
      <p:sp>
        <p:nvSpPr>
          <p:cNvPr id="512" name="Google Shape;512;p32"/>
          <p:cNvSpPr txBox="1"/>
          <p:nvPr/>
        </p:nvSpPr>
        <p:spPr>
          <a:xfrm rot="-2492668">
            <a:off x="434975" y="4554538"/>
            <a:ext cx="6096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1959</a:t>
            </a:r>
            <a:endParaRPr b="0" i="0" sz="1400" u="none" cap="none" strike="noStrike">
              <a:solidFill>
                <a:srgbClr val="000000"/>
              </a:solidFill>
              <a:latin typeface="Arial"/>
              <a:ea typeface="Arial"/>
              <a:cs typeface="Arial"/>
              <a:sym typeface="Arial"/>
            </a:endParaRPr>
          </a:p>
        </p:txBody>
      </p:sp>
      <p:sp>
        <p:nvSpPr>
          <p:cNvPr id="513" name="Google Shape;513;p32"/>
          <p:cNvSpPr txBox="1"/>
          <p:nvPr/>
        </p:nvSpPr>
        <p:spPr>
          <a:xfrm rot="-2492668">
            <a:off x="1817688" y="4454525"/>
            <a:ext cx="609600" cy="306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1969</a:t>
            </a:r>
            <a:endParaRPr b="0" i="0" sz="1400" u="none" cap="none" strike="noStrike">
              <a:solidFill>
                <a:srgbClr val="000000"/>
              </a:solidFill>
              <a:latin typeface="Arial"/>
              <a:ea typeface="Arial"/>
              <a:cs typeface="Arial"/>
              <a:sym typeface="Arial"/>
            </a:endParaRPr>
          </a:p>
        </p:txBody>
      </p:sp>
      <p:sp>
        <p:nvSpPr>
          <p:cNvPr id="514" name="Google Shape;514;p32"/>
          <p:cNvSpPr txBox="1"/>
          <p:nvPr/>
        </p:nvSpPr>
        <p:spPr>
          <a:xfrm rot="-2492668">
            <a:off x="2997200" y="4481513"/>
            <a:ext cx="6096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1982</a:t>
            </a:r>
            <a:endParaRPr b="0" i="0" sz="1400" u="none" cap="none" strike="noStrike">
              <a:solidFill>
                <a:srgbClr val="000000"/>
              </a:solidFill>
              <a:latin typeface="Arial"/>
              <a:ea typeface="Arial"/>
              <a:cs typeface="Arial"/>
              <a:sym typeface="Arial"/>
            </a:endParaRPr>
          </a:p>
        </p:txBody>
      </p:sp>
      <p:sp>
        <p:nvSpPr>
          <p:cNvPr id="515" name="Google Shape;515;p32"/>
          <p:cNvSpPr txBox="1"/>
          <p:nvPr/>
        </p:nvSpPr>
        <p:spPr>
          <a:xfrm rot="-2492668">
            <a:off x="3784600" y="4506913"/>
            <a:ext cx="6096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1996</a:t>
            </a:r>
            <a:endParaRPr b="0" i="0" sz="1400" u="none" cap="none" strike="noStrike">
              <a:solidFill>
                <a:srgbClr val="000000"/>
              </a:solidFill>
              <a:latin typeface="Arial"/>
              <a:ea typeface="Arial"/>
              <a:cs typeface="Arial"/>
              <a:sym typeface="Arial"/>
            </a:endParaRPr>
          </a:p>
        </p:txBody>
      </p:sp>
      <p:sp>
        <p:nvSpPr>
          <p:cNvPr id="516" name="Google Shape;516;p32"/>
          <p:cNvSpPr/>
          <p:nvPr/>
        </p:nvSpPr>
        <p:spPr>
          <a:xfrm>
            <a:off x="4192006" y="2876609"/>
            <a:ext cx="4038179" cy="380897"/>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path>
              <a:path extrusionOk="0" fill="none" h="120000" w="120000">
                <a:moveTo>
                  <a:pt x="-10000" y="22500"/>
                </a:moveTo>
                <a:lnTo>
                  <a:pt x="-20000" y="22500"/>
                </a:lnTo>
                <a:lnTo>
                  <a:pt x="-132913" y="876334"/>
                </a:lnTo>
              </a:path>
            </a:pathLst>
          </a:custGeom>
          <a:solidFill>
            <a:srgbClr val="FFC67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Amazon.com</a:t>
            </a:r>
            <a:endParaRPr b="0" i="0" sz="1400" u="none" cap="none" strike="noStrike">
              <a:solidFill>
                <a:srgbClr val="000000"/>
              </a:solidFill>
              <a:latin typeface="Arial"/>
              <a:ea typeface="Arial"/>
              <a:cs typeface="Arial"/>
              <a:sym typeface="Arial"/>
            </a:endParaRPr>
          </a:p>
        </p:txBody>
      </p:sp>
      <p:sp>
        <p:nvSpPr>
          <p:cNvPr id="517" name="Google Shape;517;p32"/>
          <p:cNvSpPr txBox="1"/>
          <p:nvPr/>
        </p:nvSpPr>
        <p:spPr>
          <a:xfrm rot="-2492668">
            <a:off x="5842000" y="4506913"/>
            <a:ext cx="6096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2004</a:t>
            </a:r>
            <a:endParaRPr b="0" i="0" sz="1400" u="none" cap="none" strike="noStrike">
              <a:solidFill>
                <a:srgbClr val="000000"/>
              </a:solidFill>
              <a:latin typeface="Arial"/>
              <a:ea typeface="Arial"/>
              <a:cs typeface="Arial"/>
              <a:sym typeface="Arial"/>
            </a:endParaRPr>
          </a:p>
        </p:txBody>
      </p:sp>
      <p:sp>
        <p:nvSpPr>
          <p:cNvPr id="518" name="Google Shape;518;p32"/>
          <p:cNvSpPr txBox="1"/>
          <p:nvPr/>
        </p:nvSpPr>
        <p:spPr>
          <a:xfrm rot="-2492668">
            <a:off x="6527800" y="4506913"/>
            <a:ext cx="6096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2006</a:t>
            </a:r>
            <a:endParaRPr b="0" i="0" sz="1400" u="none" cap="none" strike="noStrike">
              <a:solidFill>
                <a:srgbClr val="000000"/>
              </a:solidFill>
              <a:latin typeface="Arial"/>
              <a:ea typeface="Arial"/>
              <a:cs typeface="Arial"/>
              <a:sym typeface="Arial"/>
            </a:endParaRPr>
          </a:p>
        </p:txBody>
      </p:sp>
      <p:sp>
        <p:nvSpPr>
          <p:cNvPr id="519" name="Google Shape;519;p32"/>
          <p:cNvSpPr txBox="1"/>
          <p:nvPr/>
        </p:nvSpPr>
        <p:spPr>
          <a:xfrm>
            <a:off x="1219200" y="3857625"/>
            <a:ext cx="1447800"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Darkness</a:t>
            </a:r>
            <a:endParaRPr b="0" i="0" sz="1400" u="none" cap="none" strike="noStrike">
              <a:solidFill>
                <a:srgbClr val="000000"/>
              </a:solidFill>
              <a:latin typeface="Arial"/>
              <a:ea typeface="Arial"/>
              <a:cs typeface="Arial"/>
              <a:sym typeface="Arial"/>
            </a:endParaRPr>
          </a:p>
        </p:txBody>
      </p:sp>
      <p:sp>
        <p:nvSpPr>
          <p:cNvPr id="520" name="Google Shape;520;p32"/>
          <p:cNvSpPr txBox="1"/>
          <p:nvPr/>
        </p:nvSpPr>
        <p:spPr>
          <a:xfrm>
            <a:off x="4876800" y="3733800"/>
            <a:ext cx="1447800" cy="6461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Web as a Platform</a:t>
            </a:r>
            <a:endParaRPr b="0" i="0" sz="1400" u="none" cap="none" strike="noStrike">
              <a:solidFill>
                <a:srgbClr val="000000"/>
              </a:solidFill>
              <a:latin typeface="Arial"/>
              <a:ea typeface="Arial"/>
              <a:cs typeface="Arial"/>
              <a:sym typeface="Arial"/>
            </a:endParaRPr>
          </a:p>
        </p:txBody>
      </p:sp>
      <p:sp>
        <p:nvSpPr>
          <p:cNvPr id="521" name="Google Shape;521;p32"/>
          <p:cNvSpPr txBox="1"/>
          <p:nvPr/>
        </p:nvSpPr>
        <p:spPr>
          <a:xfrm>
            <a:off x="6172200" y="3733800"/>
            <a:ext cx="2514600" cy="6461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Web Services, Resources Eliminated</a:t>
            </a:r>
            <a:endParaRPr b="0" i="0" sz="1400" u="none" cap="none" strike="noStrike">
              <a:solidFill>
                <a:srgbClr val="000000"/>
              </a:solidFill>
              <a:latin typeface="Arial"/>
              <a:ea typeface="Arial"/>
              <a:cs typeface="Arial"/>
              <a:sym typeface="Arial"/>
            </a:endParaRPr>
          </a:p>
        </p:txBody>
      </p:sp>
      <p:sp>
        <p:nvSpPr>
          <p:cNvPr id="522" name="Google Shape;522;p32"/>
          <p:cNvSpPr txBox="1"/>
          <p:nvPr/>
        </p:nvSpPr>
        <p:spPr>
          <a:xfrm>
            <a:off x="3581400" y="3733800"/>
            <a:ext cx="1447800" cy="6461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Web Awareness</a:t>
            </a:r>
            <a:endParaRPr b="0" i="0" sz="1400" u="none" cap="none" strike="noStrike">
              <a:solidFill>
                <a:srgbClr val="000000"/>
              </a:solidFill>
              <a:latin typeface="Arial"/>
              <a:ea typeface="Arial"/>
              <a:cs typeface="Arial"/>
              <a:sym typeface="Arial"/>
            </a:endParaRPr>
          </a:p>
        </p:txBody>
      </p:sp>
      <p:sp>
        <p:nvSpPr>
          <p:cNvPr id="523" name="Google Shape;523;p32"/>
          <p:cNvSpPr/>
          <p:nvPr/>
        </p:nvSpPr>
        <p:spPr>
          <a:xfrm>
            <a:off x="2818324" y="3257481"/>
            <a:ext cx="5413150" cy="380886"/>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path>
              <a:path extrusionOk="0" fill="none" h="120000" w="120000">
                <a:moveTo>
                  <a:pt x="-10000" y="22500"/>
                </a:moveTo>
                <a:lnTo>
                  <a:pt x="-20000" y="22500"/>
                </a:lnTo>
                <a:lnTo>
                  <a:pt x="-57080" y="660334"/>
                </a:lnTo>
              </a:path>
            </a:pathLst>
          </a:custGeom>
          <a:solidFill>
            <a:srgbClr val="FFE2B7"/>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Internet</a:t>
            </a:r>
            <a:endParaRPr b="0" i="0" sz="1400" u="none" cap="none" strike="noStrike">
              <a:solidFill>
                <a:srgbClr val="000000"/>
              </a:solidFill>
              <a:latin typeface="Arial"/>
              <a:ea typeface="Arial"/>
              <a:cs typeface="Arial"/>
              <a:sym typeface="Arial"/>
            </a:endParaRPr>
          </a:p>
        </p:txBody>
      </p:sp>
      <p:sp>
        <p:nvSpPr>
          <p:cNvPr id="524" name="Google Shape;524;p32"/>
          <p:cNvSpPr/>
          <p:nvPr/>
        </p:nvSpPr>
        <p:spPr>
          <a:xfrm>
            <a:off x="1601484" y="3257478"/>
            <a:ext cx="1141856" cy="380841"/>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path>
              <a:path extrusionOk="0" fill="none" h="120000" w="120000">
                <a:moveTo>
                  <a:pt x="-10000" y="22500"/>
                </a:moveTo>
                <a:lnTo>
                  <a:pt x="-20000" y="22500"/>
                </a:lnTo>
                <a:lnTo>
                  <a:pt x="-96233" y="468334"/>
                </a:lnTo>
              </a:path>
            </a:pathLst>
          </a:custGeom>
          <a:solidFill>
            <a:srgbClr val="FFE2B7"/>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ARPANET</a:t>
            </a:r>
            <a:endParaRPr b="0" i="0" sz="1400" u="none" cap="none" strike="noStrike">
              <a:solidFill>
                <a:srgbClr val="000000"/>
              </a:solidFill>
              <a:latin typeface="Arial"/>
              <a:ea typeface="Arial"/>
              <a:cs typeface="Arial"/>
              <a:sym typeface="Arial"/>
            </a:endParaRPr>
          </a:p>
        </p:txBody>
      </p:sp>
      <p:sp>
        <p:nvSpPr>
          <p:cNvPr id="525" name="Google Shape;525;p32"/>
          <p:cNvSpPr/>
          <p:nvPr/>
        </p:nvSpPr>
        <p:spPr>
          <a:xfrm>
            <a:off x="4419600" y="4800600"/>
            <a:ext cx="1371600" cy="457200"/>
          </a:xfrm>
          <a:prstGeom prst="bracePair">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Dot-Com Bubble</a:t>
            </a:r>
            <a:endParaRPr b="0" i="0" sz="1400" u="none" cap="none" strike="noStrike">
              <a:solidFill>
                <a:srgbClr val="000000"/>
              </a:solidFill>
              <a:latin typeface="Arial"/>
              <a:ea typeface="Arial"/>
              <a:cs typeface="Arial"/>
              <a:sym typeface="Arial"/>
            </a:endParaRPr>
          </a:p>
        </p:txBody>
      </p:sp>
      <p:sp>
        <p:nvSpPr>
          <p:cNvPr id="526" name="Google Shape;526;p32"/>
          <p:cNvSpPr/>
          <p:nvPr/>
        </p:nvSpPr>
        <p:spPr>
          <a:xfrm>
            <a:off x="6019800" y="4800600"/>
            <a:ext cx="914400" cy="457200"/>
          </a:xfrm>
          <a:prstGeom prst="bracePair">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Web 2.0</a:t>
            </a:r>
            <a:endParaRPr b="0" i="0" sz="1400" u="none" cap="none" strike="noStrike">
              <a:solidFill>
                <a:srgbClr val="000000"/>
              </a:solidFill>
              <a:latin typeface="Arial"/>
              <a:ea typeface="Arial"/>
              <a:cs typeface="Arial"/>
              <a:sym typeface="Arial"/>
            </a:endParaRPr>
          </a:p>
        </p:txBody>
      </p:sp>
      <p:sp>
        <p:nvSpPr>
          <p:cNvPr id="527" name="Google Shape;527;p32"/>
          <p:cNvSpPr txBox="1"/>
          <p:nvPr/>
        </p:nvSpPr>
        <p:spPr>
          <a:xfrm>
            <a:off x="7086600" y="4827588"/>
            <a:ext cx="1143000" cy="4603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Web Scale</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Computing</a:t>
            </a:r>
            <a:endParaRPr b="0" i="0" sz="1400" u="none" cap="none" strike="noStrike">
              <a:solidFill>
                <a:srgbClr val="000000"/>
              </a:solidFill>
              <a:latin typeface="Arial"/>
              <a:ea typeface="Arial"/>
              <a:cs typeface="Arial"/>
              <a:sym typeface="Arial"/>
            </a:endParaRPr>
          </a:p>
        </p:txBody>
      </p:sp>
      <p:sp>
        <p:nvSpPr>
          <p:cNvPr id="528" name="Google Shape;528;p32"/>
          <p:cNvSpPr/>
          <p:nvPr/>
        </p:nvSpPr>
        <p:spPr>
          <a:xfrm>
            <a:off x="7010400" y="4800600"/>
            <a:ext cx="152400" cy="457200"/>
          </a:xfrm>
          <a:prstGeom prst="leftBrace">
            <a:avLst>
              <a:gd fmla="val 8333" name="adj1"/>
              <a:gd fmla="val 50000" name="adj2"/>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29" name="Google Shape;529;p32"/>
          <p:cNvSpPr txBox="1"/>
          <p:nvPr/>
        </p:nvSpPr>
        <p:spPr>
          <a:xfrm rot="-2492668">
            <a:off x="5384800" y="4506913"/>
            <a:ext cx="6096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2001</a:t>
            </a:r>
            <a:endParaRPr b="0" i="0" sz="1400" u="none" cap="none" strike="noStrike">
              <a:solidFill>
                <a:srgbClr val="000000"/>
              </a:solidFill>
              <a:latin typeface="Arial"/>
              <a:ea typeface="Arial"/>
              <a:cs typeface="Arial"/>
              <a:sym typeface="Arial"/>
            </a:endParaRPr>
          </a:p>
        </p:txBody>
      </p:sp>
      <p:sp>
        <p:nvSpPr>
          <p:cNvPr id="530" name="Google Shape;530;p32"/>
          <p:cNvSpPr txBox="1"/>
          <p:nvPr/>
        </p:nvSpPr>
        <p:spPr>
          <a:xfrm rot="-2492668">
            <a:off x="4089400" y="4506913"/>
            <a:ext cx="6096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1997</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500"/>
                                        <p:tgtEl>
                                          <p:spTgt spid="514"/>
                                        </p:tgtEl>
                                      </p:cBhvr>
                                    </p:animEffect>
                                  </p:childTnLst>
                                </p:cTn>
                              </p:par>
                              <p:par>
                                <p:cTn fill="hold" nodeType="with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par>
                                <p:cTn fill="hold" nodeType="with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500"/>
                                        <p:tgtEl>
                                          <p:spTgt spid="530"/>
                                        </p:tgtEl>
                                      </p:cBhvr>
                                    </p:animEffect>
                                  </p:childTnLst>
                                </p:cTn>
                              </p:par>
                              <p:par>
                                <p:cTn fill="hold" nodeType="with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par>
                                <p:cTn fill="hold" nodeType="with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500"/>
                                        <p:tgtEl>
                                          <p:spTgt spid="519"/>
                                        </p:tgtEl>
                                      </p:cBhvr>
                                    </p:animEffect>
                                  </p:childTnLst>
                                </p:cTn>
                              </p:par>
                              <p:par>
                                <p:cTn fill="hold" nodeType="with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par>
                                <p:cTn fill="hold" nodeType="with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500"/>
                                        <p:tgtEl>
                                          <p:spTgt spid="52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500"/>
                                        <p:tgtEl>
                                          <p:spTgt spid="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500"/>
                                        <p:tgtEl>
                                          <p:spTgt spid="5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500"/>
                                        <p:tgtEl>
                                          <p:spTgt spid="52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500"/>
                                        <p:tgtEl>
                                          <p:spTgt spid="52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500"/>
                                        <p:tgtEl>
                                          <p:spTgt spid="5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2000"/>
                                        <p:tgtEl>
                                          <p:spTgt spid="52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500"/>
                                        <p:tgtEl>
                                          <p:spTgt spid="527"/>
                                        </p:tgtEl>
                                      </p:cBhvr>
                                    </p:animEffect>
                                  </p:childTnLst>
                                </p:cTn>
                              </p:par>
                              <p:par>
                                <p:cTn fill="hold" nodeType="with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500"/>
                                        <p:tgtEl>
                                          <p:spTgt spid="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AWS</a:t>
            </a:r>
            <a:endParaRPr/>
          </a:p>
        </p:txBody>
      </p:sp>
      <p:sp>
        <p:nvSpPr>
          <p:cNvPr id="536" name="Google Shape;536;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Char char="•"/>
            </a:pPr>
            <a:r>
              <a:rPr lang="en-US"/>
              <a:t>Elastic Compute Cloud – EC2 (IaaS)</a:t>
            </a:r>
            <a:endParaRPr/>
          </a:p>
          <a:p>
            <a:pPr indent="-342900" lvl="0" marL="342900" rtl="0" algn="l">
              <a:lnSpc>
                <a:spcPct val="90000"/>
              </a:lnSpc>
              <a:spcBef>
                <a:spcPts val="640"/>
              </a:spcBef>
              <a:spcAft>
                <a:spcPts val="0"/>
              </a:spcAft>
              <a:buClr>
                <a:schemeClr val="dk1"/>
              </a:buClr>
              <a:buSzPts val="3200"/>
              <a:buChar char="•"/>
            </a:pPr>
            <a:r>
              <a:rPr lang="en-US"/>
              <a:t>Simple Storage Service – S3 (IaaS)</a:t>
            </a:r>
            <a:endParaRPr/>
          </a:p>
          <a:p>
            <a:pPr indent="-342900" lvl="0" marL="342900" rtl="0" algn="l">
              <a:lnSpc>
                <a:spcPct val="90000"/>
              </a:lnSpc>
              <a:spcBef>
                <a:spcPts val="640"/>
              </a:spcBef>
              <a:spcAft>
                <a:spcPts val="0"/>
              </a:spcAft>
              <a:buClr>
                <a:schemeClr val="dk1"/>
              </a:buClr>
              <a:buSzPts val="3200"/>
              <a:buChar char="•"/>
            </a:pPr>
            <a:r>
              <a:rPr lang="en-US"/>
              <a:t> Elastic Block Storage – EBS (IaaS)</a:t>
            </a:r>
            <a:endParaRPr/>
          </a:p>
          <a:p>
            <a:pPr indent="-342900" lvl="0" marL="342900" rtl="0" algn="l">
              <a:lnSpc>
                <a:spcPct val="90000"/>
              </a:lnSpc>
              <a:spcBef>
                <a:spcPts val="640"/>
              </a:spcBef>
              <a:spcAft>
                <a:spcPts val="0"/>
              </a:spcAft>
              <a:buClr>
                <a:schemeClr val="dk1"/>
              </a:buClr>
              <a:buSzPts val="3200"/>
              <a:buChar char="•"/>
            </a:pPr>
            <a:r>
              <a:rPr lang="en-US"/>
              <a:t> SimpleDB (SDB) (PaaS)</a:t>
            </a:r>
            <a:endParaRPr/>
          </a:p>
          <a:p>
            <a:pPr indent="-342900" lvl="0" marL="342900" rtl="0" algn="l">
              <a:lnSpc>
                <a:spcPct val="90000"/>
              </a:lnSpc>
              <a:spcBef>
                <a:spcPts val="640"/>
              </a:spcBef>
              <a:spcAft>
                <a:spcPts val="0"/>
              </a:spcAft>
              <a:buClr>
                <a:schemeClr val="dk1"/>
              </a:buClr>
              <a:buSzPts val="3200"/>
              <a:buChar char="•"/>
            </a:pPr>
            <a:r>
              <a:rPr lang="en-US"/>
              <a:t> Simple Queue Service – SQS (PaaS)</a:t>
            </a:r>
            <a:endParaRPr/>
          </a:p>
          <a:p>
            <a:pPr indent="-342900" lvl="0" marL="342900" rtl="0" algn="l">
              <a:lnSpc>
                <a:spcPct val="90000"/>
              </a:lnSpc>
              <a:spcBef>
                <a:spcPts val="640"/>
              </a:spcBef>
              <a:spcAft>
                <a:spcPts val="0"/>
              </a:spcAft>
              <a:buClr>
                <a:schemeClr val="dk1"/>
              </a:buClr>
              <a:buSzPts val="3200"/>
              <a:buChar char="•"/>
            </a:pPr>
            <a:r>
              <a:rPr lang="en-US"/>
              <a:t>CloudFront (S3 based Content Delivery Network – PaaS)</a:t>
            </a:r>
            <a:endParaRPr/>
          </a:p>
          <a:p>
            <a:pPr indent="-342900" lvl="0" marL="342900" rtl="0" algn="l">
              <a:lnSpc>
                <a:spcPct val="90000"/>
              </a:lnSpc>
              <a:spcBef>
                <a:spcPts val="640"/>
              </a:spcBef>
              <a:spcAft>
                <a:spcPts val="0"/>
              </a:spcAft>
              <a:buClr>
                <a:schemeClr val="dk1"/>
              </a:buClr>
              <a:buSzPts val="3200"/>
              <a:buChar char="•"/>
            </a:pPr>
            <a:r>
              <a:rPr lang="en-US"/>
              <a:t> Consistent AWS Web Services API</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4"/>
          <p:cNvSpPr/>
          <p:nvPr/>
        </p:nvSpPr>
        <p:spPr>
          <a:xfrm>
            <a:off x="152400" y="2493000"/>
            <a:ext cx="8839200" cy="3505200"/>
          </a:xfrm>
          <a:prstGeom prst="roundRect">
            <a:avLst>
              <a:gd fmla="val 4279" name="adj"/>
            </a:avLst>
          </a:prstGeom>
          <a:solidFill>
            <a:srgbClr val="366092"/>
          </a:solidFill>
          <a:ln cap="flat" cmpd="sng" w="28575">
            <a:solidFill>
              <a:schemeClr val="dk2"/>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Calibri"/>
              <a:ea typeface="Calibri"/>
              <a:cs typeface="Calibri"/>
              <a:sym typeface="Calibri"/>
            </a:endParaRPr>
          </a:p>
        </p:txBody>
      </p:sp>
      <p:sp>
        <p:nvSpPr>
          <p:cNvPr id="542" name="Google Shape;542;p34"/>
          <p:cNvSpPr txBox="1"/>
          <p:nvPr>
            <p:ph type="title"/>
          </p:nvPr>
        </p:nvSpPr>
        <p:spPr>
          <a:xfrm>
            <a:off x="152400" y="152400"/>
            <a:ext cx="8229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3959"/>
              <a:buFont typeface="Calibri"/>
              <a:buNone/>
            </a:pPr>
            <a:r>
              <a:rPr lang="en-US" sz="3959"/>
              <a:t>What does Azure platform offer to developers?</a:t>
            </a:r>
            <a:endParaRPr sz="3959"/>
          </a:p>
        </p:txBody>
      </p:sp>
      <p:sp>
        <p:nvSpPr>
          <p:cNvPr id="543" name="Google Shape;543;p34"/>
          <p:cNvSpPr/>
          <p:nvPr/>
        </p:nvSpPr>
        <p:spPr>
          <a:xfrm>
            <a:off x="2943000" y="2598208"/>
            <a:ext cx="2514600" cy="2273204"/>
          </a:xfrm>
          <a:prstGeom prst="roundRect">
            <a:avLst>
              <a:gd fmla="val 6977" name="adj"/>
            </a:avLst>
          </a:prstGeom>
          <a:solidFill>
            <a:schemeClr val="lt2"/>
          </a:solidFill>
          <a:ln cap="flat" cmpd="sng" w="25400">
            <a:solidFill>
              <a:schemeClr val="accent1"/>
            </a:solidFill>
            <a:prstDash val="solid"/>
            <a:round/>
            <a:headEnd len="sm" w="sm" type="none"/>
            <a:tailEnd len="sm" w="sm" type="none"/>
          </a:ln>
          <a:effectLst>
            <a:outerShdw blurRad="63500" rotWithShape="0" dir="5400000" dist="38100">
              <a:srgbClr val="000000">
                <a:alpha val="44313"/>
              </a:srgbClr>
            </a:outerShdw>
          </a:effectLst>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000000"/>
              </a:buClr>
              <a:buSzPts val="2400"/>
              <a:buFont typeface="Arial"/>
              <a:buNone/>
            </a:pPr>
            <a:r>
              <a:t/>
            </a:r>
            <a:endParaRPr b="0" i="0" sz="2400" u="none" cap="none" strike="noStrike">
              <a:solidFill>
                <a:srgbClr val="000000"/>
              </a:solidFill>
              <a:latin typeface="Quattrocento Sans"/>
              <a:ea typeface="Quattrocento Sans"/>
              <a:cs typeface="Quattrocento Sans"/>
              <a:sym typeface="Quattrocento Sans"/>
            </a:endParaRPr>
          </a:p>
        </p:txBody>
      </p:sp>
      <p:sp>
        <p:nvSpPr>
          <p:cNvPr id="544" name="Google Shape;544;p34"/>
          <p:cNvSpPr/>
          <p:nvPr/>
        </p:nvSpPr>
        <p:spPr>
          <a:xfrm>
            <a:off x="276001" y="2598208"/>
            <a:ext cx="2514600" cy="2273204"/>
          </a:xfrm>
          <a:prstGeom prst="roundRect">
            <a:avLst>
              <a:gd fmla="val 7293" name="adj"/>
            </a:avLst>
          </a:prstGeom>
          <a:solidFill>
            <a:schemeClr val="lt2"/>
          </a:solidFill>
          <a:ln>
            <a:noFill/>
          </a:ln>
          <a:effectLst>
            <a:outerShdw blurRad="63500" rotWithShape="0" dir="5400000" dist="38100">
              <a:srgbClr val="000000">
                <a:alpha val="44313"/>
              </a:srgbClr>
            </a:outerShdw>
          </a:effectLst>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000000"/>
              </a:buClr>
              <a:buSzPts val="2400"/>
              <a:buFont typeface="Arial"/>
              <a:buNone/>
            </a:pPr>
            <a:r>
              <a:t/>
            </a:r>
            <a:endParaRPr b="0" i="0" sz="2400" u="none" cap="none" strike="noStrike">
              <a:solidFill>
                <a:srgbClr val="000000"/>
              </a:solidFill>
              <a:latin typeface="Quattrocento Sans"/>
              <a:ea typeface="Quattrocento Sans"/>
              <a:cs typeface="Quattrocento Sans"/>
              <a:sym typeface="Quattrocento Sans"/>
            </a:endParaRPr>
          </a:p>
        </p:txBody>
      </p:sp>
      <p:sp>
        <p:nvSpPr>
          <p:cNvPr id="545" name="Google Shape;545;p34"/>
          <p:cNvSpPr/>
          <p:nvPr/>
        </p:nvSpPr>
        <p:spPr>
          <a:xfrm>
            <a:off x="276000" y="5036608"/>
            <a:ext cx="8610599" cy="830792"/>
          </a:xfrm>
          <a:prstGeom prst="roundRect">
            <a:avLst>
              <a:gd fmla="val 16667" name="adj"/>
            </a:avLst>
          </a:prstGeom>
          <a:solidFill>
            <a:schemeClr val="lt2"/>
          </a:solidFill>
          <a:ln cap="flat" cmpd="sng" w="25400">
            <a:solidFill>
              <a:schemeClr val="accent1"/>
            </a:solidFill>
            <a:prstDash val="solid"/>
            <a:round/>
            <a:headEnd len="sm" w="sm" type="none"/>
            <a:tailEnd len="sm" w="sm" type="none"/>
          </a:ln>
          <a:effectLst>
            <a:outerShdw blurRad="63500" rotWithShape="0" dir="5400000" dist="38100">
              <a:srgbClr val="000000">
                <a:alpha val="44313"/>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Clr>
                <a:srgbClr val="000000"/>
              </a:buClr>
              <a:buSzPts val="2400"/>
              <a:buFont typeface="Arial"/>
              <a:buNone/>
            </a:pPr>
            <a:r>
              <a:t/>
            </a:r>
            <a:endParaRPr b="0" i="0" sz="2400" u="none" cap="none" strike="noStrike">
              <a:solidFill>
                <a:srgbClr val="000000"/>
              </a:solidFill>
              <a:latin typeface="Quattrocento Sans"/>
              <a:ea typeface="Quattrocento Sans"/>
              <a:cs typeface="Quattrocento Sans"/>
              <a:sym typeface="Quattrocento Sans"/>
            </a:endParaRPr>
          </a:p>
        </p:txBody>
      </p:sp>
      <p:sp>
        <p:nvSpPr>
          <p:cNvPr id="546" name="Google Shape;546;p34"/>
          <p:cNvSpPr/>
          <p:nvPr/>
        </p:nvSpPr>
        <p:spPr>
          <a:xfrm>
            <a:off x="428400" y="3436408"/>
            <a:ext cx="1059179"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Service</a:t>
            </a:r>
            <a:br>
              <a:rPr b="0" i="0" lang="en-US" sz="1800" u="none" cap="none" strike="noStrike">
                <a:solidFill>
                  <a:srgbClr val="000000"/>
                </a:solidFill>
                <a:latin typeface="Quattrocento Sans"/>
                <a:ea typeface="Quattrocento Sans"/>
                <a:cs typeface="Quattrocento Sans"/>
                <a:sym typeface="Quattrocento Sans"/>
              </a:rPr>
            </a:br>
            <a:r>
              <a:rPr b="0" i="0" lang="en-US" sz="1800" u="none" cap="none" strike="noStrike">
                <a:solidFill>
                  <a:srgbClr val="000000"/>
                </a:solidFill>
                <a:latin typeface="Quattrocento Sans"/>
                <a:ea typeface="Quattrocento Sans"/>
                <a:cs typeface="Quattrocento Sans"/>
                <a:sym typeface="Quattrocento Sans"/>
              </a:rPr>
              <a:t>Bus</a:t>
            </a:r>
            <a:endParaRPr b="0" i="0" sz="1800" u="none" cap="none" strike="noStrike">
              <a:solidFill>
                <a:srgbClr val="000000"/>
              </a:solidFill>
              <a:latin typeface="Quattrocento Sans"/>
              <a:ea typeface="Quattrocento Sans"/>
              <a:cs typeface="Quattrocento Sans"/>
              <a:sym typeface="Quattrocento Sans"/>
            </a:endParaRPr>
          </a:p>
        </p:txBody>
      </p:sp>
      <p:sp>
        <p:nvSpPr>
          <p:cNvPr id="547" name="Google Shape;547;p34"/>
          <p:cNvSpPr/>
          <p:nvPr/>
        </p:nvSpPr>
        <p:spPr>
          <a:xfrm>
            <a:off x="428400" y="4122208"/>
            <a:ext cx="1059179"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Access</a:t>
            </a:r>
            <a:br>
              <a:rPr b="0" i="0" lang="en-US" sz="1800" u="none" cap="none" strike="noStrike">
                <a:solidFill>
                  <a:srgbClr val="000000"/>
                </a:solidFill>
                <a:latin typeface="Quattrocento Sans"/>
                <a:ea typeface="Quattrocento Sans"/>
                <a:cs typeface="Quattrocento Sans"/>
                <a:sym typeface="Quattrocento Sans"/>
              </a:rPr>
            </a:br>
            <a:r>
              <a:rPr b="0" i="0" lang="en-US" sz="1800" u="none" cap="none" strike="noStrike">
                <a:solidFill>
                  <a:srgbClr val="000000"/>
                </a:solidFill>
                <a:latin typeface="Quattrocento Sans"/>
                <a:ea typeface="Quattrocento Sans"/>
                <a:cs typeface="Quattrocento Sans"/>
                <a:sym typeface="Quattrocento Sans"/>
              </a:rPr>
              <a:t>Control</a:t>
            </a:r>
            <a:endParaRPr b="0" i="0" sz="1800" u="none" cap="none" strike="noStrike">
              <a:solidFill>
                <a:srgbClr val="000000"/>
              </a:solidFill>
              <a:latin typeface="Quattrocento Sans"/>
              <a:ea typeface="Quattrocento Sans"/>
              <a:cs typeface="Quattrocento Sans"/>
              <a:sym typeface="Quattrocento Sans"/>
            </a:endParaRPr>
          </a:p>
        </p:txBody>
      </p:sp>
      <p:sp>
        <p:nvSpPr>
          <p:cNvPr id="548" name="Google Shape;548;p34"/>
          <p:cNvSpPr/>
          <p:nvPr/>
        </p:nvSpPr>
        <p:spPr>
          <a:xfrm>
            <a:off x="1571401" y="3436408"/>
            <a:ext cx="1066800"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Workflow</a:t>
            </a:r>
            <a:endParaRPr b="0" i="0" sz="1800" u="none" cap="none" strike="noStrike">
              <a:solidFill>
                <a:srgbClr val="000000"/>
              </a:solidFill>
              <a:latin typeface="Quattrocento Sans"/>
              <a:ea typeface="Quattrocento Sans"/>
              <a:cs typeface="Quattrocento Sans"/>
              <a:sym typeface="Quattrocento Sans"/>
            </a:endParaRPr>
          </a:p>
        </p:txBody>
      </p:sp>
      <p:sp>
        <p:nvSpPr>
          <p:cNvPr id="549" name="Google Shape;549;p34"/>
          <p:cNvSpPr/>
          <p:nvPr/>
        </p:nvSpPr>
        <p:spPr>
          <a:xfrm>
            <a:off x="1571400" y="4122208"/>
            <a:ext cx="1059179"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a:t>
            </a:r>
            <a:endParaRPr b="0" i="0" sz="1800" u="none" cap="none" strike="noStrike">
              <a:solidFill>
                <a:srgbClr val="000000"/>
              </a:solidFill>
              <a:latin typeface="Quattrocento Sans"/>
              <a:ea typeface="Quattrocento Sans"/>
              <a:cs typeface="Quattrocento Sans"/>
              <a:sym typeface="Quattrocento Sans"/>
            </a:endParaRPr>
          </a:p>
        </p:txBody>
      </p:sp>
      <p:sp>
        <p:nvSpPr>
          <p:cNvPr id="550" name="Google Shape;550;p34"/>
          <p:cNvSpPr/>
          <p:nvPr/>
        </p:nvSpPr>
        <p:spPr>
          <a:xfrm>
            <a:off x="3095400" y="3436408"/>
            <a:ext cx="1059179"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Database</a:t>
            </a:r>
            <a:endParaRPr b="0" i="0" sz="1800" u="none" cap="none" strike="noStrike">
              <a:solidFill>
                <a:srgbClr val="000000"/>
              </a:solidFill>
              <a:latin typeface="Quattrocento Sans"/>
              <a:ea typeface="Quattrocento Sans"/>
              <a:cs typeface="Quattrocento Sans"/>
              <a:sym typeface="Quattrocento Sans"/>
            </a:endParaRPr>
          </a:p>
        </p:txBody>
      </p:sp>
      <p:sp>
        <p:nvSpPr>
          <p:cNvPr id="551" name="Google Shape;551;p34"/>
          <p:cNvSpPr/>
          <p:nvPr/>
        </p:nvSpPr>
        <p:spPr>
          <a:xfrm>
            <a:off x="3095400" y="4122208"/>
            <a:ext cx="1059179"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Reporting</a:t>
            </a:r>
            <a:endParaRPr b="0" i="0" sz="1800" u="none" cap="none" strike="noStrike">
              <a:solidFill>
                <a:srgbClr val="000000"/>
              </a:solidFill>
              <a:latin typeface="Quattrocento Sans"/>
              <a:ea typeface="Quattrocento Sans"/>
              <a:cs typeface="Quattrocento Sans"/>
              <a:sym typeface="Quattrocento Sans"/>
            </a:endParaRPr>
          </a:p>
        </p:txBody>
      </p:sp>
      <p:sp>
        <p:nvSpPr>
          <p:cNvPr id="552" name="Google Shape;552;p34"/>
          <p:cNvSpPr/>
          <p:nvPr/>
        </p:nvSpPr>
        <p:spPr>
          <a:xfrm>
            <a:off x="4238401" y="3436408"/>
            <a:ext cx="1066800"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Analytics</a:t>
            </a:r>
            <a:endParaRPr b="0" i="0" sz="1800" u="none" cap="none" strike="noStrike">
              <a:solidFill>
                <a:srgbClr val="000000"/>
              </a:solidFill>
              <a:latin typeface="Quattrocento Sans"/>
              <a:ea typeface="Quattrocento Sans"/>
              <a:cs typeface="Quattrocento Sans"/>
              <a:sym typeface="Quattrocento Sans"/>
            </a:endParaRPr>
          </a:p>
        </p:txBody>
      </p:sp>
      <p:sp>
        <p:nvSpPr>
          <p:cNvPr id="553" name="Google Shape;553;p34"/>
          <p:cNvSpPr/>
          <p:nvPr/>
        </p:nvSpPr>
        <p:spPr>
          <a:xfrm>
            <a:off x="4238400" y="4122208"/>
            <a:ext cx="1059179"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a:t>
            </a:r>
            <a:endParaRPr b="0" i="0" sz="1800" u="none" cap="none" strike="noStrike">
              <a:solidFill>
                <a:srgbClr val="000000"/>
              </a:solidFill>
              <a:latin typeface="Quattrocento Sans"/>
              <a:ea typeface="Quattrocento Sans"/>
              <a:cs typeface="Quattrocento Sans"/>
              <a:sym typeface="Quattrocento Sans"/>
            </a:endParaRPr>
          </a:p>
        </p:txBody>
      </p:sp>
      <p:sp>
        <p:nvSpPr>
          <p:cNvPr id="554" name="Google Shape;554;p34"/>
          <p:cNvSpPr/>
          <p:nvPr/>
        </p:nvSpPr>
        <p:spPr>
          <a:xfrm>
            <a:off x="428399" y="5127208"/>
            <a:ext cx="1059179"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Compute</a:t>
            </a:r>
            <a:endParaRPr b="0" i="0" sz="1800" u="none" cap="none" strike="noStrike">
              <a:solidFill>
                <a:srgbClr val="000000"/>
              </a:solidFill>
              <a:latin typeface="Quattrocento Sans"/>
              <a:ea typeface="Quattrocento Sans"/>
              <a:cs typeface="Quattrocento Sans"/>
              <a:sym typeface="Quattrocento Sans"/>
            </a:endParaRPr>
          </a:p>
        </p:txBody>
      </p:sp>
      <p:sp>
        <p:nvSpPr>
          <p:cNvPr id="555" name="Google Shape;555;p34"/>
          <p:cNvSpPr/>
          <p:nvPr/>
        </p:nvSpPr>
        <p:spPr>
          <a:xfrm>
            <a:off x="1566319" y="5127208"/>
            <a:ext cx="1066800"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Storage</a:t>
            </a:r>
            <a:endParaRPr b="0" i="0" sz="1800" u="none" cap="none" strike="noStrike">
              <a:solidFill>
                <a:srgbClr val="000000"/>
              </a:solidFill>
              <a:latin typeface="Quattrocento Sans"/>
              <a:ea typeface="Quattrocento Sans"/>
              <a:cs typeface="Quattrocento Sans"/>
              <a:sym typeface="Quattrocento Sans"/>
            </a:endParaRPr>
          </a:p>
        </p:txBody>
      </p:sp>
      <p:sp>
        <p:nvSpPr>
          <p:cNvPr id="556" name="Google Shape;556;p34"/>
          <p:cNvSpPr/>
          <p:nvPr/>
        </p:nvSpPr>
        <p:spPr>
          <a:xfrm>
            <a:off x="2711860" y="5127208"/>
            <a:ext cx="1066800"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Manage</a:t>
            </a:r>
            <a:endParaRPr b="0" i="0" sz="1800" u="none" cap="none" strike="noStrike">
              <a:solidFill>
                <a:srgbClr val="000000"/>
              </a:solidFill>
              <a:latin typeface="Quattrocento Sans"/>
              <a:ea typeface="Quattrocento Sans"/>
              <a:cs typeface="Quattrocento Sans"/>
              <a:sym typeface="Quattrocento Sans"/>
            </a:endParaRPr>
          </a:p>
        </p:txBody>
      </p:sp>
      <p:sp>
        <p:nvSpPr>
          <p:cNvPr id="557" name="Google Shape;557;p34"/>
          <p:cNvSpPr/>
          <p:nvPr/>
        </p:nvSpPr>
        <p:spPr>
          <a:xfrm>
            <a:off x="5610000" y="2598208"/>
            <a:ext cx="2514600" cy="2273204"/>
          </a:xfrm>
          <a:prstGeom prst="roundRect">
            <a:avLst>
              <a:gd fmla="val 6977" name="adj"/>
            </a:avLst>
          </a:prstGeom>
          <a:solidFill>
            <a:schemeClr val="lt2"/>
          </a:solidFill>
          <a:ln cap="flat" cmpd="sng" w="25400">
            <a:solidFill>
              <a:schemeClr val="accent1"/>
            </a:solidFill>
            <a:prstDash val="solid"/>
            <a:round/>
            <a:headEnd len="sm" w="sm" type="none"/>
            <a:tailEnd len="sm" w="sm" type="none"/>
          </a:ln>
          <a:effectLst>
            <a:outerShdw blurRad="63500" rotWithShape="0" dir="5400000" dist="38100">
              <a:srgbClr val="000000">
                <a:alpha val="44313"/>
              </a:srgbClr>
            </a:outerShdw>
          </a:effectLst>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000000"/>
              </a:buClr>
              <a:buSzPts val="2400"/>
              <a:buFont typeface="Arial"/>
              <a:buNone/>
            </a:pPr>
            <a:r>
              <a:t/>
            </a:r>
            <a:endParaRPr b="0" i="0" sz="2400" u="none" cap="none" strike="noStrike">
              <a:solidFill>
                <a:srgbClr val="000000"/>
              </a:solidFill>
              <a:latin typeface="Quattrocento Sans"/>
              <a:ea typeface="Quattrocento Sans"/>
              <a:cs typeface="Quattrocento Sans"/>
              <a:sym typeface="Quattrocento Sans"/>
            </a:endParaRPr>
          </a:p>
        </p:txBody>
      </p:sp>
      <p:sp>
        <p:nvSpPr>
          <p:cNvPr id="558" name="Google Shape;558;p34"/>
          <p:cNvSpPr/>
          <p:nvPr/>
        </p:nvSpPr>
        <p:spPr>
          <a:xfrm>
            <a:off x="5762400" y="3436408"/>
            <a:ext cx="1059179"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Identity</a:t>
            </a:r>
            <a:endParaRPr b="0" i="0" sz="1800" u="none" cap="none" strike="noStrike">
              <a:solidFill>
                <a:srgbClr val="000000"/>
              </a:solidFill>
              <a:latin typeface="Quattrocento Sans"/>
              <a:ea typeface="Quattrocento Sans"/>
              <a:cs typeface="Quattrocento Sans"/>
              <a:sym typeface="Quattrocento Sans"/>
            </a:endParaRPr>
          </a:p>
        </p:txBody>
      </p:sp>
      <p:sp>
        <p:nvSpPr>
          <p:cNvPr id="559" name="Google Shape;559;p34"/>
          <p:cNvSpPr/>
          <p:nvPr/>
        </p:nvSpPr>
        <p:spPr>
          <a:xfrm>
            <a:off x="5762400" y="4122208"/>
            <a:ext cx="1059179"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Devices</a:t>
            </a:r>
            <a:endParaRPr b="0" i="0" sz="1800" u="none" cap="none" strike="noStrike">
              <a:solidFill>
                <a:srgbClr val="000000"/>
              </a:solidFill>
              <a:latin typeface="Quattrocento Sans"/>
              <a:ea typeface="Quattrocento Sans"/>
              <a:cs typeface="Quattrocento Sans"/>
              <a:sym typeface="Quattrocento Sans"/>
            </a:endParaRPr>
          </a:p>
        </p:txBody>
      </p:sp>
      <p:sp>
        <p:nvSpPr>
          <p:cNvPr id="560" name="Google Shape;560;p34"/>
          <p:cNvSpPr/>
          <p:nvPr/>
        </p:nvSpPr>
        <p:spPr>
          <a:xfrm>
            <a:off x="6905401" y="3436408"/>
            <a:ext cx="1066800"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Contacts</a:t>
            </a:r>
            <a:endParaRPr b="0" i="0" sz="1800" u="none" cap="none" strike="noStrike">
              <a:solidFill>
                <a:srgbClr val="000000"/>
              </a:solidFill>
              <a:latin typeface="Quattrocento Sans"/>
              <a:ea typeface="Quattrocento Sans"/>
              <a:cs typeface="Quattrocento Sans"/>
              <a:sym typeface="Quattrocento Sans"/>
            </a:endParaRPr>
          </a:p>
        </p:txBody>
      </p:sp>
      <p:sp>
        <p:nvSpPr>
          <p:cNvPr id="561" name="Google Shape;561;p34"/>
          <p:cNvSpPr/>
          <p:nvPr/>
        </p:nvSpPr>
        <p:spPr>
          <a:xfrm>
            <a:off x="6905400" y="4122208"/>
            <a:ext cx="1059179"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a:t>
            </a:r>
            <a:endParaRPr b="0" i="0" sz="1800" u="none" cap="none" strike="noStrike">
              <a:solidFill>
                <a:srgbClr val="000000"/>
              </a:solidFill>
              <a:latin typeface="Quattrocento Sans"/>
              <a:ea typeface="Quattrocento Sans"/>
              <a:cs typeface="Quattrocento Sans"/>
              <a:sym typeface="Quattrocento Sans"/>
            </a:endParaRPr>
          </a:p>
        </p:txBody>
      </p:sp>
      <p:sp>
        <p:nvSpPr>
          <p:cNvPr id="562" name="Google Shape;562;p34"/>
          <p:cNvSpPr/>
          <p:nvPr/>
        </p:nvSpPr>
        <p:spPr>
          <a:xfrm>
            <a:off x="8277000" y="2598208"/>
            <a:ext cx="609600" cy="2273204"/>
          </a:xfrm>
          <a:prstGeom prst="roundRect">
            <a:avLst>
              <a:gd fmla="val 27861" name="adj"/>
            </a:avLst>
          </a:prstGeom>
          <a:solidFill>
            <a:schemeClr val="lt2"/>
          </a:solidFill>
          <a:ln>
            <a:noFill/>
          </a:ln>
          <a:effectLst>
            <a:outerShdw blurRad="63500" rotWithShape="0" dir="5400000" dist="38100">
              <a:srgbClr val="000000">
                <a:alpha val="44313"/>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a:t>
            </a:r>
            <a:endParaRPr b="0" i="0" sz="1800" u="none" cap="none" strike="noStrike">
              <a:solidFill>
                <a:srgbClr val="000000"/>
              </a:solidFill>
              <a:latin typeface="Quattrocento Sans"/>
              <a:ea typeface="Quattrocento Sans"/>
              <a:cs typeface="Quattrocento Sans"/>
              <a:sym typeface="Quattrocento Sans"/>
            </a:endParaRPr>
          </a:p>
        </p:txBody>
      </p:sp>
      <p:sp>
        <p:nvSpPr>
          <p:cNvPr id="563" name="Google Shape;563;p34"/>
          <p:cNvSpPr/>
          <p:nvPr/>
        </p:nvSpPr>
        <p:spPr>
          <a:xfrm>
            <a:off x="3857400" y="5127208"/>
            <a:ext cx="1066800" cy="6096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Quattrocento Sans"/>
                <a:ea typeface="Quattrocento Sans"/>
                <a:cs typeface="Quattrocento Sans"/>
                <a:sym typeface="Quattrocento Sans"/>
              </a:rPr>
              <a:t>…</a:t>
            </a:r>
            <a:endParaRPr b="0" i="0" sz="1800" u="none" cap="none" strike="noStrike">
              <a:solidFill>
                <a:srgbClr val="000000"/>
              </a:solidFill>
              <a:latin typeface="Quattrocento Sans"/>
              <a:ea typeface="Quattrocento Sans"/>
              <a:cs typeface="Quattrocento Sans"/>
              <a:sym typeface="Quattrocento Sans"/>
            </a:endParaRPr>
          </a:p>
        </p:txBody>
      </p:sp>
      <p:sp>
        <p:nvSpPr>
          <p:cNvPr id="564" name="Google Shape;564;p34"/>
          <p:cNvSpPr/>
          <p:nvPr/>
        </p:nvSpPr>
        <p:spPr>
          <a:xfrm>
            <a:off x="228600" y="1447800"/>
            <a:ext cx="8686800" cy="838200"/>
          </a:xfrm>
          <a:prstGeom prst="roundRect">
            <a:avLst>
              <a:gd fmla="val 16667" name="adj"/>
            </a:avLst>
          </a:prstGeom>
          <a:solidFill>
            <a:schemeClr val="lt2"/>
          </a:solidFill>
          <a:ln>
            <a:noFill/>
          </a:ln>
          <a:effectLst>
            <a:outerShdw blurRad="63500" rotWithShape="0" dir="5400000" dist="38100">
              <a:srgbClr val="000000">
                <a:alpha val="44313"/>
              </a:srgbClr>
            </a:outerShdw>
          </a:effectLst>
        </p:spPr>
        <p:txBody>
          <a:bodyPr anchorCtr="0" anchor="ctr" bIns="45700" lIns="0" spcFirstLastPara="1" rIns="0" wrap="square" tIns="45700">
            <a:noAutofit/>
          </a:bodyPr>
          <a:lstStyle/>
          <a:p>
            <a:pPr indent="0" lvl="0" marL="0" marR="0" rtl="0" algn="ctr">
              <a:lnSpc>
                <a:spcPct val="85000"/>
              </a:lnSpc>
              <a:spcBef>
                <a:spcPts val="0"/>
              </a:spcBef>
              <a:spcAft>
                <a:spcPts val="0"/>
              </a:spcAft>
              <a:buClr>
                <a:srgbClr val="000000"/>
              </a:buClr>
              <a:buSzPts val="3200"/>
              <a:buFont typeface="Arial"/>
              <a:buNone/>
            </a:pPr>
            <a:r>
              <a:rPr b="0" i="0" lang="en-US" sz="3200" u="none" cap="none" strike="noStrike">
                <a:solidFill>
                  <a:srgbClr val="000000"/>
                </a:solidFill>
                <a:latin typeface="Quattrocento Sans"/>
                <a:ea typeface="Quattrocento Sans"/>
                <a:cs typeface="Quattrocento Sans"/>
                <a:sym typeface="Quattrocento Sans"/>
              </a:rPr>
              <a:t>Your Applications</a:t>
            </a:r>
            <a:endParaRPr b="0" i="0" sz="3200" u="none" cap="none" strike="noStrike">
              <a:solidFill>
                <a:srgbClr val="000000"/>
              </a:solidFill>
              <a:latin typeface="Quattrocento Sans"/>
              <a:ea typeface="Quattrocento Sans"/>
              <a:cs typeface="Quattrocento Sans"/>
              <a:sym typeface="Quattrocento Sans"/>
            </a:endParaRPr>
          </a:p>
        </p:txBody>
      </p:sp>
      <p:pic>
        <p:nvPicPr>
          <p:cNvPr descr="C:\Users\maryfj\Desktop\PDC Visuals\Assets\Strata3D architecture chart\Logos\NET Services\NETServices_h_rgb.png" id="565" name="Google Shape;565;p34"/>
          <p:cNvPicPr preferRelativeResize="0"/>
          <p:nvPr/>
        </p:nvPicPr>
        <p:blipFill rotWithShape="1">
          <a:blip r:embed="rId3">
            <a:alphaModFix/>
          </a:blip>
          <a:srcRect b="0" l="0" r="0" t="0"/>
          <a:stretch/>
        </p:blipFill>
        <p:spPr>
          <a:xfrm>
            <a:off x="457200" y="2733289"/>
            <a:ext cx="2209800" cy="514207"/>
          </a:xfrm>
          <a:prstGeom prst="rect">
            <a:avLst/>
          </a:prstGeom>
          <a:solidFill>
            <a:schemeClr val="lt2"/>
          </a:solidFill>
          <a:ln>
            <a:noFill/>
          </a:ln>
        </p:spPr>
      </p:pic>
      <p:pic>
        <p:nvPicPr>
          <p:cNvPr descr="C:\Users\maryfj\Desktop\PDC Visuals\Assets\Strata3D architecture chart\Logos\SQL Services\SQLServices_h_rgb.png" id="566" name="Google Shape;566;p34"/>
          <p:cNvPicPr preferRelativeResize="0"/>
          <p:nvPr/>
        </p:nvPicPr>
        <p:blipFill rotWithShape="1">
          <a:blip r:embed="rId4">
            <a:alphaModFix/>
          </a:blip>
          <a:srcRect b="0" l="0" r="0" t="0"/>
          <a:stretch/>
        </p:blipFill>
        <p:spPr>
          <a:xfrm>
            <a:off x="3048000" y="2676910"/>
            <a:ext cx="2111330" cy="570586"/>
          </a:xfrm>
          <a:prstGeom prst="rect">
            <a:avLst/>
          </a:prstGeom>
          <a:solidFill>
            <a:schemeClr val="lt2"/>
          </a:solidFill>
          <a:ln>
            <a:noFill/>
          </a:ln>
        </p:spPr>
      </p:pic>
      <p:pic>
        <p:nvPicPr>
          <p:cNvPr descr="LiveServices_h_rgb.png" id="567" name="Google Shape;567;p34"/>
          <p:cNvPicPr preferRelativeResize="0"/>
          <p:nvPr/>
        </p:nvPicPr>
        <p:blipFill rotWithShape="1">
          <a:blip r:embed="rId5">
            <a:alphaModFix/>
          </a:blip>
          <a:srcRect b="0" l="0" r="0" t="0"/>
          <a:stretch/>
        </p:blipFill>
        <p:spPr>
          <a:xfrm>
            <a:off x="5791200" y="2743200"/>
            <a:ext cx="1981200" cy="551980"/>
          </a:xfrm>
          <a:prstGeom prst="rect">
            <a:avLst/>
          </a:prstGeom>
          <a:solidFill>
            <a:schemeClr val="lt2"/>
          </a:solidFill>
          <a:ln>
            <a:noFill/>
          </a:ln>
        </p:spPr>
      </p:pic>
      <p:pic>
        <p:nvPicPr>
          <p:cNvPr descr="WinAzure_h_rgb.png" id="568" name="Google Shape;568;p34"/>
          <p:cNvPicPr preferRelativeResize="0"/>
          <p:nvPr/>
        </p:nvPicPr>
        <p:blipFill rotWithShape="1">
          <a:blip r:embed="rId6">
            <a:alphaModFix/>
          </a:blip>
          <a:srcRect b="0" l="0" r="0" t="0"/>
          <a:stretch/>
        </p:blipFill>
        <p:spPr>
          <a:xfrm>
            <a:off x="5334000" y="5105400"/>
            <a:ext cx="3083124" cy="575965"/>
          </a:xfrm>
          <a:prstGeom prst="rect">
            <a:avLst/>
          </a:prstGeom>
          <a:solidFill>
            <a:schemeClr val="lt2"/>
          </a:solid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June 3, 2008</a:t>
            </a:r>
            <a:endParaRPr>
              <a:latin typeface="Arimo"/>
              <a:ea typeface="Arimo"/>
              <a:cs typeface="Arimo"/>
              <a:sym typeface="Arimo"/>
            </a:endParaRPr>
          </a:p>
        </p:txBody>
      </p:sp>
      <p:sp>
        <p:nvSpPr>
          <p:cNvPr id="574" name="Google Shape;574;p35"/>
          <p:cNvSpPr txBox="1"/>
          <p:nvPr>
            <p:ph idx="12" type="sldNum"/>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SzPts val="1200"/>
              <a:buNone/>
            </a:pPr>
            <a:r>
              <a:rPr lang="en-US" sz="1200">
                <a:solidFill>
                  <a:srgbClr val="888888"/>
                </a:solidFill>
                <a:latin typeface="Calibri"/>
                <a:ea typeface="Calibri"/>
                <a:cs typeface="Calibri"/>
                <a:sym typeface="Calibri"/>
              </a:rPr>
              <a:t>Slide </a:t>
            </a: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Arimo"/>
              <a:ea typeface="Arimo"/>
              <a:cs typeface="Arimo"/>
              <a:sym typeface="Arimo"/>
            </a:endParaRPr>
          </a:p>
        </p:txBody>
      </p:sp>
      <p:sp>
        <p:nvSpPr>
          <p:cNvPr id="575" name="Google Shape;575;p35"/>
          <p:cNvSpPr txBox="1"/>
          <p:nvPr>
            <p:ph idx="11" type="ftr"/>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SzPts val="1400"/>
              <a:buNone/>
            </a:pPr>
            <a:r>
              <a:rPr lang="en-US" sz="1200">
                <a:solidFill>
                  <a:srgbClr val="888888"/>
                </a:solidFill>
                <a:latin typeface="Calibri"/>
                <a:ea typeface="Calibri"/>
                <a:cs typeface="Calibri"/>
                <a:sym typeface="Calibri"/>
              </a:rPr>
              <a:t>Google AppEngine vs. Amazon EC2/S3</a:t>
            </a:r>
            <a:endParaRPr/>
          </a:p>
        </p:txBody>
      </p:sp>
      <p:sp>
        <p:nvSpPr>
          <p:cNvPr id="576" name="Google Shape;576;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59"/>
              <a:buFont typeface="Calibri"/>
              <a:buNone/>
            </a:pPr>
            <a:r>
              <a:rPr lang="en-US" sz="3959"/>
              <a:t>Google’s AppEngine vs Amazon’s EC2</a:t>
            </a:r>
            <a:endParaRPr sz="3959"/>
          </a:p>
        </p:txBody>
      </p:sp>
      <p:sp>
        <p:nvSpPr>
          <p:cNvPr id="577" name="Google Shape;577;p35"/>
          <p:cNvSpPr txBox="1"/>
          <p:nvPr>
            <p:ph idx="1" type="body"/>
          </p:nvPr>
        </p:nvSpPr>
        <p:spPr>
          <a:xfrm>
            <a:off x="685800" y="4114800"/>
            <a:ext cx="3810000" cy="22098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Font typeface="Calibri"/>
              <a:buNone/>
            </a:pPr>
            <a:r>
              <a:rPr lang="en-US" sz="2000"/>
              <a:t>AppEngine:</a:t>
            </a:r>
            <a:endParaRPr/>
          </a:p>
          <a:p>
            <a:pPr indent="-342900" lvl="0" marL="342900" rtl="0" algn="l">
              <a:lnSpc>
                <a:spcPct val="100000"/>
              </a:lnSpc>
              <a:spcBef>
                <a:spcPts val="400"/>
              </a:spcBef>
              <a:spcAft>
                <a:spcPts val="0"/>
              </a:spcAft>
              <a:buClr>
                <a:schemeClr val="dk1"/>
              </a:buClr>
              <a:buSzPts val="2000"/>
              <a:buChar char="•"/>
            </a:pPr>
            <a:r>
              <a:rPr lang="en-US" sz="2000"/>
              <a:t>Higher-level functionality</a:t>
            </a:r>
            <a:br>
              <a:rPr lang="en-US" sz="2000"/>
            </a:br>
            <a:r>
              <a:rPr lang="en-US" sz="2000"/>
              <a:t>(e.g., automatic scaling)</a:t>
            </a:r>
            <a:endParaRPr/>
          </a:p>
          <a:p>
            <a:pPr indent="-342900" lvl="0" marL="342900" rtl="0" algn="l">
              <a:lnSpc>
                <a:spcPct val="100000"/>
              </a:lnSpc>
              <a:spcBef>
                <a:spcPts val="400"/>
              </a:spcBef>
              <a:spcAft>
                <a:spcPts val="0"/>
              </a:spcAft>
              <a:buClr>
                <a:schemeClr val="dk1"/>
              </a:buClr>
              <a:buSzPts val="2000"/>
              <a:buChar char="•"/>
            </a:pPr>
            <a:r>
              <a:rPr lang="en-US" sz="2000"/>
              <a:t>More restrictive</a:t>
            </a:r>
            <a:br>
              <a:rPr lang="en-US" sz="2000"/>
            </a:br>
            <a:r>
              <a:rPr lang="en-US" sz="2000"/>
              <a:t>(e.g., respond to URL only)</a:t>
            </a:r>
            <a:endParaRPr/>
          </a:p>
          <a:p>
            <a:pPr indent="-342900" lvl="0" marL="342900" rtl="0" algn="l">
              <a:lnSpc>
                <a:spcPct val="100000"/>
              </a:lnSpc>
              <a:spcBef>
                <a:spcPts val="400"/>
              </a:spcBef>
              <a:spcAft>
                <a:spcPts val="0"/>
              </a:spcAft>
              <a:buClr>
                <a:schemeClr val="dk1"/>
              </a:buClr>
              <a:buSzPts val="2000"/>
              <a:buChar char="•"/>
            </a:pPr>
            <a:r>
              <a:rPr lang="en-US" sz="2000"/>
              <a:t>Proprietary lock-in</a:t>
            </a:r>
            <a:endParaRPr/>
          </a:p>
        </p:txBody>
      </p:sp>
      <p:sp>
        <p:nvSpPr>
          <p:cNvPr id="578" name="Google Shape;578;p35"/>
          <p:cNvSpPr txBox="1"/>
          <p:nvPr>
            <p:ph idx="2" type="body"/>
          </p:nvPr>
        </p:nvSpPr>
        <p:spPr>
          <a:xfrm>
            <a:off x="4648200" y="4114800"/>
            <a:ext cx="3810000" cy="22098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Font typeface="Calibri"/>
              <a:buNone/>
            </a:pPr>
            <a:r>
              <a:rPr lang="en-US" sz="2000"/>
              <a:t>EC2/S3:</a:t>
            </a:r>
            <a:endParaRPr/>
          </a:p>
          <a:p>
            <a:pPr indent="-342900" lvl="0" marL="342900" rtl="0" algn="l">
              <a:lnSpc>
                <a:spcPct val="100000"/>
              </a:lnSpc>
              <a:spcBef>
                <a:spcPts val="400"/>
              </a:spcBef>
              <a:spcAft>
                <a:spcPts val="0"/>
              </a:spcAft>
              <a:buClr>
                <a:schemeClr val="dk1"/>
              </a:buClr>
              <a:buSzPts val="2000"/>
              <a:buChar char="•"/>
            </a:pPr>
            <a:r>
              <a:rPr lang="en-US" sz="2000"/>
              <a:t>Lower-level functionality</a:t>
            </a:r>
            <a:endParaRPr/>
          </a:p>
          <a:p>
            <a:pPr indent="-342900" lvl="0" marL="342900" rtl="0" algn="l">
              <a:lnSpc>
                <a:spcPct val="100000"/>
              </a:lnSpc>
              <a:spcBef>
                <a:spcPts val="400"/>
              </a:spcBef>
              <a:spcAft>
                <a:spcPts val="0"/>
              </a:spcAft>
              <a:buClr>
                <a:schemeClr val="dk1"/>
              </a:buClr>
              <a:buSzPts val="2000"/>
              <a:buChar char="•"/>
            </a:pPr>
            <a:r>
              <a:rPr lang="en-US" sz="2000"/>
              <a:t>More flexible</a:t>
            </a:r>
            <a:endParaRPr/>
          </a:p>
          <a:p>
            <a:pPr indent="-342900" lvl="0" marL="342900" rtl="0" algn="l">
              <a:lnSpc>
                <a:spcPct val="100000"/>
              </a:lnSpc>
              <a:spcBef>
                <a:spcPts val="400"/>
              </a:spcBef>
              <a:spcAft>
                <a:spcPts val="0"/>
              </a:spcAft>
              <a:buClr>
                <a:schemeClr val="dk1"/>
              </a:buClr>
              <a:buSzPts val="2000"/>
              <a:buChar char="•"/>
            </a:pPr>
            <a:r>
              <a:rPr lang="en-US" sz="2000"/>
              <a:t>Coarser billing model</a:t>
            </a:r>
            <a:endParaRPr/>
          </a:p>
        </p:txBody>
      </p:sp>
      <p:sp>
        <p:nvSpPr>
          <p:cNvPr id="579" name="Google Shape;579;p35"/>
          <p:cNvSpPr/>
          <p:nvPr/>
        </p:nvSpPr>
        <p:spPr>
          <a:xfrm>
            <a:off x="4953000" y="3444875"/>
            <a:ext cx="2971800" cy="381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0" name="Google Shape;580;p35"/>
          <p:cNvSpPr/>
          <p:nvPr/>
        </p:nvSpPr>
        <p:spPr>
          <a:xfrm>
            <a:off x="2057400" y="2225675"/>
            <a:ext cx="914400" cy="16002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p35"/>
          <p:cNvSpPr txBox="1"/>
          <p:nvPr/>
        </p:nvSpPr>
        <p:spPr>
          <a:xfrm>
            <a:off x="5181600" y="2759075"/>
            <a:ext cx="22098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VMs</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Flat File Storage</a:t>
            </a:r>
            <a:endParaRPr b="0" i="0" sz="1400" u="none" cap="none" strike="noStrike">
              <a:solidFill>
                <a:srgbClr val="000000"/>
              </a:solidFill>
              <a:latin typeface="Arial"/>
              <a:ea typeface="Arial"/>
              <a:cs typeface="Arial"/>
              <a:sym typeface="Arial"/>
            </a:endParaRPr>
          </a:p>
        </p:txBody>
      </p:sp>
      <p:sp>
        <p:nvSpPr>
          <p:cNvPr id="582" name="Google Shape;582;p35"/>
          <p:cNvSpPr txBox="1"/>
          <p:nvPr/>
        </p:nvSpPr>
        <p:spPr>
          <a:xfrm>
            <a:off x="1400175" y="1219200"/>
            <a:ext cx="2209800" cy="1006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Python</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BigTable</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Other API’s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2012-01-12T20:50:20Z</dcterms:created>
  <dc:creator>Jin</dc:creator>
</cp:coreProperties>
</file>