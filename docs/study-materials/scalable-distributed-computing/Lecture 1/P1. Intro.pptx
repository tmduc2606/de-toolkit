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g8x9mgtrx20VP4LhuWyg3llj4B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860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7850" lIns="95725" spcFirstLastPara="1" rIns="95725" wrap="square" tIns="47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1860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7850" lIns="95725" spcFirstLastPara="1" rIns="95725" wrap="square" tIns="478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88539d63_0_0:notes"/>
          <p:cNvSpPr/>
          <p:nvPr>
            <p:ph idx="2" type="sldImg"/>
          </p:nvPr>
        </p:nvSpPr>
        <p:spPr>
          <a:xfrm>
            <a:off x="1257300" y="719137"/>
            <a:ext cx="4800600" cy="360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4588539d63_0_0:notes"/>
          <p:cNvSpPr txBox="1"/>
          <p:nvPr>
            <p:ph idx="1" type="body"/>
          </p:nvPr>
        </p:nvSpPr>
        <p:spPr>
          <a:xfrm>
            <a:off x="731837" y="4560887"/>
            <a:ext cx="5851500" cy="4321200"/>
          </a:xfrm>
          <a:prstGeom prst="rect">
            <a:avLst/>
          </a:prstGeom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24588539d63_0_0:notes"/>
          <p:cNvSpPr txBox="1"/>
          <p:nvPr>
            <p:ph idx="12" type="sldNum"/>
          </p:nvPr>
        </p:nvSpPr>
        <p:spPr>
          <a:xfrm>
            <a:off x="4143375" y="9118600"/>
            <a:ext cx="3170100" cy="480900"/>
          </a:xfrm>
          <a:prstGeom prst="rect">
            <a:avLst/>
          </a:prstGeom>
        </p:spPr>
        <p:txBody>
          <a:bodyPr anchorCtr="0" anchor="b" bIns="47850" lIns="95725" spcFirstLastPara="1" rIns="95725" wrap="square" tIns="478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0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25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6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27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8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9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30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3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34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35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36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7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:notes"/>
          <p:cNvSpPr txBox="1"/>
          <p:nvPr/>
        </p:nvSpPr>
        <p:spPr>
          <a:xfrm>
            <a:off x="4143375" y="9118600"/>
            <a:ext cx="3170237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7850" lIns="95725" spcFirstLastPara="1" rIns="95725" wrap="square" tIns="478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8:notes"/>
          <p:cNvSpPr/>
          <p:nvPr>
            <p:ph idx="2" type="sldImg"/>
          </p:nvPr>
        </p:nvSpPr>
        <p:spPr>
          <a:xfrm>
            <a:off x="1257300" y="720725"/>
            <a:ext cx="4800600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38:notes"/>
          <p:cNvSpPr txBox="1"/>
          <p:nvPr>
            <p:ph idx="1" type="body"/>
          </p:nvPr>
        </p:nvSpPr>
        <p:spPr>
          <a:xfrm>
            <a:off x="731837" y="4559300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:notes"/>
          <p:cNvSpPr txBox="1"/>
          <p:nvPr>
            <p:ph idx="1" type="body"/>
          </p:nvPr>
        </p:nvSpPr>
        <p:spPr>
          <a:xfrm>
            <a:off x="731837" y="4560887"/>
            <a:ext cx="5851525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7850" lIns="95725" spcFirstLastPara="1" rIns="95725" wrap="square" tIns="47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39:notes"/>
          <p:cNvSpPr/>
          <p:nvPr>
            <p:ph idx="2" type="sldImg"/>
          </p:nvPr>
        </p:nvSpPr>
        <p:spPr>
          <a:xfrm>
            <a:off x="1257300" y="719137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47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0" name="Google Shape;50;p4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4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4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1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51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51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2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5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watch?v=o_n4AKwdfiA" TargetMode="External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KVOc6369-Lo" TargetMode="External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_aIJV5aQR68" TargetMode="External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304800" y="838200"/>
            <a:ext cx="85344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br>
              <a:rPr b="0" i="0" lang="en-US" sz="5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 Systems: Overview of Design, Implementation and Use of Large Scale Clusters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fun stuff from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Languages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Operating Systems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Programming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a large-scale cluster?</a:t>
            </a:r>
            <a:endParaRPr/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457200" y="1519375"/>
            <a:ext cx="83820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September 2007, Google used 11,081 “machine-years” (roughly, CPU-years) on MapReduce jobs alone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machines were busy 100% of the time (they’re not), and if Google did nothing but run MapReduce jobs (this is in fact a modest proportion of Google’s workload – MapReduce is used to build the index, but not to process the searches), that would be 132,972 machines!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It’s hard to believe they don’t have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1,000,000 machines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rack holds 176 CPUs (88 1U dual-processor boards), so that’s about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6,000 racks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rack requires about 50 square feet (given datacenter cooling capabilities), so that’s about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300,000 square feet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machine room space (more than 6 football fields of real estate – although of course Google divides its machines among dozens of datacenters all over the world)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457200" y="1447800"/>
            <a:ext cx="8178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rack requires about 10kw to power, and about the same to cool, so that’s about 120,000 kw of power, or nearly </a:t>
            </a:r>
            <a:r>
              <a:rPr b="0" i="0" lang="en-US" sz="24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100,000,000 kwh per month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($10 million at $0.10/kwh)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comparison, annual power consumption – around 600M kwh – is equivalent to about 20% of Seattle City Light’s generating capacity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and Yahoo! are in the same business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Amazon.com is in a similar business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Google is a hot star.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406400" y="228600"/>
            <a:ext cx="3175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drowning in users</a:t>
            </a:r>
            <a:endParaRPr/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1450" y="0"/>
            <a:ext cx="51625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406400" y="228600"/>
            <a:ext cx="8509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drowning in data</a:t>
            </a:r>
            <a:endParaRPr/>
          </a:p>
        </p:txBody>
      </p:sp>
      <p:sp>
        <p:nvSpPr>
          <p:cNvPr id="117" name="Google Shape;117;p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web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20+ billion web pages x 20KB = 400+ terabytes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400,000,000,000,000 (that’s a lot of zeroes!)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computer can read 30-35 MB/sec from disk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~four months to read the web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~1,000 hard drives to store the web</a:t>
            </a:r>
            <a:endParaRPr/>
          </a:p>
        </p:txBody>
      </p:sp>
      <p:pic>
        <p:nvPicPr>
          <p:cNvPr descr="isp-1999" id="118" name="Google Shape;1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3970337"/>
            <a:ext cx="3581400" cy="288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~$35B / quarter in the US</a:t>
            </a:r>
            <a:endParaRPr/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733675"/>
            <a:ext cx="8763000" cy="41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 txBox="1"/>
          <p:nvPr/>
        </p:nvSpPr>
        <p:spPr>
          <a:xfrm rot="-5400000">
            <a:off x="-593725" y="4327525"/>
            <a:ext cx="22860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of total retail sales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idx="1" type="body"/>
          </p:nvPr>
        </p:nvSpPr>
        <p:spPr>
          <a:xfrm>
            <a:off x="628650" y="1825625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Point-of-sale terminals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 sequencing machines</a:t>
            </a:r>
            <a:endParaRPr/>
          </a:p>
        </p:txBody>
      </p:sp>
      <p:sp>
        <p:nvSpPr>
          <p:cNvPr id="131" name="Google Shape;131;p9"/>
          <p:cNvSpPr txBox="1"/>
          <p:nvPr>
            <p:ph idx="2" type="body"/>
          </p:nvPr>
        </p:nvSpPr>
        <p:spPr>
          <a:xfrm>
            <a:off x="4629150" y="1825625"/>
            <a:ext cx="38862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telescopes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Hadron Collider</a:t>
            </a:r>
            <a:endParaRPr/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135312"/>
            <a:ext cx="5943600" cy="372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service those users and analyze that data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457200" y="1885950"/>
            <a:ext cx="80010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not only stores (multiple copies of) the web, it handles an average of 3000 searches per second (7 billion searches per month)!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LHC will produce 700 MB of data per second – 60 terabytes per day – 20 petabytes per year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Hopefully they’re going to analyze this data, because it cost $6 billion to build the sucker</a:t>
            </a:r>
            <a:endParaRPr/>
          </a:p>
          <a:p>
            <a:pPr indent="-762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The only hope: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concurrent processing / parallel computing / distributed computing, at enormous scale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5130800" y="1885950"/>
            <a:ext cx="40132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parallel computing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885950"/>
            <a:ext cx="69342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really stupid example:  multiplying two NxN matrices for huge N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C[i,j]  =  sum k=1..N  A[i,k]*B[k,j]</a:t>
            </a:r>
            <a:endParaRPr/>
          </a:p>
        </p:txBody>
      </p:sp>
      <p:sp>
        <p:nvSpPr>
          <p:cNvPr id="146" name="Google Shape;146;p11"/>
          <p:cNvSpPr txBox="1"/>
          <p:nvPr/>
        </p:nvSpPr>
        <p:spPr>
          <a:xfrm>
            <a:off x="838200" y="4191000"/>
            <a:ext cx="1828800" cy="1828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3810000" y="4191000"/>
            <a:ext cx="1828800" cy="1828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6096000" y="4191000"/>
            <a:ext cx="1828800" cy="18288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2057400" y="4572000"/>
            <a:ext cx="152400" cy="152400"/>
          </a:xfrm>
          <a:prstGeom prst="ellipse">
            <a:avLst/>
          </a:prstGeom>
          <a:solidFill>
            <a:srgbClr val="FF00FF"/>
          </a:solidFill>
          <a:ln cap="flat" cmpd="sng" w="254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3810000" y="4572000"/>
            <a:ext cx="1828800" cy="152400"/>
          </a:xfrm>
          <a:prstGeom prst="rect">
            <a:avLst/>
          </a:prstGeom>
          <a:solidFill>
            <a:srgbClr val="FF00FF"/>
          </a:solidFill>
          <a:ln cap="flat" cmpd="sng" w="254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 rot="5400000">
            <a:off x="6553200" y="5029200"/>
            <a:ext cx="1828800" cy="152400"/>
          </a:xfrm>
          <a:prstGeom prst="rect">
            <a:avLst/>
          </a:prstGeom>
          <a:solidFill>
            <a:srgbClr val="FF00FF"/>
          </a:solidFill>
          <a:ln cap="flat" cmpd="sng" w="254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2895600" y="4876800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5486400" y="4876800"/>
            <a:ext cx="685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167000" y="1336075"/>
            <a:ext cx="43434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SIMD (Single instruction, multiple data) / vector processors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programming model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and reliability through hugely expensive components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https://www.youtube.com/watch?v=o_n4AKwdfiA</a:t>
            </a:r>
            <a:r>
              <a:rPr lang="en-US"/>
              <a:t> </a:t>
            </a:r>
            <a:endParaRPr/>
          </a:p>
        </p:txBody>
      </p:sp>
      <p:pic>
        <p:nvPicPr>
          <p:cNvPr id="159" name="Google Shape;1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7875" y="1524025"/>
            <a:ext cx="4419600" cy="4203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idx="1" type="body"/>
          </p:nvPr>
        </p:nvSpPr>
        <p:spPr>
          <a:xfrm>
            <a:off x="457200" y="1885950"/>
            <a:ext cx="54864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MIMD (Multiple instruction, multiple data) / shared-memory multiprocessors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memory programming model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High-performance interconnect providing cache coherence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copy of the OS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CPUs are equally “close” to all memory and disks</a:t>
            </a:r>
            <a:endParaRPr/>
          </a:p>
        </p:txBody>
      </p:sp>
      <p:pic>
        <p:nvPicPr>
          <p:cNvPr id="165" name="Google Shape;1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2150" y="2438400"/>
            <a:ext cx="337185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idx="1" type="body"/>
          </p:nvPr>
        </p:nvSpPr>
        <p:spPr>
          <a:xfrm>
            <a:off x="151725" y="297450"/>
            <a:ext cx="4201500" cy="6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MIMD / message-passing multiprocessors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Message-passing programming model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copies of the OS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High-performance interconnect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Typically, processors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not have local disk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https://www.youtube.com/watch?v=KVOc6369-Lo</a:t>
            </a:r>
            <a:r>
              <a:rPr lang="en-US"/>
              <a:t> 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9600" y="297450"/>
            <a:ext cx="4724401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distributed computing</a:t>
            </a:r>
            <a:endParaRPr/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457200" y="1885950"/>
            <a:ext cx="86868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Client/server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Lots of concurrency, but no attempt to speed up a single app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Cheap hardware; modest inter-machine bandwidth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 via software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scalable</a:t>
            </a:r>
            <a:endParaRPr/>
          </a:p>
        </p:txBody>
      </p:sp>
      <p:pic>
        <p:nvPicPr>
          <p:cNvPr id="178" name="Google Shape;1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2650" y="3979800"/>
            <a:ext cx="5701349" cy="28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talk about reliability</a:t>
            </a:r>
            <a:endParaRPr/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376487"/>
            <a:ext cx="8686800" cy="438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there a middle ground – best of both worlds?</a:t>
            </a:r>
            <a:endParaRPr/>
          </a:p>
        </p:txBody>
      </p:sp>
      <p:sp>
        <p:nvSpPr>
          <p:cNvPr id="190" name="Google Shape;190;p1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Speeds up the solution of extremely large problems/applications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a distributed system structure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scalable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Cheap components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 achieved via software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Modest interconnect bandwidth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programming model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problems that are “embarrassingly parallel”</a:t>
            </a:r>
            <a:endParaRPr/>
          </a:p>
        </p:txBody>
      </p:sp>
      <p:sp>
        <p:nvSpPr>
          <p:cNvPr id="196" name="Google Shape;196;p18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dealing with thousands of independent computers with local memory and local disk (cheesy disks – not even SCSI)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Interconnection bandwidth is significant, but not monstrous – commodity fast Ethernet switches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communication is relatively expensive – the problem must be decomposable into pieces that are pretty much independent of one another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think of some problems that are like this?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4588539d63_0_0"/>
          <p:cNvSpPr txBox="1"/>
          <p:nvPr>
            <p:ph idx="1" type="body"/>
          </p:nvPr>
        </p:nvSpPr>
        <p:spPr>
          <a:xfrm>
            <a:off x="628650" y="5483350"/>
            <a:ext cx="7886700" cy="693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https://www.youtube.com/watch?v=_aIJV5aQR68</a:t>
            </a:r>
            <a:r>
              <a:rPr lang="en-US"/>
              <a:t> </a:t>
            </a:r>
            <a:endParaRPr/>
          </a:p>
        </p:txBody>
      </p:sp>
      <p:pic>
        <p:nvPicPr>
          <p:cNvPr id="203" name="Google Shape;203;g24588539d63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Ray tracing in computer graphics</a:t>
            </a:r>
            <a:endParaRPr/>
          </a:p>
          <a:p>
            <a:pPr indent="-2286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Render a scene by tracing rays from the eye to objects in the scene</a:t>
            </a:r>
            <a:endParaRPr/>
          </a:p>
          <a:p>
            <a:pPr indent="-228600" lvl="2" marL="11430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ray is independent</a:t>
            </a:r>
            <a:endParaRPr/>
          </a:p>
          <a:p>
            <a:pPr indent="-889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a web index</a:t>
            </a:r>
            <a:endParaRPr/>
          </a:p>
          <a:p>
            <a:pPr indent="-2286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of 20+ billion web pages, make a list of the words it contains</a:t>
            </a:r>
            <a:endParaRPr/>
          </a:p>
          <a:p>
            <a:pPr indent="-228600" lvl="1" marL="685800" marR="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 this index – for each of however many words there are, make a list of the web pages on which it appears</a:t>
            </a:r>
            <a:endParaRPr/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2667000"/>
            <a:ext cx="4257675" cy="283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idx="1" type="body"/>
          </p:nvPr>
        </p:nvSpPr>
        <p:spPr>
          <a:xfrm>
            <a:off x="457200" y="786225"/>
            <a:ext cx="8229600" cy="49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Answering a Google search request – a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search request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multiple clusters (of thousands of computers each) all over the world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routes your search to a nearby cluster</a:t>
            </a:r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6700" y="2928437"/>
            <a:ext cx="6248400" cy="313531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2438400" y="4191000"/>
            <a:ext cx="304800" cy="304800"/>
          </a:xfrm>
          <a:prstGeom prst="ellipse">
            <a:avLst/>
          </a:prstGeom>
          <a:solidFill>
            <a:srgbClr val="FF00FF"/>
          </a:solidFill>
          <a:ln cap="flat" cmpd="sng" w="25400">
            <a:solidFill>
              <a:srgbClr val="FF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idx="1" type="body"/>
          </p:nvPr>
        </p:nvSpPr>
        <p:spPr>
          <a:xfrm>
            <a:off x="457200" y="1885950"/>
            <a:ext cx="84582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cluster consists of Google Web Servers, Index Servers, Doc Servers, and various other servers (ads, spell checking, etc.)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cheap standalone computers, rack-mounted, connected by commodity networking gear</a:t>
            </a:r>
            <a:endParaRPr/>
          </a:p>
        </p:txBody>
      </p:sp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281362"/>
            <a:ext cx="6019800" cy="357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457200" y="3200400"/>
            <a:ext cx="817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the cluster, load-balancing routes your search to a lightly-loaded Google Web Server (GWS), which will coordinate the search and response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index is partitioned into “shards.”  Each shard indexes a subset of the docs (web pages).  Each shard can be searched by multiple computers – “index servers”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GWS routes your search to one index server associated with each shard, through another load-balancer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dust has settled, the result is an ID for every doc satisfying your search, rank-ordered by relevance</a:t>
            </a:r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0"/>
            <a:ext cx="52578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idx="1" type="body"/>
          </p:nvPr>
        </p:nvSpPr>
        <p:spPr>
          <a:xfrm>
            <a:off x="457200" y="3200400"/>
            <a:ext cx="817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docs, too, are partitioned into “shards” – the partitioning is a hash on the doc ID.  Each shard contains the full text of a subset of the docs. Each shard can be searched by multiple computers – “doc servers”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GWS sends appropriate doc IDs to one doc server associated with each relevant shard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dust has settled, the result is a URL, a title, and a summary for every relevant doc</a:t>
            </a:r>
            <a:endParaRPr/>
          </a:p>
        </p:txBody>
      </p:sp>
      <p:pic>
        <p:nvPicPr>
          <p:cNvPr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0"/>
            <a:ext cx="52578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457200" y="3200400"/>
            <a:ext cx="8178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Meanwhile, the ad server has done its thing, the spell checker has done its thing, etc.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GWS builds an HTTP response to your search and ships it off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0"/>
            <a:ext cx="52578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type="title"/>
          </p:nvPr>
        </p:nvSpPr>
        <p:spPr>
          <a:xfrm>
            <a:off x="406400" y="228600"/>
            <a:ext cx="8204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hundreds of computers are involved in responding to a single search request</a:t>
            </a:r>
            <a:endParaRPr/>
          </a:p>
        </p:txBody>
      </p:sp>
      <p:sp>
        <p:nvSpPr>
          <p:cNvPr id="251" name="Google Shape;251;p27"/>
          <p:cNvSpPr txBox="1"/>
          <p:nvPr>
            <p:ph idx="1" type="body"/>
          </p:nvPr>
        </p:nvSpPr>
        <p:spPr>
          <a:xfrm>
            <a:off x="457200" y="1885950"/>
            <a:ext cx="86868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must have the following characteristics: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Fault-Tolerant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recover from component failures without performing incorrect actions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Available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restore operations, permitting it to resume providing services even when some components have failed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Recoverable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Failed components can restart themselves and rejoin the system, after the cause of failure has been repaired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Consistent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can coordinate actions by multiple components, often in the presence of concurrency and failure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idx="1" type="body"/>
          </p:nvPr>
        </p:nvSpPr>
        <p:spPr>
          <a:xfrm>
            <a:off x="457200" y="1885950"/>
            <a:ext cx="80010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operate correctly even as some aspect of the system is scaled to a larger size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Predictable Performance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ability to provide desired responsiveness in a timely manner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authenticates access to data and services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idx="1" type="body"/>
          </p:nvPr>
        </p:nvSpPr>
        <p:spPr>
          <a:xfrm>
            <a:off x="457200" y="1885950"/>
            <a:ext cx="80010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also must support a straightforward programming model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Mere mortals must be able to write apps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it must be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cheap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Google rack (176 2-GHz Xeon CPUs, 176 Gbytes of RAM, 7 Tbytes of disk) costs about $300K; 6,000 racks ~ $2B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could easily pay 2x this or more for “more robust” hardware (e.g., high-quality SCSI disks, bleeding-edge CPUs)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if you wanted a “traditional” multiprocessor with very high bisection bandwidth, the cost would be astronomical (and you couldn’t achieve anything like this scale)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0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cannot make any of the following assumptions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are reliable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are homogeneous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It’s correct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 is zero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Bandwidth is infinite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It’s secure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system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Configuration is stable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one administrator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you tell me …</a:t>
            </a:r>
            <a:endParaRPr/>
          </a:p>
        </p:txBody>
      </p:sp>
      <p:sp>
        <p:nvSpPr>
          <p:cNvPr id="272" name="Google Shape;272;p32"/>
          <p:cNvSpPr txBox="1"/>
          <p:nvPr>
            <p:ph idx="1" type="body"/>
          </p:nvPr>
        </p:nvSpPr>
        <p:spPr>
          <a:xfrm>
            <a:off x="457200" y="1885950"/>
            <a:ext cx="7924800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the Google search application achieve those characteristics (fault-tolerant, highly-available, recoverable, scalable, etc.)?</a:t>
            </a:r>
            <a:endParaRPr/>
          </a:p>
        </p:txBody>
      </p:sp>
      <p:pic>
        <p:nvPicPr>
          <p:cNvPr id="273" name="Google Shape;27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3054350"/>
            <a:ext cx="6400800" cy="3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does the Google search application use replication?  Where does it use partitioning?</a:t>
            </a:r>
            <a:endParaRPr/>
          </a:p>
        </p:txBody>
      </p:sp>
      <p:pic>
        <p:nvPicPr>
          <p:cNvPr id="279" name="Google Shape;2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3054350"/>
            <a:ext cx="6400800" cy="38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title"/>
          </p:nvPr>
        </p:nvSpPr>
        <p:spPr>
          <a:xfrm>
            <a:off x="406400" y="228600"/>
            <a:ext cx="873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0" i="0" lang="en-US" sz="4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on earth would you enable mere mortals write hairy applications such as this?</a:t>
            </a:r>
            <a:endParaRPr/>
          </a:p>
        </p:txBody>
      </p:sp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Recognize that many Google applications have the same structure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a “map” operation to each logical record in order to compute a set of intermediate key/value pairs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a “reduce” operation to all the values that share the same key in order to combine the derived data appropriately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 Count the number of occurrences of each word in a large collection of documents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Map:  Emit &lt;word, 1&gt; each time you encounter a word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Reduce:  Sum the values for each word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a runtime library that handles all the details, accepting a couple of customization functions from the user – a Map function and a Reduce function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That’s what MapReduce is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the Google File System and the Chubby lock manager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Augmented by the BigTable not-quite-a-database system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terminology</a:t>
            </a:r>
            <a:endParaRPr/>
          </a:p>
        </p:txBody>
      </p:sp>
      <p:sp>
        <p:nvSpPr>
          <p:cNvPr id="296" name="Google Shape;296;p3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MapReduce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LISP functional programming “Map / Reduce” way of thinking about problem solving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Also, the name of Google’s runtime library supporting this programming paradigm at enormous scale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Hadoop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open source implementation of the MapReduce functionality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Dryad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Microsoft’s version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computing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Computing “out there somewhere” rather than on your desktop or in your datacenter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Gmail, Google Docs, Salesforce.com, etc.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cloud computing takes place at enormous scale, it requires many of the techniques we’ll discuss in this class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 Web Services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commercial service that lets you deploy your own cloud computing applications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Offers computing, storage, database services, etc.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0"/>
            <a:ext cx="6477000" cy="59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907087"/>
            <a:ext cx="6248400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includes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Purchase + replacement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Housing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Instantaneous expansion and contraction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VC-less (or VC-lite) web service companies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focus on your core business, not generic infrastructure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1000 processors for 1 hour costs the same as 1 processor for 1000 hours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Revolutionary!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application doesn’t run decently on this environment?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figuring out how to change that!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2006-04-05T23:24:58Z</dcterms:created>
  <dc:creator>Ed Lazowska</dc:creator>
</cp:coreProperties>
</file>