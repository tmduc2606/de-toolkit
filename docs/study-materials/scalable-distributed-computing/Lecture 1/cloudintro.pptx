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9144000"/>
  <p:notesSz cx="6858000" cy="9144000"/>
  <p:embeddedFontLst>
    <p:embeddedFont>
      <p:font typeface="Quattrocento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3618">
          <p15:clr>
            <a:srgbClr val="000000"/>
          </p15:clr>
        </p15:guide>
      </p15:sldGuideLst>
    </p:ext>
    <p:ext uri="GoogleSlidesCustomDataVersion2">
      <go:slidesCustomData xmlns:go="http://customooxmlschemas.google.com/" r:id="rId31" roundtripDataSignature="AMtx7mjJ9UNjKbRi4BBVmzitIy1Xv4qk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361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QuattrocentoSans-bold.fntdata"/><Relationship Id="rId27" Type="http://schemas.openxmlformats.org/officeDocument/2006/relationships/font" Target="fonts/Quattrocento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QuattrocentoSans-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Quattrocento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1pPr>
            <a:lvl2pPr lvl="1"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2pPr>
            <a:lvl3pPr lvl="2"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3pPr>
            <a:lvl4pPr lvl="3"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4pPr>
            <a:lvl5pPr lvl="4"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5pPr>
            <a:lvl6pPr lvl="5"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6pPr>
            <a:lvl7pPr lvl="6"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7pPr>
            <a:lvl8pPr lvl="7"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8pPr>
            <a:lvl9pPr lvl="8"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2pPr>
            <a:lvl3pPr lvl="2"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3pPr>
            <a:lvl4pPr lvl="3"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4pPr>
            <a:lvl5pPr lvl="4"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5pPr>
            <a:lvl6pPr lvl="5"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6pPr>
            <a:lvl7pPr lvl="6"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7pPr>
            <a:lvl8pPr lvl="7"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8pPr>
            <a:lvl9pPr lvl="8"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1pPr>
            <a:lvl2pPr lvl="1"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2pPr>
            <a:lvl3pPr lvl="2"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3pPr>
            <a:lvl4pPr lvl="3"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4pPr>
            <a:lvl5pPr lvl="4"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5pPr>
            <a:lvl6pPr lvl="5"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6pPr>
            <a:lvl7pPr lvl="6"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7pPr>
            <a:lvl8pPr lvl="7"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8pPr>
            <a:lvl9pPr lvl="8" marR="0" rtl="0" algn="l">
              <a:lnSpc>
                <a:spcPct val="100000"/>
              </a:lnSpc>
              <a:spcBef>
                <a:spcPts val="0"/>
              </a:spcBef>
              <a:spcAft>
                <a:spcPts val="0"/>
              </a:spcAft>
              <a:buSzPts val="1400"/>
              <a:buNone/>
              <a:defRPr b="0" i="0" sz="1800" u="none" cap="none" strike="noStrike">
                <a:solidFill>
                  <a:srgbClr val="000000"/>
                </a:solidFill>
                <a:latin typeface="Quattrocento Sans"/>
                <a:ea typeface="Quattrocento Sans"/>
                <a:cs typeface="Quattrocento Sans"/>
                <a:sym typeface="Quattrocento Sans"/>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 name="Google Shape;2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3" name="Google Shape;5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1" name="Google Shape;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 name="Google Shape;7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1" name="Google Shape;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1" name="Google Shape;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1" name="Google Shape;1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1" name="Google Shape;1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1" name="Google Shape;12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1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458824c39f_0_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458824c39f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2458824c39f_0_22:notes"/>
          <p:cNvSpPr txBox="1"/>
          <p:nvPr>
            <p:ph idx="12" type="sldNum"/>
          </p:nvPr>
        </p:nvSpPr>
        <p:spPr>
          <a:xfrm>
            <a:off x="3884612" y="8685212"/>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8" name="Google Shape;13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7" name="Google Shape;14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6" name="Google Shape;15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5" name="Google Shape;16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4" name="Google Shape;1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2" name="Google Shape;1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0" name="Google Shape;19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8" name="Google Shape;1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 name="Shape 13"/>
        <p:cNvGrpSpPr/>
        <p:nvPr/>
      </p:nvGrpSpPr>
      <p:grpSpPr>
        <a:xfrm>
          <a:off x="0" y="0"/>
          <a:ext cx="0" cy="0"/>
          <a:chOff x="0" y="0"/>
          <a:chExt cx="0" cy="0"/>
        </a:xfrm>
      </p:grpSpPr>
      <p:sp>
        <p:nvSpPr>
          <p:cNvPr id="14" name="Google Shape;14;p21"/>
          <p:cNvSpPr txBox="1"/>
          <p:nvPr>
            <p:ph type="title"/>
          </p:nvPr>
        </p:nvSpPr>
        <p:spPr>
          <a:xfrm>
            <a:off x="303232" y="2484471"/>
            <a:ext cx="4097318" cy="2130561"/>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0" sz="405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9" name="Shape 19"/>
        <p:cNvGrpSpPr/>
        <p:nvPr/>
      </p:nvGrpSpPr>
      <p:grpSpPr>
        <a:xfrm>
          <a:off x="0" y="0"/>
          <a:ext cx="0" cy="0"/>
          <a:chOff x="0" y="0"/>
          <a:chExt cx="0" cy="0"/>
        </a:xfrm>
      </p:grpSpPr>
      <p:sp>
        <p:nvSpPr>
          <p:cNvPr id="20" name="Google Shape;20;p23"/>
          <p:cNvSpPr txBox="1"/>
          <p:nvPr>
            <p:ph idx="1" type="body"/>
          </p:nvPr>
        </p:nvSpPr>
        <p:spPr>
          <a:xfrm>
            <a:off x="337947" y="2560320"/>
            <a:ext cx="7084314" cy="3977640"/>
          </a:xfrm>
          <a:prstGeom prst="rect">
            <a:avLst/>
          </a:prstGeom>
          <a:noFill/>
          <a:ln>
            <a:noFill/>
          </a:ln>
        </p:spPr>
        <p:txBody>
          <a:bodyPr anchorCtr="0" anchor="t" bIns="45700" lIns="91425" spcFirstLastPara="1" rIns="91425" wrap="square" tIns="45700">
            <a:noAutofit/>
          </a:bodyPr>
          <a:lstStyle>
            <a:lvl1pPr indent="-228600" lvl="0" marL="457200" algn="l">
              <a:spcBef>
                <a:spcPts val="750"/>
              </a:spcBef>
              <a:spcAft>
                <a:spcPts val="0"/>
              </a:spcAft>
              <a:buSzPts val="1400"/>
              <a:buNone/>
              <a:defRPr sz="1800">
                <a:solidFill>
                  <a:srgbClr val="3F3F3F"/>
                </a:solidFill>
                <a:latin typeface="Quattrocento Sans"/>
                <a:ea typeface="Quattrocento Sans"/>
                <a:cs typeface="Quattrocento Sans"/>
                <a:sym typeface="Quattrocento Sans"/>
              </a:defRPr>
            </a:lvl1pPr>
            <a:lvl2pPr indent="-285750" lvl="1" marL="914400" algn="l">
              <a:spcBef>
                <a:spcPts val="900"/>
              </a:spcBef>
              <a:spcAft>
                <a:spcPts val="0"/>
              </a:spcAft>
              <a:buClr>
                <a:srgbClr val="3F3F3F"/>
              </a:buClr>
              <a:buSzPts val="900"/>
              <a:buChar char="•"/>
              <a:defRPr sz="900">
                <a:solidFill>
                  <a:srgbClr val="3F3F3F"/>
                </a:solidFill>
                <a:latin typeface="Quattrocento Sans"/>
                <a:ea typeface="Quattrocento Sans"/>
                <a:cs typeface="Quattrocento Sans"/>
                <a:sym typeface="Quattrocento Sans"/>
              </a:defRPr>
            </a:lvl2pPr>
            <a:lvl3pPr indent="-285750" lvl="2" marL="1371600" algn="l">
              <a:spcBef>
                <a:spcPts val="900"/>
              </a:spcBef>
              <a:spcAft>
                <a:spcPts val="0"/>
              </a:spcAft>
              <a:buClr>
                <a:srgbClr val="3F3F3F"/>
              </a:buClr>
              <a:buSzPts val="900"/>
              <a:buChar char="•"/>
              <a:defRPr sz="900">
                <a:solidFill>
                  <a:srgbClr val="3F3F3F"/>
                </a:solidFill>
                <a:latin typeface="Quattrocento Sans"/>
                <a:ea typeface="Quattrocento Sans"/>
                <a:cs typeface="Quattrocento Sans"/>
                <a:sym typeface="Quattrocento Sans"/>
              </a:defRPr>
            </a:lvl3pPr>
            <a:lvl4pPr indent="-285750" lvl="3" marL="1828800" algn="l">
              <a:spcBef>
                <a:spcPts val="900"/>
              </a:spcBef>
              <a:spcAft>
                <a:spcPts val="0"/>
              </a:spcAft>
              <a:buClr>
                <a:srgbClr val="3F3F3F"/>
              </a:buClr>
              <a:buSzPts val="900"/>
              <a:buChar char="•"/>
              <a:defRPr sz="900">
                <a:solidFill>
                  <a:srgbClr val="3F3F3F"/>
                </a:solidFill>
                <a:latin typeface="Quattrocento Sans"/>
                <a:ea typeface="Quattrocento Sans"/>
                <a:cs typeface="Quattrocento Sans"/>
                <a:sym typeface="Quattrocento Sans"/>
              </a:defRPr>
            </a:lvl4pPr>
            <a:lvl5pPr indent="-285750" lvl="4" marL="2286000" algn="l">
              <a:spcBef>
                <a:spcPts val="900"/>
              </a:spcBef>
              <a:spcAft>
                <a:spcPts val="0"/>
              </a:spcAft>
              <a:buClr>
                <a:srgbClr val="3F3F3F"/>
              </a:buClr>
              <a:buSzPts val="900"/>
              <a:buChar char="•"/>
              <a:defRPr sz="900">
                <a:solidFill>
                  <a:srgbClr val="3F3F3F"/>
                </a:solidFill>
                <a:latin typeface="Quattrocento Sans"/>
                <a:ea typeface="Quattrocento Sans"/>
                <a:cs typeface="Quattrocento Sans"/>
                <a:sym typeface="Quattrocento Sans"/>
              </a:defRPr>
            </a:lvl5pPr>
            <a:lvl6pPr indent="-342900" lvl="5" marL="2743200" algn="l">
              <a:lnSpc>
                <a:spcPct val="150000"/>
              </a:lnSpc>
              <a:spcBef>
                <a:spcPts val="900"/>
              </a:spcBef>
              <a:spcAft>
                <a:spcPts val="0"/>
              </a:spcAft>
              <a:buClr>
                <a:schemeClr val="dk1"/>
              </a:buClr>
              <a:buSzPts val="1800"/>
              <a:buChar char="•"/>
              <a:defRPr/>
            </a:lvl6pPr>
            <a:lvl7pPr indent="-342900" lvl="6" marL="3200400" algn="l">
              <a:lnSpc>
                <a:spcPct val="150000"/>
              </a:lnSpc>
              <a:spcBef>
                <a:spcPts val="900"/>
              </a:spcBef>
              <a:spcAft>
                <a:spcPts val="0"/>
              </a:spcAft>
              <a:buClr>
                <a:schemeClr val="dk1"/>
              </a:buClr>
              <a:buSzPts val="1800"/>
              <a:buChar char="•"/>
              <a:defRPr/>
            </a:lvl7pPr>
            <a:lvl8pPr indent="-342900" lvl="7" marL="3657600" algn="l">
              <a:lnSpc>
                <a:spcPct val="150000"/>
              </a:lnSpc>
              <a:spcBef>
                <a:spcPts val="900"/>
              </a:spcBef>
              <a:spcAft>
                <a:spcPts val="0"/>
              </a:spcAft>
              <a:buClr>
                <a:schemeClr val="dk1"/>
              </a:buClr>
              <a:buSzPts val="1800"/>
              <a:buChar char="•"/>
              <a:defRPr/>
            </a:lvl8pPr>
            <a:lvl9pPr indent="-228600" lvl="8" marL="4114800" algn="l">
              <a:lnSpc>
                <a:spcPct val="90000"/>
              </a:lnSpc>
              <a:spcBef>
                <a:spcPts val="900"/>
              </a:spcBef>
              <a:spcAft>
                <a:spcPts val="0"/>
              </a:spcAft>
              <a:buClr>
                <a:schemeClr val="dk1"/>
              </a:buClr>
              <a:buSzPts val="1800"/>
              <a:buNone/>
              <a:defRPr/>
            </a:lvl9pPr>
          </a:lstStyle>
          <a:p/>
        </p:txBody>
      </p:sp>
      <p:sp>
        <p:nvSpPr>
          <p:cNvPr id="21" name="Google Shape;21;p23"/>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Graphical user interface&#10;&#10;Description automatically generated" id="10" name="Google Shape;10;p20"/>
          <p:cNvPicPr preferRelativeResize="0"/>
          <p:nvPr/>
        </p:nvPicPr>
        <p:blipFill rotWithShape="1">
          <a:blip r:embed="rId1">
            <a:alphaModFix/>
          </a:blip>
          <a:srcRect b="0" l="0" r="0" t="0"/>
          <a:stretch/>
        </p:blipFill>
        <p:spPr>
          <a:xfrm>
            <a:off x="190500" y="138112"/>
            <a:ext cx="1776412" cy="868362"/>
          </a:xfrm>
          <a:prstGeom prst="rect">
            <a:avLst/>
          </a:prstGeom>
          <a:noFill/>
          <a:ln>
            <a:noFill/>
          </a:ln>
        </p:spPr>
      </p:pic>
      <p:sp>
        <p:nvSpPr>
          <p:cNvPr id="11" name="Google Shape;11;p20"/>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1pPr>
            <a:lvl2pPr lvl="1"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20"/>
          <p:cNvSpPr txBox="1"/>
          <p:nvPr>
            <p:ph idx="1" type="body"/>
          </p:nvPr>
        </p:nvSpPr>
        <p:spPr>
          <a:xfrm>
            <a:off x="314325" y="1447800"/>
            <a:ext cx="3995737" cy="397827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750"/>
              </a:spcBef>
              <a:spcAft>
                <a:spcPts val="0"/>
              </a:spcAft>
              <a:buSzPts val="1400"/>
              <a:buNone/>
              <a:defRPr b="0" i="0" sz="1000" u="none" cap="none" strike="noStrike">
                <a:solidFill>
                  <a:schemeClr val="dk1"/>
                </a:solidFill>
                <a:latin typeface="Quattrocento Sans"/>
                <a:ea typeface="Quattrocento Sans"/>
                <a:cs typeface="Quattrocento Sans"/>
                <a:sym typeface="Quattrocento Sans"/>
              </a:defRPr>
            </a:lvl1pPr>
            <a:lvl2pPr indent="-292100" lvl="1" marL="914400" marR="0" rtl="0" algn="l">
              <a:spcBef>
                <a:spcPts val="900"/>
              </a:spcBef>
              <a:spcAft>
                <a:spcPts val="0"/>
              </a:spcAft>
              <a:buClr>
                <a:schemeClr val="dk1"/>
              </a:buClr>
              <a:buSzPts val="1000"/>
              <a:buFont typeface="Arial"/>
              <a:buChar char="•"/>
              <a:defRPr b="0" i="0" sz="1000" u="none" cap="none" strike="noStrike">
                <a:solidFill>
                  <a:schemeClr val="dk1"/>
                </a:solidFill>
                <a:latin typeface="Quattrocento Sans"/>
                <a:ea typeface="Quattrocento Sans"/>
                <a:cs typeface="Quattrocento Sans"/>
                <a:sym typeface="Quattrocento Sans"/>
              </a:defRPr>
            </a:lvl2pPr>
            <a:lvl3pPr indent="-292100" lvl="2" marL="1371600" marR="0" rtl="0" algn="l">
              <a:spcBef>
                <a:spcPts val="900"/>
              </a:spcBef>
              <a:spcAft>
                <a:spcPts val="0"/>
              </a:spcAft>
              <a:buClr>
                <a:schemeClr val="dk1"/>
              </a:buClr>
              <a:buSzPts val="1000"/>
              <a:buFont typeface="Arial"/>
              <a:buChar char="•"/>
              <a:defRPr b="0" i="0" sz="1000" u="none" cap="none" strike="noStrike">
                <a:solidFill>
                  <a:schemeClr val="dk1"/>
                </a:solidFill>
                <a:latin typeface="Quattrocento Sans"/>
                <a:ea typeface="Quattrocento Sans"/>
                <a:cs typeface="Quattrocento Sans"/>
                <a:sym typeface="Quattrocento Sans"/>
              </a:defRPr>
            </a:lvl3pPr>
            <a:lvl4pPr indent="-292100" lvl="3" marL="1828800" marR="0" rtl="0" algn="l">
              <a:spcBef>
                <a:spcPts val="900"/>
              </a:spcBef>
              <a:spcAft>
                <a:spcPts val="0"/>
              </a:spcAft>
              <a:buClr>
                <a:schemeClr val="dk1"/>
              </a:buClr>
              <a:buSzPts val="1000"/>
              <a:buFont typeface="Arial"/>
              <a:buChar char="•"/>
              <a:defRPr b="0" i="0" sz="1000" u="none" cap="none" strike="noStrike">
                <a:solidFill>
                  <a:schemeClr val="dk1"/>
                </a:solidFill>
                <a:latin typeface="Quattrocento Sans"/>
                <a:ea typeface="Quattrocento Sans"/>
                <a:cs typeface="Quattrocento Sans"/>
                <a:sym typeface="Quattrocento Sans"/>
              </a:defRPr>
            </a:lvl4pPr>
            <a:lvl5pPr indent="-292100" lvl="4" marL="2286000" marR="0" rtl="0" algn="l">
              <a:spcBef>
                <a:spcPts val="900"/>
              </a:spcBef>
              <a:spcAft>
                <a:spcPts val="0"/>
              </a:spcAft>
              <a:buClr>
                <a:schemeClr val="dk1"/>
              </a:buClr>
              <a:buSzPts val="1000"/>
              <a:buFont typeface="Arial"/>
              <a:buChar char="•"/>
              <a:defRPr b="0" i="0" sz="1000" u="none" cap="none" strike="noStrike">
                <a:solidFill>
                  <a:schemeClr val="dk1"/>
                </a:solidFill>
                <a:latin typeface="Quattrocento Sans"/>
                <a:ea typeface="Quattrocento Sans"/>
                <a:cs typeface="Quattrocento Sans"/>
                <a:sym typeface="Quattrocento Sans"/>
              </a:defRPr>
            </a:lvl5pPr>
            <a:lvl6pPr indent="-285750" lvl="5" marL="2743200" marR="0" rtl="0" algn="l">
              <a:lnSpc>
                <a:spcPct val="150000"/>
              </a:lnSpc>
              <a:spcBef>
                <a:spcPts val="900"/>
              </a:spcBef>
              <a:spcAft>
                <a:spcPts val="0"/>
              </a:spcAft>
              <a:buClr>
                <a:schemeClr val="dk1"/>
              </a:buClr>
              <a:buSzPts val="900"/>
              <a:buFont typeface="Arial"/>
              <a:buChar char="•"/>
              <a:defRPr b="0" i="0" sz="900" u="none" cap="none" strike="noStrike">
                <a:solidFill>
                  <a:schemeClr val="dk1"/>
                </a:solidFill>
                <a:latin typeface="Quattrocento Sans"/>
                <a:ea typeface="Quattrocento Sans"/>
                <a:cs typeface="Quattrocento Sans"/>
                <a:sym typeface="Quattrocento Sans"/>
              </a:defRPr>
            </a:lvl6pPr>
            <a:lvl7pPr indent="-285750" lvl="6" marL="3200400" marR="0" rtl="0" algn="l">
              <a:lnSpc>
                <a:spcPct val="150000"/>
              </a:lnSpc>
              <a:spcBef>
                <a:spcPts val="900"/>
              </a:spcBef>
              <a:spcAft>
                <a:spcPts val="0"/>
              </a:spcAft>
              <a:buClr>
                <a:schemeClr val="dk1"/>
              </a:buClr>
              <a:buSzPts val="900"/>
              <a:buFont typeface="Arial"/>
              <a:buChar char="•"/>
              <a:defRPr b="0" i="0" sz="900" u="none" cap="none" strike="noStrike">
                <a:solidFill>
                  <a:schemeClr val="dk1"/>
                </a:solidFill>
                <a:latin typeface="Quattrocento Sans"/>
                <a:ea typeface="Quattrocento Sans"/>
                <a:cs typeface="Quattrocento Sans"/>
                <a:sym typeface="Quattrocento Sans"/>
              </a:defRPr>
            </a:lvl7pPr>
            <a:lvl8pPr indent="-285750" lvl="7" marL="3657600" marR="0" rtl="0" algn="l">
              <a:lnSpc>
                <a:spcPct val="150000"/>
              </a:lnSpc>
              <a:spcBef>
                <a:spcPts val="900"/>
              </a:spcBef>
              <a:spcAft>
                <a:spcPts val="0"/>
              </a:spcAft>
              <a:buClr>
                <a:schemeClr val="dk1"/>
              </a:buClr>
              <a:buSzPts val="900"/>
              <a:buFont typeface="Arial"/>
              <a:buChar char="•"/>
              <a:defRPr b="0" i="0" sz="900" u="none" cap="none" strike="noStrike">
                <a:solidFill>
                  <a:schemeClr val="dk1"/>
                </a:solidFill>
                <a:latin typeface="Quattrocento Sans"/>
                <a:ea typeface="Quattrocento Sans"/>
                <a:cs typeface="Quattrocento Sans"/>
                <a:sym typeface="Quattrocento Sans"/>
              </a:defRPr>
            </a:lvl8pPr>
            <a:lvl9pPr indent="-228600" lvl="8" marL="4114800" marR="0" rtl="0" algn="l">
              <a:lnSpc>
                <a:spcPct val="90000"/>
              </a:lnSpc>
              <a:spcBef>
                <a:spcPts val="900"/>
              </a:spcBef>
              <a:spcAft>
                <a:spcPts val="0"/>
              </a:spcAft>
              <a:buClr>
                <a:schemeClr val="dk1"/>
              </a:buClr>
              <a:buSzPts val="900"/>
              <a:buFont typeface="Arial"/>
              <a:buNone/>
              <a:defRPr b="0" i="0" sz="900" u="none" cap="none" strike="noStrike">
                <a:solidFill>
                  <a:schemeClr val="dk1"/>
                </a:solidFill>
                <a:latin typeface="Quattrocento Sans"/>
                <a:ea typeface="Quattrocento Sans"/>
                <a:cs typeface="Quattrocento Sans"/>
                <a:sym typeface="Quattrocento Sans"/>
              </a:defRPr>
            </a:lvl9pPr>
          </a:lstStyle>
          <a:p/>
        </p:txBody>
      </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 name="Shape 15"/>
        <p:cNvGrpSpPr/>
        <p:nvPr/>
      </p:nvGrpSpPr>
      <p:grpSpPr>
        <a:xfrm>
          <a:off x="0" y="0"/>
          <a:ext cx="0" cy="0"/>
          <a:chOff x="0" y="0"/>
          <a:chExt cx="0" cy="0"/>
        </a:xfrm>
      </p:grpSpPr>
      <p:cxnSp>
        <p:nvCxnSpPr>
          <p:cNvPr id="16" name="Google Shape;16;p22"/>
          <p:cNvCxnSpPr/>
          <p:nvPr/>
        </p:nvCxnSpPr>
        <p:spPr>
          <a:xfrm>
            <a:off x="400050" y="1104900"/>
            <a:ext cx="8339137" cy="0"/>
          </a:xfrm>
          <a:prstGeom prst="straightConnector1">
            <a:avLst/>
          </a:prstGeom>
          <a:noFill/>
          <a:ln cap="flat" cmpd="sng" w="25400">
            <a:solidFill>
              <a:srgbClr val="D24726"/>
            </a:solidFill>
            <a:prstDash val="solid"/>
            <a:miter lim="800000"/>
            <a:headEnd len="med" w="med" type="none"/>
            <a:tailEnd len="med" w="med" type="none"/>
          </a:ln>
        </p:spPr>
      </p:cxnSp>
      <p:sp>
        <p:nvSpPr>
          <p:cNvPr id="17" name="Google Shape;17;p22"/>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1pPr>
            <a:lvl2pPr lvl="1"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SzPts val="1400"/>
              <a:buNone/>
              <a:defRPr b="0" i="0" sz="2100" u="none" cap="none" strike="noStrike">
                <a:solidFill>
                  <a:schemeClr val="dk1"/>
                </a:solidFill>
                <a:latin typeface="Quattrocento Sans"/>
                <a:ea typeface="Quattrocento Sans"/>
                <a:cs typeface="Quattrocento Sans"/>
                <a:sym typeface="Quattrocento Sans"/>
              </a:defRPr>
            </a:lvl9pPr>
          </a:lstStyle>
          <a:p/>
        </p:txBody>
      </p:sp>
      <p:sp>
        <p:nvSpPr>
          <p:cNvPr id="18" name="Google Shape;18;p22"/>
          <p:cNvSpPr txBox="1"/>
          <p:nvPr>
            <p:ph idx="1" type="body"/>
          </p:nvPr>
        </p:nvSpPr>
        <p:spPr>
          <a:xfrm>
            <a:off x="314325" y="1447800"/>
            <a:ext cx="3995737" cy="397827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750"/>
              </a:spcBef>
              <a:spcAft>
                <a:spcPts val="0"/>
              </a:spcAft>
              <a:buSzPts val="1400"/>
              <a:buNone/>
              <a:defRPr b="0" i="0" sz="1000" u="none" cap="none" strike="noStrike">
                <a:solidFill>
                  <a:schemeClr val="dk1"/>
                </a:solidFill>
                <a:latin typeface="Quattrocento Sans"/>
                <a:ea typeface="Quattrocento Sans"/>
                <a:cs typeface="Quattrocento Sans"/>
                <a:sym typeface="Quattrocento Sans"/>
              </a:defRPr>
            </a:lvl1pPr>
            <a:lvl2pPr indent="-292100" lvl="1" marL="914400" marR="0" rtl="0" algn="l">
              <a:spcBef>
                <a:spcPts val="900"/>
              </a:spcBef>
              <a:spcAft>
                <a:spcPts val="0"/>
              </a:spcAft>
              <a:buClr>
                <a:schemeClr val="dk1"/>
              </a:buClr>
              <a:buSzPts val="1000"/>
              <a:buFont typeface="Arial"/>
              <a:buChar char="•"/>
              <a:defRPr b="0" i="0" sz="1000" u="none" cap="none" strike="noStrike">
                <a:solidFill>
                  <a:schemeClr val="dk1"/>
                </a:solidFill>
                <a:latin typeface="Quattrocento Sans"/>
                <a:ea typeface="Quattrocento Sans"/>
                <a:cs typeface="Quattrocento Sans"/>
                <a:sym typeface="Quattrocento Sans"/>
              </a:defRPr>
            </a:lvl2pPr>
            <a:lvl3pPr indent="-292100" lvl="2" marL="1371600" marR="0" rtl="0" algn="l">
              <a:spcBef>
                <a:spcPts val="900"/>
              </a:spcBef>
              <a:spcAft>
                <a:spcPts val="0"/>
              </a:spcAft>
              <a:buClr>
                <a:schemeClr val="dk1"/>
              </a:buClr>
              <a:buSzPts val="1000"/>
              <a:buFont typeface="Arial"/>
              <a:buChar char="•"/>
              <a:defRPr b="0" i="0" sz="1000" u="none" cap="none" strike="noStrike">
                <a:solidFill>
                  <a:schemeClr val="dk1"/>
                </a:solidFill>
                <a:latin typeface="Quattrocento Sans"/>
                <a:ea typeface="Quattrocento Sans"/>
                <a:cs typeface="Quattrocento Sans"/>
                <a:sym typeface="Quattrocento Sans"/>
              </a:defRPr>
            </a:lvl3pPr>
            <a:lvl4pPr indent="-292100" lvl="3" marL="1828800" marR="0" rtl="0" algn="l">
              <a:spcBef>
                <a:spcPts val="900"/>
              </a:spcBef>
              <a:spcAft>
                <a:spcPts val="0"/>
              </a:spcAft>
              <a:buClr>
                <a:schemeClr val="dk1"/>
              </a:buClr>
              <a:buSzPts val="1000"/>
              <a:buFont typeface="Arial"/>
              <a:buChar char="•"/>
              <a:defRPr b="0" i="0" sz="1000" u="none" cap="none" strike="noStrike">
                <a:solidFill>
                  <a:schemeClr val="dk1"/>
                </a:solidFill>
                <a:latin typeface="Quattrocento Sans"/>
                <a:ea typeface="Quattrocento Sans"/>
                <a:cs typeface="Quattrocento Sans"/>
                <a:sym typeface="Quattrocento Sans"/>
              </a:defRPr>
            </a:lvl4pPr>
            <a:lvl5pPr indent="-292100" lvl="4" marL="2286000" marR="0" rtl="0" algn="l">
              <a:spcBef>
                <a:spcPts val="900"/>
              </a:spcBef>
              <a:spcAft>
                <a:spcPts val="0"/>
              </a:spcAft>
              <a:buClr>
                <a:schemeClr val="dk1"/>
              </a:buClr>
              <a:buSzPts val="1000"/>
              <a:buFont typeface="Arial"/>
              <a:buChar char="•"/>
              <a:defRPr b="0" i="0" sz="1000" u="none" cap="none" strike="noStrike">
                <a:solidFill>
                  <a:schemeClr val="dk1"/>
                </a:solidFill>
                <a:latin typeface="Quattrocento Sans"/>
                <a:ea typeface="Quattrocento Sans"/>
                <a:cs typeface="Quattrocento Sans"/>
                <a:sym typeface="Quattrocento Sans"/>
              </a:defRPr>
            </a:lvl5pPr>
            <a:lvl6pPr indent="-285750" lvl="5" marL="2743200" marR="0" rtl="0" algn="l">
              <a:lnSpc>
                <a:spcPct val="150000"/>
              </a:lnSpc>
              <a:spcBef>
                <a:spcPts val="900"/>
              </a:spcBef>
              <a:spcAft>
                <a:spcPts val="0"/>
              </a:spcAft>
              <a:buClr>
                <a:schemeClr val="dk1"/>
              </a:buClr>
              <a:buSzPts val="900"/>
              <a:buFont typeface="Arial"/>
              <a:buChar char="•"/>
              <a:defRPr b="0" i="0" sz="900" u="none" cap="none" strike="noStrike">
                <a:solidFill>
                  <a:schemeClr val="dk1"/>
                </a:solidFill>
                <a:latin typeface="Quattrocento Sans"/>
                <a:ea typeface="Quattrocento Sans"/>
                <a:cs typeface="Quattrocento Sans"/>
                <a:sym typeface="Quattrocento Sans"/>
              </a:defRPr>
            </a:lvl6pPr>
            <a:lvl7pPr indent="-285750" lvl="6" marL="3200400" marR="0" rtl="0" algn="l">
              <a:lnSpc>
                <a:spcPct val="150000"/>
              </a:lnSpc>
              <a:spcBef>
                <a:spcPts val="900"/>
              </a:spcBef>
              <a:spcAft>
                <a:spcPts val="0"/>
              </a:spcAft>
              <a:buClr>
                <a:schemeClr val="dk1"/>
              </a:buClr>
              <a:buSzPts val="900"/>
              <a:buFont typeface="Arial"/>
              <a:buChar char="•"/>
              <a:defRPr b="0" i="0" sz="900" u="none" cap="none" strike="noStrike">
                <a:solidFill>
                  <a:schemeClr val="dk1"/>
                </a:solidFill>
                <a:latin typeface="Quattrocento Sans"/>
                <a:ea typeface="Quattrocento Sans"/>
                <a:cs typeface="Quattrocento Sans"/>
                <a:sym typeface="Quattrocento Sans"/>
              </a:defRPr>
            </a:lvl7pPr>
            <a:lvl8pPr indent="-285750" lvl="7" marL="3657600" marR="0" rtl="0" algn="l">
              <a:lnSpc>
                <a:spcPct val="150000"/>
              </a:lnSpc>
              <a:spcBef>
                <a:spcPts val="900"/>
              </a:spcBef>
              <a:spcAft>
                <a:spcPts val="0"/>
              </a:spcAft>
              <a:buClr>
                <a:schemeClr val="dk1"/>
              </a:buClr>
              <a:buSzPts val="900"/>
              <a:buFont typeface="Arial"/>
              <a:buChar char="•"/>
              <a:defRPr b="0" i="0" sz="900" u="none" cap="none" strike="noStrike">
                <a:solidFill>
                  <a:schemeClr val="dk1"/>
                </a:solidFill>
                <a:latin typeface="Quattrocento Sans"/>
                <a:ea typeface="Quattrocento Sans"/>
                <a:cs typeface="Quattrocento Sans"/>
                <a:sym typeface="Quattrocento Sans"/>
              </a:defRPr>
            </a:lvl8pPr>
            <a:lvl9pPr indent="-228600" lvl="8" marL="4114800" marR="0" rtl="0" algn="l">
              <a:lnSpc>
                <a:spcPct val="90000"/>
              </a:lnSpc>
              <a:spcBef>
                <a:spcPts val="900"/>
              </a:spcBef>
              <a:spcAft>
                <a:spcPts val="0"/>
              </a:spcAft>
              <a:buClr>
                <a:schemeClr val="dk1"/>
              </a:buClr>
              <a:buSzPts val="900"/>
              <a:buFont typeface="Arial"/>
              <a:buNone/>
              <a:defRPr b="0" i="0" sz="900" u="none" cap="none" strike="noStrike">
                <a:solidFill>
                  <a:schemeClr val="dk1"/>
                </a:solidFill>
                <a:latin typeface="Quattrocento Sans"/>
                <a:ea typeface="Quattrocento Sans"/>
                <a:cs typeface="Quattrocento Sans"/>
                <a:sym typeface="Quattrocento Sans"/>
              </a:defRPr>
            </a:lvl9pPr>
          </a:lstStyle>
          <a:p/>
        </p:txBody>
      </p:sp>
    </p:spTree>
  </p:cSld>
  <p:clrMap accent1="accent1" accent2="accent2" accent3="accent3" accent4="accent4" accent5="accent5" accent6="accent6" bg1="lt1" bg2="dk2" tx1="dk1" tx2="lt2" folHlink="folHlink" hlink="hlink"/>
  <p:sldLayoutIdLst>
    <p:sldLayoutId id="214748365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6" name="Shape 26"/>
        <p:cNvGrpSpPr/>
        <p:nvPr/>
      </p:nvGrpSpPr>
      <p:grpSpPr>
        <a:xfrm>
          <a:off x="0" y="0"/>
          <a:ext cx="0" cy="0"/>
          <a:chOff x="0" y="0"/>
          <a:chExt cx="0" cy="0"/>
        </a:xfrm>
      </p:grpSpPr>
      <p:pic>
        <p:nvPicPr>
          <p:cNvPr descr="Cloud computing illustration by Alex Kiselev on Dribbble" id="27" name="Google Shape;27;p1"/>
          <p:cNvPicPr preferRelativeResize="0"/>
          <p:nvPr/>
        </p:nvPicPr>
        <p:blipFill rotWithShape="1">
          <a:blip r:embed="rId3">
            <a:alphaModFix/>
          </a:blip>
          <a:srcRect b="7355" l="14921" r="13823" t="6750"/>
          <a:stretch/>
        </p:blipFill>
        <p:spPr>
          <a:xfrm>
            <a:off x="4406900" y="1787525"/>
            <a:ext cx="4521200" cy="4087812"/>
          </a:xfrm>
          <a:prstGeom prst="rect">
            <a:avLst/>
          </a:prstGeom>
          <a:noFill/>
          <a:ln>
            <a:noFill/>
          </a:ln>
        </p:spPr>
      </p:pic>
      <p:sp>
        <p:nvSpPr>
          <p:cNvPr id="28" name="Google Shape;28;p1"/>
          <p:cNvSpPr txBox="1"/>
          <p:nvPr>
            <p:ph type="title"/>
          </p:nvPr>
        </p:nvSpPr>
        <p:spPr>
          <a:xfrm>
            <a:off x="712787" y="1704975"/>
            <a:ext cx="5816600" cy="13223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Quattrocento Sans"/>
              <a:buNone/>
            </a:pPr>
            <a:r>
              <a:rPr b="0" i="0" lang="en-US" sz="4000" u="none">
                <a:solidFill>
                  <a:schemeClr val="dk1"/>
                </a:solidFill>
                <a:latin typeface="Quattrocento Sans"/>
                <a:ea typeface="Quattrocento Sans"/>
                <a:cs typeface="Quattrocento Sans"/>
                <a:sym typeface="Quattrocento Sans"/>
              </a:rPr>
              <a:t>Introduction to</a:t>
            </a:r>
            <a:br>
              <a:rPr b="0" i="0" lang="en-US" sz="4000" u="none">
                <a:solidFill>
                  <a:schemeClr val="dk1"/>
                </a:solidFill>
                <a:latin typeface="Quattrocento Sans"/>
                <a:ea typeface="Quattrocento Sans"/>
                <a:cs typeface="Quattrocento Sans"/>
                <a:sym typeface="Quattrocento Sans"/>
              </a:rPr>
            </a:br>
            <a:r>
              <a:rPr b="0" i="0" lang="en-US" sz="4000" u="none">
                <a:solidFill>
                  <a:schemeClr val="dk1"/>
                </a:solidFill>
                <a:latin typeface="Quattrocento Sans"/>
                <a:ea typeface="Quattrocento Sans"/>
                <a:cs typeface="Quattrocento Sans"/>
                <a:sym typeface="Quattrocento Sans"/>
              </a:rPr>
              <a:t>Cloud Computing</a:t>
            </a:r>
            <a:endParaRPr/>
          </a:p>
        </p:txBody>
      </p:sp>
      <p:sp>
        <p:nvSpPr>
          <p:cNvPr id="29" name="Google Shape;29;p1"/>
          <p:cNvSpPr txBox="1"/>
          <p:nvPr/>
        </p:nvSpPr>
        <p:spPr>
          <a:xfrm>
            <a:off x="1333500" y="3043237"/>
            <a:ext cx="4573587" cy="322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F7F7F"/>
              </a:buClr>
              <a:buSzPts val="1500"/>
              <a:buFont typeface="Quattrocento Sans"/>
              <a:buNone/>
            </a:pPr>
            <a:r>
              <a:rPr b="0" i="0" lang="en-US" sz="1500" u="none" cap="none" strike="noStrike">
                <a:solidFill>
                  <a:srgbClr val="7F7F7F"/>
                </a:solidFill>
                <a:latin typeface="Quattrocento Sans"/>
                <a:ea typeface="Quattrocento Sans"/>
                <a:cs typeface="Quattrocento Sans"/>
                <a:sym typeface="Quattrocento Sans"/>
              </a:rPr>
              <a:t>Fundamentals of Cloud Computing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 name="Shape 34"/>
        <p:cNvGrpSpPr/>
        <p:nvPr/>
      </p:nvGrpSpPr>
      <p:grpSpPr>
        <a:xfrm>
          <a:off x="0" y="0"/>
          <a:ext cx="0" cy="0"/>
          <a:chOff x="0" y="0"/>
          <a:chExt cx="0" cy="0"/>
        </a:xfrm>
      </p:grpSpPr>
      <p:pic>
        <p:nvPicPr>
          <p:cNvPr id="35" name="Google Shape;35;p2"/>
          <p:cNvPicPr preferRelativeResize="0"/>
          <p:nvPr/>
        </p:nvPicPr>
        <p:blipFill rotWithShape="1">
          <a:blip r:embed="rId3">
            <a:alphaModFix/>
          </a:blip>
          <a:srcRect b="0" l="0" r="0" t="0"/>
          <a:stretch/>
        </p:blipFill>
        <p:spPr>
          <a:xfrm>
            <a:off x="3605212" y="2493962"/>
            <a:ext cx="5778500" cy="4103687"/>
          </a:xfrm>
          <a:prstGeom prst="rect">
            <a:avLst/>
          </a:prstGeom>
          <a:noFill/>
          <a:ln>
            <a:noFill/>
          </a:ln>
        </p:spPr>
      </p:pic>
      <p:sp>
        <p:nvSpPr>
          <p:cNvPr id="36" name="Google Shape;36;p2"/>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Introduction</a:t>
            </a:r>
            <a:endParaRPr/>
          </a:p>
        </p:txBody>
      </p:sp>
      <p:sp>
        <p:nvSpPr>
          <p:cNvPr id="37" name="Google Shape;37;p2"/>
          <p:cNvSpPr txBox="1"/>
          <p:nvPr/>
        </p:nvSpPr>
        <p:spPr>
          <a:xfrm>
            <a:off x="1101725" y="1452562"/>
            <a:ext cx="3711575" cy="365125"/>
          </a:xfrm>
          <a:prstGeom prst="rect">
            <a:avLst/>
          </a:prstGeom>
          <a:noFill/>
          <a:ln>
            <a:noFill/>
          </a:ln>
        </p:spPr>
        <p:txBody>
          <a:bodyPr anchorCtr="0" anchor="t" bIns="34275" lIns="68575" spcFirstLastPara="1" rIns="68575" wrap="square" tIns="34275">
            <a:noAutofit/>
          </a:bodyPr>
          <a:lstStyle/>
          <a:p>
            <a:pPr indent="0" lvl="0" marL="0" marR="0" rtl="0" algn="l">
              <a:lnSpc>
                <a:spcPct val="81818"/>
              </a:lnSpc>
              <a:spcBef>
                <a:spcPts val="0"/>
              </a:spcBef>
              <a:spcAft>
                <a:spcPts val="0"/>
              </a:spcAft>
              <a:buClr>
                <a:schemeClr val="dk1"/>
              </a:buClr>
              <a:buSzPts val="2200"/>
              <a:buFont typeface="Quattrocento Sans"/>
              <a:buNone/>
            </a:pPr>
            <a:r>
              <a:rPr b="1" i="0" lang="en-US" sz="2200" u="none" cap="none" strike="noStrike">
                <a:solidFill>
                  <a:schemeClr val="dk1"/>
                </a:solidFill>
                <a:latin typeface="Quattrocento Sans"/>
                <a:ea typeface="Quattrocento Sans"/>
                <a:cs typeface="Quattrocento Sans"/>
                <a:sym typeface="Quattrocento Sans"/>
              </a:rPr>
              <a:t>What is cloud computing?</a:t>
            </a:r>
            <a:endParaRPr/>
          </a:p>
        </p:txBody>
      </p:sp>
      <p:sp>
        <p:nvSpPr>
          <p:cNvPr id="38" name="Google Shape;38;p2"/>
          <p:cNvSpPr txBox="1"/>
          <p:nvPr/>
        </p:nvSpPr>
        <p:spPr>
          <a:xfrm>
            <a:off x="1460500" y="1820862"/>
            <a:ext cx="6364287" cy="922337"/>
          </a:xfrm>
          <a:prstGeom prst="rect">
            <a:avLst/>
          </a:prstGeom>
          <a:noFill/>
          <a:ln>
            <a:noFill/>
          </a:ln>
        </p:spPr>
        <p:txBody>
          <a:bodyPr anchorCtr="0" anchor="t" bIns="45700" lIns="91425" spcFirstLastPara="1" rIns="91425" wrap="square" tIns="45700">
            <a:spAutoFit/>
          </a:bodyPr>
          <a:lstStyle/>
          <a:p>
            <a:pPr indent="0" lvl="0" marL="122237" marR="0" rtl="0" algn="l">
              <a:lnSpc>
                <a:spcPct val="100000"/>
              </a:lnSpc>
              <a:spcBef>
                <a:spcPts val="0"/>
              </a:spcBef>
              <a:spcAft>
                <a:spcPts val="0"/>
              </a:spcAft>
              <a:buClr>
                <a:schemeClr val="dk1"/>
              </a:buClr>
              <a:buSzPts val="1800"/>
              <a:buFont typeface="Quattrocento Sans"/>
              <a:buNone/>
            </a:pPr>
            <a:r>
              <a:rPr b="0" i="1" lang="en-US" sz="1800" u="none" cap="none" strike="noStrike">
                <a:solidFill>
                  <a:schemeClr val="dk1"/>
                </a:solidFill>
                <a:latin typeface="Quattrocento Sans"/>
                <a:ea typeface="Quattrocento Sans"/>
                <a:cs typeface="Quattrocento Sans"/>
                <a:sym typeface="Quattrocento Sans"/>
              </a:rPr>
              <a:t>Cloud computing refers to the delivery of computing services over the internet, including storage, processing power, and software applications. </a:t>
            </a:r>
            <a:endParaRPr/>
          </a:p>
        </p:txBody>
      </p:sp>
      <p:pic>
        <p:nvPicPr>
          <p:cNvPr id="39" name="Google Shape;39;p2"/>
          <p:cNvPicPr preferRelativeResize="0"/>
          <p:nvPr/>
        </p:nvPicPr>
        <p:blipFill rotWithShape="1">
          <a:blip r:embed="rId4">
            <a:alphaModFix/>
          </a:blip>
          <a:srcRect b="0" l="0" r="0" t="0"/>
          <a:stretch/>
        </p:blipFill>
        <p:spPr>
          <a:xfrm>
            <a:off x="8686800" y="2286000"/>
            <a:ext cx="431800" cy="3797300"/>
          </a:xfrm>
          <a:prstGeom prst="rect">
            <a:avLst/>
          </a:prstGeom>
          <a:noFill/>
          <a:ln>
            <a:noFill/>
          </a:ln>
        </p:spPr>
      </p:pic>
      <p:sp>
        <p:nvSpPr>
          <p:cNvPr id="40" name="Google Shape;40;p2"/>
          <p:cNvSpPr txBox="1"/>
          <p:nvPr/>
        </p:nvSpPr>
        <p:spPr>
          <a:xfrm>
            <a:off x="1101725" y="3622675"/>
            <a:ext cx="5094287" cy="9239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It allows users to access resources and services on-demand, without the need for physical infrastructure or local servers.</a:t>
            </a:r>
            <a:endParaRPr/>
          </a:p>
        </p:txBody>
      </p:sp>
      <p:pic>
        <p:nvPicPr>
          <p:cNvPr descr="Cloud network connection icon, flat style 14587671 Vector Art at Vecteezy" id="41" name="Google Shape;41;p2"/>
          <p:cNvPicPr preferRelativeResize="0"/>
          <p:nvPr/>
        </p:nvPicPr>
        <p:blipFill rotWithShape="1">
          <a:blip r:embed="rId5">
            <a:alphaModFix/>
          </a:blip>
          <a:srcRect b="18350" l="7779" r="7963" t="17777"/>
          <a:stretch/>
        </p:blipFill>
        <p:spPr>
          <a:xfrm>
            <a:off x="6174377" y="2721918"/>
            <a:ext cx="1940447" cy="147098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 name="Shape 46"/>
        <p:cNvGrpSpPr/>
        <p:nvPr/>
      </p:nvGrpSpPr>
      <p:grpSpPr>
        <a:xfrm>
          <a:off x="0" y="0"/>
          <a:ext cx="0" cy="0"/>
          <a:chOff x="0" y="0"/>
          <a:chExt cx="0" cy="0"/>
        </a:xfrm>
      </p:grpSpPr>
      <p:sp>
        <p:nvSpPr>
          <p:cNvPr id="47" name="Google Shape;47;p3"/>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Characteristics of Cloud Computing</a:t>
            </a:r>
            <a:endParaRPr/>
          </a:p>
        </p:txBody>
      </p:sp>
      <p:sp>
        <p:nvSpPr>
          <p:cNvPr id="48" name="Google Shape;48;p3"/>
          <p:cNvSpPr txBox="1"/>
          <p:nvPr/>
        </p:nvSpPr>
        <p:spPr>
          <a:xfrm>
            <a:off x="1101725" y="1452562"/>
            <a:ext cx="3711575" cy="365125"/>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chemeClr val="dk1"/>
              </a:buClr>
              <a:buSzPts val="1500"/>
              <a:buFont typeface="Quattrocento Sans"/>
              <a:buNone/>
            </a:pPr>
            <a:r>
              <a:rPr b="1" i="0" lang="en-US" sz="1500" u="none" cap="none" strike="noStrike">
                <a:solidFill>
                  <a:schemeClr val="dk1"/>
                </a:solidFill>
                <a:latin typeface="Quattrocento Sans"/>
                <a:ea typeface="Quattrocento Sans"/>
                <a:cs typeface="Quattrocento Sans"/>
                <a:sym typeface="Quattrocento Sans"/>
              </a:rPr>
              <a:t>Key Characteristics of Cloud Computing</a:t>
            </a:r>
            <a:endParaRPr/>
          </a:p>
        </p:txBody>
      </p:sp>
      <p:sp>
        <p:nvSpPr>
          <p:cNvPr id="49" name="Google Shape;49;p3"/>
          <p:cNvSpPr txBox="1"/>
          <p:nvPr/>
        </p:nvSpPr>
        <p:spPr>
          <a:xfrm>
            <a:off x="1357312" y="1787525"/>
            <a:ext cx="6994525" cy="3519487"/>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On-Demand Self-Service: Users can provision resources and services as needed, without requiring human interaction with service providers.</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Broad Network Access: Services are accessible over the internet via standard protocols and devices.</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Resource Pooling: Computing resources are pooled together to serve multiple users, allowing for efficient utilization and scalability.</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Rapid Elasticity: Resources can be scaled up or down quickly to meet changing demands.</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Measured Service: Cloud service usage is measured, monitored, and billed based on actual consumption.</a:t>
            </a:r>
            <a:endParaRPr/>
          </a:p>
        </p:txBody>
      </p:sp>
      <p:pic>
        <p:nvPicPr>
          <p:cNvPr id="50" name="Google Shape;50;p3"/>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sp>
        <p:nvSpPr>
          <p:cNvPr id="56" name="Google Shape;56;p4"/>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Cloud Deployment Models</a:t>
            </a:r>
            <a:endParaRPr/>
          </a:p>
        </p:txBody>
      </p:sp>
      <p:pic>
        <p:nvPicPr>
          <p:cNvPr id="57" name="Google Shape;57;p4"/>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pic>
        <p:nvPicPr>
          <p:cNvPr descr="Cloud Deployment Models PPT | Presentation design template, Powerpoint  presentation, Presentation slides templates" id="58" name="Google Shape;58;p4"/>
          <p:cNvPicPr preferRelativeResize="0"/>
          <p:nvPr/>
        </p:nvPicPr>
        <p:blipFill rotWithShape="1">
          <a:blip r:embed="rId4">
            <a:alphaModFix/>
          </a:blip>
          <a:srcRect b="12877" l="0" r="0" t="15842"/>
          <a:stretch/>
        </p:blipFill>
        <p:spPr>
          <a:xfrm>
            <a:off x="1143000" y="1733005"/>
            <a:ext cx="6858000" cy="3666308"/>
          </a:xfrm>
          <a:prstGeom prst="rect">
            <a:avLst/>
          </a:prstGeom>
          <a:noFill/>
          <a:ln>
            <a:noFill/>
          </a:ln>
          <a:effectLst>
            <a:outerShdw blurRad="190500" rotWithShape="0" algn="tl">
              <a:srgbClr val="000000">
                <a:alpha val="69803"/>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5"/>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Cloud Deployment Models</a:t>
            </a:r>
            <a:endParaRPr/>
          </a:p>
        </p:txBody>
      </p:sp>
      <p:sp>
        <p:nvSpPr>
          <p:cNvPr id="65" name="Google Shape;65;p5"/>
          <p:cNvSpPr txBox="1"/>
          <p:nvPr/>
        </p:nvSpPr>
        <p:spPr>
          <a:xfrm>
            <a:off x="774700" y="1687512"/>
            <a:ext cx="3709987" cy="365125"/>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chemeClr val="dk1"/>
              </a:buClr>
              <a:buSzPts val="1500"/>
              <a:buFont typeface="Quattrocento Sans"/>
              <a:buNone/>
            </a:pPr>
            <a:r>
              <a:rPr b="1" i="0" lang="en-US" sz="1500" u="none" cap="none" strike="noStrike">
                <a:solidFill>
                  <a:schemeClr val="dk1"/>
                </a:solidFill>
                <a:latin typeface="Quattrocento Sans"/>
                <a:ea typeface="Quattrocento Sans"/>
                <a:cs typeface="Quattrocento Sans"/>
                <a:sym typeface="Quattrocento Sans"/>
              </a:rPr>
              <a:t>Public Cloud</a:t>
            </a:r>
            <a:endParaRPr/>
          </a:p>
        </p:txBody>
      </p:sp>
      <p:sp>
        <p:nvSpPr>
          <p:cNvPr id="66" name="Google Shape;66;p5"/>
          <p:cNvSpPr txBox="1"/>
          <p:nvPr/>
        </p:nvSpPr>
        <p:spPr>
          <a:xfrm>
            <a:off x="774700" y="2155825"/>
            <a:ext cx="4121150" cy="2913062"/>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Services are provided over a public network and available to anyone who wants to use them.</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It is a cost-effective option for businesses and individuals looking for scalability and flexibility.</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Public cloud providers, such as AWS, Azure, and GCP, offer a wide range of services accessible to the general public.</a:t>
            </a:r>
            <a:endParaRPr/>
          </a:p>
        </p:txBody>
      </p:sp>
      <p:pic>
        <p:nvPicPr>
          <p:cNvPr id="67" name="Google Shape;67;p5"/>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pic>
        <p:nvPicPr>
          <p:cNvPr descr="Types of Cloud - TAE" id="68" name="Google Shape;68;p5"/>
          <p:cNvPicPr preferRelativeResize="0"/>
          <p:nvPr/>
        </p:nvPicPr>
        <p:blipFill rotWithShape="1">
          <a:blip r:embed="rId4">
            <a:alphaModFix/>
          </a:blip>
          <a:srcRect b="0" l="0" r="0" t="0"/>
          <a:stretch/>
        </p:blipFill>
        <p:spPr>
          <a:xfrm>
            <a:off x="4950976" y="2155992"/>
            <a:ext cx="3797927" cy="29136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6"/>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Cloud Deployment Models</a:t>
            </a:r>
            <a:endParaRPr/>
          </a:p>
        </p:txBody>
      </p:sp>
      <p:sp>
        <p:nvSpPr>
          <p:cNvPr id="75" name="Google Shape;75;p6"/>
          <p:cNvSpPr txBox="1"/>
          <p:nvPr/>
        </p:nvSpPr>
        <p:spPr>
          <a:xfrm>
            <a:off x="774700" y="1687512"/>
            <a:ext cx="3709987" cy="365125"/>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chemeClr val="dk1"/>
              </a:buClr>
              <a:buSzPts val="1500"/>
              <a:buFont typeface="Quattrocento Sans"/>
              <a:buNone/>
            </a:pPr>
            <a:r>
              <a:rPr b="1" i="0" lang="en-US" sz="1500" u="none" cap="none" strike="noStrike">
                <a:solidFill>
                  <a:schemeClr val="dk1"/>
                </a:solidFill>
                <a:latin typeface="Quattrocento Sans"/>
                <a:ea typeface="Quattrocento Sans"/>
                <a:cs typeface="Quattrocento Sans"/>
                <a:sym typeface="Quattrocento Sans"/>
              </a:rPr>
              <a:t>Private Cloud</a:t>
            </a:r>
            <a:endParaRPr/>
          </a:p>
        </p:txBody>
      </p:sp>
      <p:sp>
        <p:nvSpPr>
          <p:cNvPr id="76" name="Google Shape;76;p6"/>
          <p:cNvSpPr txBox="1"/>
          <p:nvPr/>
        </p:nvSpPr>
        <p:spPr>
          <a:xfrm>
            <a:off x="895350" y="2024062"/>
            <a:ext cx="4122737" cy="3467100"/>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Infrastructure is dedicated to a single organization and may be located on-premises or off-premises.</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Private cloud environments are designed to meet specific security, compliance, or performance requirements.</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They offer enhanced control, customization, and privacy but require significant upfront investment.</a:t>
            </a:r>
            <a:endParaRPr/>
          </a:p>
        </p:txBody>
      </p:sp>
      <p:pic>
        <p:nvPicPr>
          <p:cNvPr id="77" name="Google Shape;77;p6"/>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pic>
        <p:nvPicPr>
          <p:cNvPr descr="Private Cloud - javatpoint" id="78" name="Google Shape;78;p6"/>
          <p:cNvPicPr preferRelativeResize="0"/>
          <p:nvPr/>
        </p:nvPicPr>
        <p:blipFill rotWithShape="1">
          <a:blip r:embed="rId4">
            <a:alphaModFix/>
          </a:blip>
          <a:srcRect b="0" l="0" r="0" t="0"/>
          <a:stretch/>
        </p:blipFill>
        <p:spPr>
          <a:xfrm>
            <a:off x="4796164" y="2386149"/>
            <a:ext cx="3908515" cy="31268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7"/>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Cloud Deployment Models</a:t>
            </a:r>
            <a:endParaRPr/>
          </a:p>
        </p:txBody>
      </p:sp>
      <p:sp>
        <p:nvSpPr>
          <p:cNvPr id="85" name="Google Shape;85;p7"/>
          <p:cNvSpPr txBox="1"/>
          <p:nvPr/>
        </p:nvSpPr>
        <p:spPr>
          <a:xfrm>
            <a:off x="774700" y="1687512"/>
            <a:ext cx="3709987" cy="365125"/>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chemeClr val="dk1"/>
              </a:buClr>
              <a:buSzPts val="1500"/>
              <a:buFont typeface="Quattrocento Sans"/>
              <a:buNone/>
            </a:pPr>
            <a:r>
              <a:rPr b="1" i="0" lang="en-US" sz="1500" u="none" cap="none" strike="noStrike">
                <a:solidFill>
                  <a:schemeClr val="dk1"/>
                </a:solidFill>
                <a:latin typeface="Quattrocento Sans"/>
                <a:ea typeface="Quattrocento Sans"/>
                <a:cs typeface="Quattrocento Sans"/>
                <a:sym typeface="Quattrocento Sans"/>
              </a:rPr>
              <a:t>Hybrid Cloud</a:t>
            </a:r>
            <a:endParaRPr/>
          </a:p>
        </p:txBody>
      </p:sp>
      <p:sp>
        <p:nvSpPr>
          <p:cNvPr id="86" name="Google Shape;86;p7"/>
          <p:cNvSpPr txBox="1"/>
          <p:nvPr/>
        </p:nvSpPr>
        <p:spPr>
          <a:xfrm>
            <a:off x="895350" y="2044700"/>
            <a:ext cx="4122737" cy="3467100"/>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Combines public and private cloud environments, allowing for flexibility and data sharing between the two.</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Organizations can leverage the benefits of both public and private clouds, ensuring optimal resource allocation.</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Hybrid cloud deployments enable workload portability and seamless integration between different environments.</a:t>
            </a:r>
            <a:endParaRPr/>
          </a:p>
        </p:txBody>
      </p:sp>
      <p:pic>
        <p:nvPicPr>
          <p:cNvPr id="87" name="Google Shape;87;p7"/>
          <p:cNvPicPr preferRelativeResize="0"/>
          <p:nvPr/>
        </p:nvPicPr>
        <p:blipFill rotWithShape="1">
          <a:blip r:embed="rId3">
            <a:alphaModFix/>
          </a:blip>
          <a:srcRect b="0" l="0" r="0" t="0"/>
          <a:stretch/>
        </p:blipFill>
        <p:spPr>
          <a:xfrm>
            <a:off x="3962400" y="2286000"/>
            <a:ext cx="5156200" cy="4559300"/>
          </a:xfrm>
          <a:prstGeom prst="rect">
            <a:avLst/>
          </a:prstGeom>
          <a:noFill/>
          <a:ln>
            <a:noFill/>
          </a:ln>
        </p:spPr>
      </p:pic>
      <p:pic>
        <p:nvPicPr>
          <p:cNvPr descr="Hybrid Cloud - javatpoint" id="88" name="Google Shape;88;p7"/>
          <p:cNvPicPr preferRelativeResize="0"/>
          <p:nvPr/>
        </p:nvPicPr>
        <p:blipFill rotWithShape="1">
          <a:blip r:embed="rId4">
            <a:alphaModFix/>
          </a:blip>
          <a:srcRect b="0" l="0" r="0" t="0"/>
          <a:stretch/>
        </p:blipFill>
        <p:spPr>
          <a:xfrm>
            <a:off x="4823675" y="2316480"/>
            <a:ext cx="3989399" cy="29239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8"/>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Cloud Deployment Models</a:t>
            </a:r>
            <a:endParaRPr/>
          </a:p>
        </p:txBody>
      </p:sp>
      <p:sp>
        <p:nvSpPr>
          <p:cNvPr id="95" name="Google Shape;95;p8"/>
          <p:cNvSpPr txBox="1"/>
          <p:nvPr/>
        </p:nvSpPr>
        <p:spPr>
          <a:xfrm>
            <a:off x="774700" y="1687512"/>
            <a:ext cx="3709987" cy="365125"/>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chemeClr val="dk1"/>
              </a:buClr>
              <a:buSzPts val="1500"/>
              <a:buFont typeface="Quattrocento Sans"/>
              <a:buNone/>
            </a:pPr>
            <a:r>
              <a:rPr b="1" i="0" lang="en-US" sz="1500" u="none" cap="none" strike="noStrike">
                <a:solidFill>
                  <a:schemeClr val="dk1"/>
                </a:solidFill>
                <a:latin typeface="Quattrocento Sans"/>
                <a:ea typeface="Quattrocento Sans"/>
                <a:cs typeface="Quattrocento Sans"/>
                <a:sym typeface="Quattrocento Sans"/>
              </a:rPr>
              <a:t>Community Cloud</a:t>
            </a:r>
            <a:endParaRPr/>
          </a:p>
        </p:txBody>
      </p:sp>
      <p:sp>
        <p:nvSpPr>
          <p:cNvPr id="96" name="Google Shape;96;p8"/>
          <p:cNvSpPr txBox="1"/>
          <p:nvPr/>
        </p:nvSpPr>
        <p:spPr>
          <a:xfrm>
            <a:off x="895350" y="2052637"/>
            <a:ext cx="4451350" cy="3467100"/>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Community cloud is a deployment model where infrastructure and services are shared among a specific community or group of organizations.</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It caters to the needs of a particular community, such as government agencies, educational institutions, or research organizations.</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Community cloud provides a cost-effective solution while addressing specific requirements and compliance standards of the community.</a:t>
            </a:r>
            <a:endParaRPr/>
          </a:p>
        </p:txBody>
      </p:sp>
      <p:pic>
        <p:nvPicPr>
          <p:cNvPr id="97" name="Google Shape;97;p8"/>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pic>
        <p:nvPicPr>
          <p:cNvPr descr="Community Cloud - javatpoint" id="98" name="Google Shape;98;p8"/>
          <p:cNvPicPr preferRelativeResize="0"/>
          <p:nvPr/>
        </p:nvPicPr>
        <p:blipFill rotWithShape="1">
          <a:blip r:embed="rId4">
            <a:alphaModFix/>
          </a:blip>
          <a:srcRect b="0" l="0" r="0" t="0"/>
          <a:stretch/>
        </p:blipFill>
        <p:spPr>
          <a:xfrm>
            <a:off x="5347062" y="2695474"/>
            <a:ext cx="3383703" cy="24753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pic>
        <p:nvPicPr>
          <p:cNvPr descr="Infrastructure as a Service | IAAS - javatpoint" id="104" name="Google Shape;104;p9"/>
          <p:cNvPicPr preferRelativeResize="0"/>
          <p:nvPr/>
        </p:nvPicPr>
        <p:blipFill rotWithShape="1">
          <a:blip r:embed="rId3">
            <a:alphaModFix/>
          </a:blip>
          <a:srcRect b="0" l="0" r="0" t="0"/>
          <a:stretch/>
        </p:blipFill>
        <p:spPr>
          <a:xfrm>
            <a:off x="5239120" y="2795451"/>
            <a:ext cx="3568807" cy="2194568"/>
          </a:xfrm>
          <a:prstGeom prst="rect">
            <a:avLst/>
          </a:prstGeom>
          <a:noFill/>
          <a:ln>
            <a:noFill/>
          </a:ln>
        </p:spPr>
      </p:pic>
      <p:sp>
        <p:nvSpPr>
          <p:cNvPr id="105" name="Google Shape;105;p9"/>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Service Models</a:t>
            </a:r>
            <a:endParaRPr/>
          </a:p>
        </p:txBody>
      </p:sp>
      <p:sp>
        <p:nvSpPr>
          <p:cNvPr id="106" name="Google Shape;106;p9"/>
          <p:cNvSpPr txBox="1"/>
          <p:nvPr/>
        </p:nvSpPr>
        <p:spPr>
          <a:xfrm>
            <a:off x="774700" y="1687512"/>
            <a:ext cx="3709987" cy="365125"/>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chemeClr val="dk1"/>
              </a:buClr>
              <a:buSzPts val="1500"/>
              <a:buFont typeface="Quattrocento Sans"/>
              <a:buNone/>
            </a:pPr>
            <a:r>
              <a:rPr b="1" i="0" lang="en-US" sz="1500" u="none" cap="none" strike="noStrike">
                <a:solidFill>
                  <a:schemeClr val="dk1"/>
                </a:solidFill>
                <a:latin typeface="Quattrocento Sans"/>
                <a:ea typeface="Quattrocento Sans"/>
                <a:cs typeface="Quattrocento Sans"/>
                <a:sym typeface="Quattrocento Sans"/>
              </a:rPr>
              <a:t>Infrastructure as a Service (IaaS)</a:t>
            </a:r>
            <a:endParaRPr/>
          </a:p>
        </p:txBody>
      </p:sp>
      <p:sp>
        <p:nvSpPr>
          <p:cNvPr id="107" name="Google Shape;107;p9"/>
          <p:cNvSpPr txBox="1"/>
          <p:nvPr/>
        </p:nvSpPr>
        <p:spPr>
          <a:xfrm>
            <a:off x="895350" y="2052637"/>
            <a:ext cx="4451350" cy="3189287"/>
          </a:xfrm>
          <a:prstGeom prst="rect">
            <a:avLst/>
          </a:prstGeom>
          <a:solidFill>
            <a:srgbClr val="F2F2F2"/>
          </a:solidFill>
          <a:ln>
            <a:noFill/>
          </a:ln>
        </p:spPr>
        <p:txBody>
          <a:bodyPr anchorCtr="0" anchor="t" bIns="45700" lIns="91425" spcFirstLastPara="1" rIns="91425" wrap="square" tIns="45700">
            <a:spAutoFit/>
          </a:bodyPr>
          <a:lstStyle/>
          <a:p>
            <a:pPr indent="0" lvl="0" marL="122237" marR="0" rtl="0" algn="l">
              <a:lnSpc>
                <a:spcPct val="100000"/>
              </a:lnSpc>
              <a:spcBef>
                <a:spcPts val="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IaaS provides virtualized computing resources over the internet. Users have control over the operating systems, storage, and networking components. </a:t>
            </a:r>
            <a:endParaRPr/>
          </a:p>
          <a:p>
            <a:pPr indent="0" lvl="0" marL="122237" marR="0" rtl="0" algn="l">
              <a:lnSpc>
                <a:spcPct val="100000"/>
              </a:lnSpc>
              <a:spcBef>
                <a:spcPts val="200"/>
              </a:spcBef>
              <a:spcAft>
                <a:spcPts val="0"/>
              </a:spcAft>
              <a:buClr>
                <a:schemeClr val="dk1"/>
              </a:buClr>
              <a:buSzPts val="1800"/>
              <a:buFont typeface="Quattrocento Sans"/>
              <a:buNone/>
            </a:pPr>
            <a:r>
              <a:t/>
            </a:r>
            <a:endParaRPr b="0" i="0" sz="1800" u="none" cap="none" strike="noStrike">
              <a:solidFill>
                <a:schemeClr val="dk1"/>
              </a:solidFill>
              <a:latin typeface="Quattrocento Sans"/>
              <a:ea typeface="Quattrocento Sans"/>
              <a:cs typeface="Quattrocento Sans"/>
              <a:sym typeface="Quattrocento Sans"/>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They can provision and manage virtual machines (VMs), storage, and networks according to their requirements. Examples of IaaS providers include AWS EC2, Azure Virtual Machines, and Google Compute Engine.</a:t>
            </a:r>
            <a:endParaRPr/>
          </a:p>
        </p:txBody>
      </p:sp>
      <p:pic>
        <p:nvPicPr>
          <p:cNvPr id="108" name="Google Shape;108;p9"/>
          <p:cNvPicPr preferRelativeResize="0"/>
          <p:nvPr/>
        </p:nvPicPr>
        <p:blipFill rotWithShape="1">
          <a:blip r:embed="rId4">
            <a:alphaModFix/>
          </a:blip>
          <a:srcRect b="0" l="0" r="0" t="0"/>
          <a:stretch/>
        </p:blipFill>
        <p:spPr>
          <a:xfrm>
            <a:off x="8686800" y="2286000"/>
            <a:ext cx="431800" cy="3797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10"/>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Service Models</a:t>
            </a:r>
            <a:endParaRPr/>
          </a:p>
        </p:txBody>
      </p:sp>
      <p:sp>
        <p:nvSpPr>
          <p:cNvPr id="115" name="Google Shape;115;p10"/>
          <p:cNvSpPr txBox="1"/>
          <p:nvPr/>
        </p:nvSpPr>
        <p:spPr>
          <a:xfrm>
            <a:off x="774700" y="1687512"/>
            <a:ext cx="3709987" cy="365125"/>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chemeClr val="dk1"/>
              </a:buClr>
              <a:buSzPts val="1500"/>
              <a:buFont typeface="Quattrocento Sans"/>
              <a:buNone/>
            </a:pPr>
            <a:r>
              <a:rPr b="1" i="0" lang="en-US" sz="1500" u="none" cap="none" strike="noStrike">
                <a:solidFill>
                  <a:schemeClr val="dk1"/>
                </a:solidFill>
                <a:latin typeface="Quattrocento Sans"/>
                <a:ea typeface="Quattrocento Sans"/>
                <a:cs typeface="Quattrocento Sans"/>
                <a:sym typeface="Quattrocento Sans"/>
              </a:rPr>
              <a:t>Platform as a Service (PaaS)</a:t>
            </a:r>
            <a:endParaRPr/>
          </a:p>
        </p:txBody>
      </p:sp>
      <p:sp>
        <p:nvSpPr>
          <p:cNvPr id="116" name="Google Shape;116;p10"/>
          <p:cNvSpPr txBox="1"/>
          <p:nvPr/>
        </p:nvSpPr>
        <p:spPr>
          <a:xfrm>
            <a:off x="895350" y="2052637"/>
            <a:ext cx="4451350" cy="4071937"/>
          </a:xfrm>
          <a:prstGeom prst="rect">
            <a:avLst/>
          </a:prstGeom>
          <a:solidFill>
            <a:srgbClr val="F2F2F2"/>
          </a:solidFill>
          <a:ln>
            <a:noFill/>
          </a:ln>
        </p:spPr>
        <p:txBody>
          <a:bodyPr anchorCtr="0" anchor="t" bIns="45700" lIns="91425" spcFirstLastPara="1" rIns="91425" wrap="square" tIns="45700">
            <a:spAutoFit/>
          </a:bodyPr>
          <a:lstStyle/>
          <a:p>
            <a:pPr indent="0" lvl="0" marL="122237" marR="0" rtl="0" algn="l">
              <a:lnSpc>
                <a:spcPct val="100000"/>
              </a:lnSpc>
              <a:spcBef>
                <a:spcPts val="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PaaS offers a platform for developing, testing, and deploying applications.</a:t>
            </a:r>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Users can focus on application development without worrying about infrastructure management.</a:t>
            </a:r>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PaaS providers manage the underlying infrastructure, including servers, storage, and networking.</a:t>
            </a:r>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Developers can leverage pre-configured environments, development frameworks, and deployment tools.</a:t>
            </a:r>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Examples of PaaS providers include Heroku, Google App Engine, and AWS Elastic Beanstalk.</a:t>
            </a:r>
            <a:endParaRPr/>
          </a:p>
        </p:txBody>
      </p:sp>
      <p:pic>
        <p:nvPicPr>
          <p:cNvPr id="117" name="Google Shape;117;p10"/>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pic>
        <p:nvPicPr>
          <p:cNvPr descr="Platform as a Service | PAAS - javatpoint" id="118" name="Google Shape;118;p10"/>
          <p:cNvPicPr preferRelativeResize="0"/>
          <p:nvPr/>
        </p:nvPicPr>
        <p:blipFill rotWithShape="1">
          <a:blip r:embed="rId4">
            <a:alphaModFix/>
          </a:blip>
          <a:srcRect b="0" l="0" r="0" t="0"/>
          <a:stretch/>
        </p:blipFill>
        <p:spPr>
          <a:xfrm>
            <a:off x="5191274" y="2672474"/>
            <a:ext cx="3695280" cy="23562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 name="Shape 123"/>
        <p:cNvGrpSpPr/>
        <p:nvPr/>
      </p:nvGrpSpPr>
      <p:grpSpPr>
        <a:xfrm>
          <a:off x="0" y="0"/>
          <a:ext cx="0" cy="0"/>
          <a:chOff x="0" y="0"/>
          <a:chExt cx="0" cy="0"/>
        </a:xfrm>
      </p:grpSpPr>
      <p:sp>
        <p:nvSpPr>
          <p:cNvPr id="124" name="Google Shape;124;p11"/>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Service Models</a:t>
            </a:r>
            <a:endParaRPr/>
          </a:p>
        </p:txBody>
      </p:sp>
      <p:sp>
        <p:nvSpPr>
          <p:cNvPr id="125" name="Google Shape;125;p11"/>
          <p:cNvSpPr txBox="1"/>
          <p:nvPr/>
        </p:nvSpPr>
        <p:spPr>
          <a:xfrm>
            <a:off x="774700" y="1687512"/>
            <a:ext cx="3709987" cy="365125"/>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chemeClr val="dk1"/>
              </a:buClr>
              <a:buSzPts val="1500"/>
              <a:buFont typeface="Quattrocento Sans"/>
              <a:buNone/>
            </a:pPr>
            <a:r>
              <a:rPr b="1" i="0" lang="en-US" sz="1500" u="none" cap="none" strike="noStrike">
                <a:solidFill>
                  <a:schemeClr val="dk1"/>
                </a:solidFill>
                <a:latin typeface="Quattrocento Sans"/>
                <a:ea typeface="Quattrocento Sans"/>
                <a:cs typeface="Quattrocento Sans"/>
                <a:sym typeface="Quattrocento Sans"/>
              </a:rPr>
              <a:t>Software as a Service (SaaS)</a:t>
            </a:r>
            <a:endParaRPr/>
          </a:p>
        </p:txBody>
      </p:sp>
      <p:sp>
        <p:nvSpPr>
          <p:cNvPr id="126" name="Google Shape;126;p11"/>
          <p:cNvSpPr txBox="1"/>
          <p:nvPr/>
        </p:nvSpPr>
        <p:spPr>
          <a:xfrm>
            <a:off x="895350" y="2052637"/>
            <a:ext cx="4451350" cy="4097337"/>
          </a:xfrm>
          <a:prstGeom prst="rect">
            <a:avLst/>
          </a:prstGeom>
          <a:solidFill>
            <a:srgbClr val="F2F2F2"/>
          </a:solidFill>
          <a:ln>
            <a:noFill/>
          </a:ln>
        </p:spPr>
        <p:txBody>
          <a:bodyPr anchorCtr="0" anchor="t" bIns="45700" lIns="91425" spcFirstLastPara="1" rIns="91425" wrap="square" tIns="45700">
            <a:spAutoFit/>
          </a:bodyPr>
          <a:lstStyle/>
          <a:p>
            <a:pPr indent="0" lvl="0" marL="122237" marR="0" rtl="0" algn="l">
              <a:lnSpc>
                <a:spcPct val="100000"/>
              </a:lnSpc>
              <a:spcBef>
                <a:spcPts val="0"/>
              </a:spcBef>
              <a:spcAft>
                <a:spcPts val="0"/>
              </a:spcAft>
              <a:buClr>
                <a:schemeClr val="dk1"/>
              </a:buClr>
              <a:buSzPts val="1800"/>
              <a:buFont typeface="Quattrocento Sans"/>
              <a:buNone/>
            </a:pPr>
            <a:r>
              <a:t/>
            </a:r>
            <a:endParaRPr b="0" i="0" sz="1800" u="none" cap="none" strike="noStrike">
              <a:solidFill>
                <a:schemeClr val="dk1"/>
              </a:solidFill>
              <a:latin typeface="Quattrocento Sans"/>
              <a:ea typeface="Quattrocento Sans"/>
              <a:cs typeface="Quattrocento Sans"/>
              <a:sym typeface="Quattrocento Sans"/>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SaaS delivers software applications over the internet on a subscription basis.</a:t>
            </a:r>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Users can access and use applications directly through a web browser or APIs.</a:t>
            </a:r>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The provider hosts and manages the underlying infrastructure, application, and data.</a:t>
            </a:r>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Users can typically customize certain aspects of the application to fit their needs.</a:t>
            </a:r>
            <a:endParaRPr/>
          </a:p>
          <a:p>
            <a:pPr indent="0" lvl="0" marL="122237" marR="0" rtl="0" algn="l">
              <a:lnSpc>
                <a:spcPct val="100000"/>
              </a:lnSpc>
              <a:spcBef>
                <a:spcPts val="200"/>
              </a:spcBef>
              <a:spcAft>
                <a:spcPts val="0"/>
              </a:spcAft>
              <a:buClr>
                <a:schemeClr val="dk1"/>
              </a:buClr>
              <a:buSzPts val="18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Examples of SaaS include Salesforce, Microsoft Office 365, and Google Workspace.</a:t>
            </a:r>
            <a:endParaRPr/>
          </a:p>
        </p:txBody>
      </p:sp>
      <p:pic>
        <p:nvPicPr>
          <p:cNvPr id="127" name="Google Shape;127;p11"/>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pic>
        <p:nvPicPr>
          <p:cNvPr descr="Software as a Service | SAAS - javatpoint" id="128" name="Google Shape;128;p11"/>
          <p:cNvPicPr preferRelativeResize="0"/>
          <p:nvPr/>
        </p:nvPicPr>
        <p:blipFill rotWithShape="1">
          <a:blip r:embed="rId4">
            <a:alphaModFix/>
          </a:blip>
          <a:srcRect b="0" l="0" r="0" t="0"/>
          <a:stretch/>
        </p:blipFill>
        <p:spPr>
          <a:xfrm>
            <a:off x="5186081" y="2725980"/>
            <a:ext cx="3675489" cy="22935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2458824c39f_0_22"/>
          <p:cNvSpPr txBox="1"/>
          <p:nvPr>
            <p:ph type="title"/>
          </p:nvPr>
        </p:nvSpPr>
        <p:spPr>
          <a:xfrm>
            <a:off x="333375" y="430212"/>
            <a:ext cx="5248200" cy="639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Service Models</a:t>
            </a:r>
            <a:endParaRPr/>
          </a:p>
        </p:txBody>
      </p:sp>
      <p:pic>
        <p:nvPicPr>
          <p:cNvPr descr="424px-Cloud_Computing_Stack.svg.png" id="135" name="Google Shape;135;g2458824c39f_0_22"/>
          <p:cNvPicPr preferRelativeResize="0"/>
          <p:nvPr/>
        </p:nvPicPr>
        <p:blipFill rotWithShape="1">
          <a:blip r:embed="rId3">
            <a:alphaModFix/>
          </a:blip>
          <a:srcRect b="0" l="0" r="0" t="0"/>
          <a:stretch/>
        </p:blipFill>
        <p:spPr>
          <a:xfrm>
            <a:off x="3093650" y="1353050"/>
            <a:ext cx="3465600" cy="4896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 name="Shape 140"/>
        <p:cNvGrpSpPr/>
        <p:nvPr/>
      </p:nvGrpSpPr>
      <p:grpSpPr>
        <a:xfrm>
          <a:off x="0" y="0"/>
          <a:ext cx="0" cy="0"/>
          <a:chOff x="0" y="0"/>
          <a:chExt cx="0" cy="0"/>
        </a:xfrm>
      </p:grpSpPr>
      <p:pic>
        <p:nvPicPr>
          <p:cNvPr descr="What are the benefits of Cloud Computing | Cloud Computing | ESDS" id="141" name="Google Shape;141;p12"/>
          <p:cNvPicPr preferRelativeResize="0"/>
          <p:nvPr/>
        </p:nvPicPr>
        <p:blipFill rotWithShape="1">
          <a:blip r:embed="rId3">
            <a:alphaModFix/>
          </a:blip>
          <a:srcRect b="0" l="0" r="0" t="0"/>
          <a:stretch/>
        </p:blipFill>
        <p:spPr>
          <a:xfrm>
            <a:off x="1976096" y="3651880"/>
            <a:ext cx="5536335" cy="2896965"/>
          </a:xfrm>
          <a:prstGeom prst="rect">
            <a:avLst/>
          </a:prstGeom>
          <a:noFill/>
          <a:ln>
            <a:noFill/>
          </a:ln>
        </p:spPr>
      </p:pic>
      <p:sp>
        <p:nvSpPr>
          <p:cNvPr id="142" name="Google Shape;142;p12"/>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Benefits of Cloud</a:t>
            </a:r>
            <a:endParaRPr/>
          </a:p>
        </p:txBody>
      </p:sp>
      <p:sp>
        <p:nvSpPr>
          <p:cNvPr id="143" name="Google Shape;143;p12"/>
          <p:cNvSpPr txBox="1"/>
          <p:nvPr/>
        </p:nvSpPr>
        <p:spPr>
          <a:xfrm>
            <a:off x="635000" y="1357312"/>
            <a:ext cx="8027987" cy="2411412"/>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Cost Savings</a:t>
            </a:r>
            <a:r>
              <a:rPr b="0" i="0" lang="en-US" sz="1800" u="none" cap="none" strike="noStrike">
                <a:solidFill>
                  <a:schemeClr val="dk1"/>
                </a:solidFill>
                <a:latin typeface="Quattrocento Sans"/>
                <a:ea typeface="Quattrocento Sans"/>
                <a:cs typeface="Quattrocento Sans"/>
                <a:sym typeface="Quattrocento Sans"/>
              </a:rPr>
              <a:t>: Pay for what you use, with no upfront infrastructure costs.</a:t>
            </a:r>
            <a:endParaRPr/>
          </a:p>
          <a:p>
            <a:pPr indent="-285749" lvl="0" marL="407987" marR="0" rtl="0" algn="l">
              <a:lnSpc>
                <a:spcPct val="100000"/>
              </a:lnSpc>
              <a:spcBef>
                <a:spcPts val="20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Scalability</a:t>
            </a:r>
            <a:r>
              <a:rPr b="0" i="0" lang="en-US" sz="1800" u="none" cap="none" strike="noStrike">
                <a:solidFill>
                  <a:schemeClr val="dk1"/>
                </a:solidFill>
                <a:latin typeface="Quattrocento Sans"/>
                <a:ea typeface="Quattrocento Sans"/>
                <a:cs typeface="Quattrocento Sans"/>
                <a:sym typeface="Quattrocento Sans"/>
              </a:rPr>
              <a:t>: Easily scale resources up or down based on demand.</a:t>
            </a:r>
            <a:endParaRPr/>
          </a:p>
          <a:p>
            <a:pPr indent="-285749" lvl="0" marL="407987" marR="0" rtl="0" algn="l">
              <a:lnSpc>
                <a:spcPct val="100000"/>
              </a:lnSpc>
              <a:spcBef>
                <a:spcPts val="20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Flexibility</a:t>
            </a:r>
            <a:r>
              <a:rPr b="0" i="0" lang="en-US" sz="1800" u="none" cap="none" strike="noStrike">
                <a:solidFill>
                  <a:schemeClr val="dk1"/>
                </a:solidFill>
                <a:latin typeface="Quattrocento Sans"/>
                <a:ea typeface="Quattrocento Sans"/>
                <a:cs typeface="Quattrocento Sans"/>
                <a:sym typeface="Quattrocento Sans"/>
              </a:rPr>
              <a:t>: Access resources and applications from anywhere with an internet connection.</a:t>
            </a:r>
            <a:endParaRPr/>
          </a:p>
          <a:p>
            <a:pPr indent="-285749" lvl="0" marL="407987" marR="0" rtl="0" algn="l">
              <a:lnSpc>
                <a:spcPct val="100000"/>
              </a:lnSpc>
              <a:spcBef>
                <a:spcPts val="20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Reliability</a:t>
            </a:r>
            <a:r>
              <a:rPr b="0" i="0" lang="en-US" sz="1800" u="none" cap="none" strike="noStrike">
                <a:solidFill>
                  <a:schemeClr val="dk1"/>
                </a:solidFill>
                <a:latin typeface="Quattrocento Sans"/>
                <a:ea typeface="Quattrocento Sans"/>
                <a:cs typeface="Quattrocento Sans"/>
                <a:sym typeface="Quattrocento Sans"/>
              </a:rPr>
              <a:t>: Cloud providers typically offer high uptime and data redundancy.</a:t>
            </a:r>
            <a:endParaRPr/>
          </a:p>
          <a:p>
            <a:pPr indent="-285749" lvl="0" marL="407987" marR="0" rtl="0" algn="l">
              <a:lnSpc>
                <a:spcPct val="100000"/>
              </a:lnSpc>
              <a:spcBef>
                <a:spcPts val="20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Collaboration</a:t>
            </a:r>
            <a:r>
              <a:rPr b="0" i="0" lang="en-US" sz="1800" u="none" cap="none" strike="noStrike">
                <a:solidFill>
                  <a:schemeClr val="dk1"/>
                </a:solidFill>
                <a:latin typeface="Quattrocento Sans"/>
                <a:ea typeface="Quattrocento Sans"/>
                <a:cs typeface="Quattrocento Sans"/>
                <a:sym typeface="Quattrocento Sans"/>
              </a:rPr>
              <a:t>: Enable seamless collaboration and data sharing among teams.</a:t>
            </a:r>
            <a:endParaRPr/>
          </a:p>
        </p:txBody>
      </p:sp>
      <p:pic>
        <p:nvPicPr>
          <p:cNvPr id="144" name="Google Shape;144;p12"/>
          <p:cNvPicPr preferRelativeResize="0"/>
          <p:nvPr/>
        </p:nvPicPr>
        <p:blipFill rotWithShape="1">
          <a:blip r:embed="rId4">
            <a:alphaModFix/>
          </a:blip>
          <a:srcRect b="0" l="0" r="0" t="0"/>
          <a:stretch/>
        </p:blipFill>
        <p:spPr>
          <a:xfrm>
            <a:off x="8686800" y="2286000"/>
            <a:ext cx="431800" cy="3797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pic>
        <p:nvPicPr>
          <p:cNvPr descr="The Impact of Cloud Computing on Business Efficiency - Stefanini" id="150" name="Google Shape;150;p13"/>
          <p:cNvPicPr preferRelativeResize="0"/>
          <p:nvPr/>
        </p:nvPicPr>
        <p:blipFill rotWithShape="1">
          <a:blip r:embed="rId3">
            <a:alphaModFix/>
          </a:blip>
          <a:srcRect b="0" l="46343" r="13200" t="0"/>
          <a:stretch/>
        </p:blipFill>
        <p:spPr>
          <a:xfrm>
            <a:off x="2205659" y="4233974"/>
            <a:ext cx="2185850" cy="2532021"/>
          </a:xfrm>
          <a:prstGeom prst="rect">
            <a:avLst/>
          </a:prstGeom>
          <a:noFill/>
          <a:ln>
            <a:noFill/>
          </a:ln>
        </p:spPr>
      </p:pic>
      <p:sp>
        <p:nvSpPr>
          <p:cNvPr id="151" name="Google Shape;151;p13"/>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200"/>
              <a:buFont typeface="Quattrocento Sans"/>
              <a:buNone/>
            </a:pPr>
            <a:r>
              <a:rPr b="0" i="0" lang="en-US" sz="2200" u="none">
                <a:solidFill>
                  <a:schemeClr val="dk1"/>
                </a:solidFill>
                <a:latin typeface="Quattrocento Sans"/>
                <a:ea typeface="Quattrocento Sans"/>
                <a:cs typeface="Quattrocento Sans"/>
                <a:sym typeface="Quattrocento Sans"/>
              </a:rPr>
              <a:t>Common Cloud Computing Use Cases</a:t>
            </a:r>
            <a:endParaRPr/>
          </a:p>
        </p:txBody>
      </p:sp>
      <p:sp>
        <p:nvSpPr>
          <p:cNvPr id="152" name="Google Shape;152;p13"/>
          <p:cNvSpPr txBox="1"/>
          <p:nvPr/>
        </p:nvSpPr>
        <p:spPr>
          <a:xfrm>
            <a:off x="635000" y="1357312"/>
            <a:ext cx="8027987" cy="2965450"/>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Data Storage and Backup</a:t>
            </a:r>
            <a:r>
              <a:rPr b="0" i="0" lang="en-US" sz="1800" u="none" cap="none" strike="noStrike">
                <a:solidFill>
                  <a:schemeClr val="dk1"/>
                </a:solidFill>
                <a:latin typeface="Quattrocento Sans"/>
                <a:ea typeface="Quattrocento Sans"/>
                <a:cs typeface="Quattrocento Sans"/>
                <a:sym typeface="Quattrocento Sans"/>
              </a:rPr>
              <a:t>: Store and back up large amounts of data securely.</a:t>
            </a:r>
            <a:endParaRPr/>
          </a:p>
          <a:p>
            <a:pPr indent="-285749" lvl="0" marL="407987" marR="0" rtl="0" algn="l">
              <a:lnSpc>
                <a:spcPct val="100000"/>
              </a:lnSpc>
              <a:spcBef>
                <a:spcPts val="20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Software Development and Testing</a:t>
            </a:r>
            <a:r>
              <a:rPr b="0" i="0" lang="en-US" sz="1800" u="none" cap="none" strike="noStrike">
                <a:solidFill>
                  <a:schemeClr val="dk1"/>
                </a:solidFill>
                <a:latin typeface="Quattrocento Sans"/>
                <a:ea typeface="Quattrocento Sans"/>
                <a:cs typeface="Quattrocento Sans"/>
                <a:sym typeface="Quattrocento Sans"/>
              </a:rPr>
              <a:t>: Rapidly create and deploy applications in a scalable environment.</a:t>
            </a:r>
            <a:endParaRPr/>
          </a:p>
          <a:p>
            <a:pPr indent="-285749" lvl="0" marL="407987" marR="0" rtl="0" algn="l">
              <a:lnSpc>
                <a:spcPct val="100000"/>
              </a:lnSpc>
              <a:spcBef>
                <a:spcPts val="20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Web and Mobile Applications</a:t>
            </a:r>
            <a:r>
              <a:rPr b="0" i="0" lang="en-US" sz="1800" u="none" cap="none" strike="noStrike">
                <a:solidFill>
                  <a:schemeClr val="dk1"/>
                </a:solidFill>
                <a:latin typeface="Quattrocento Sans"/>
                <a:ea typeface="Quattrocento Sans"/>
                <a:cs typeface="Quattrocento Sans"/>
                <a:sym typeface="Quattrocento Sans"/>
              </a:rPr>
              <a:t>: Host web and mobile applications in the cloud for global accessibility.</a:t>
            </a:r>
            <a:endParaRPr/>
          </a:p>
          <a:p>
            <a:pPr indent="-285749" lvl="0" marL="407987" marR="0" rtl="0" algn="l">
              <a:lnSpc>
                <a:spcPct val="100000"/>
              </a:lnSpc>
              <a:spcBef>
                <a:spcPts val="20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Big Data Analytics</a:t>
            </a:r>
            <a:r>
              <a:rPr b="0" i="0" lang="en-US" sz="1800" u="none" cap="none" strike="noStrike">
                <a:solidFill>
                  <a:schemeClr val="dk1"/>
                </a:solidFill>
                <a:latin typeface="Quattrocento Sans"/>
                <a:ea typeface="Quattrocento Sans"/>
                <a:cs typeface="Quattrocento Sans"/>
                <a:sym typeface="Quattrocento Sans"/>
              </a:rPr>
              <a:t>: Process and analyze vast amounts of data using cloud resources.</a:t>
            </a:r>
            <a:endParaRPr/>
          </a:p>
          <a:p>
            <a:pPr indent="-285749" lvl="0" marL="407987" marR="0" rtl="0" algn="l">
              <a:lnSpc>
                <a:spcPct val="100000"/>
              </a:lnSpc>
              <a:spcBef>
                <a:spcPts val="200"/>
              </a:spcBef>
              <a:spcAft>
                <a:spcPts val="0"/>
              </a:spcAft>
              <a:buClr>
                <a:srgbClr val="0000FF"/>
              </a:buClr>
              <a:buSzPts val="1800"/>
              <a:buFont typeface="Arial"/>
              <a:buChar char="•"/>
            </a:pPr>
            <a:r>
              <a:rPr b="1" i="0" lang="en-US" sz="1800" u="none" cap="none" strike="noStrike">
                <a:solidFill>
                  <a:schemeClr val="dk1"/>
                </a:solidFill>
                <a:latin typeface="Quattrocento Sans"/>
                <a:ea typeface="Quattrocento Sans"/>
                <a:cs typeface="Quattrocento Sans"/>
                <a:sym typeface="Quattrocento Sans"/>
              </a:rPr>
              <a:t>Disaster Recovery</a:t>
            </a:r>
            <a:r>
              <a:rPr b="0" i="0" lang="en-US" sz="1800" u="none" cap="none" strike="noStrike">
                <a:solidFill>
                  <a:schemeClr val="dk1"/>
                </a:solidFill>
                <a:latin typeface="Quattrocento Sans"/>
                <a:ea typeface="Quattrocento Sans"/>
                <a:cs typeface="Quattrocento Sans"/>
                <a:sym typeface="Quattrocento Sans"/>
              </a:rPr>
              <a:t>: Maintain data backups and recovery plans in the cloud for business continuity.</a:t>
            </a:r>
            <a:endParaRPr/>
          </a:p>
        </p:txBody>
      </p:sp>
      <p:pic>
        <p:nvPicPr>
          <p:cNvPr id="153" name="Google Shape;153;p13"/>
          <p:cNvPicPr preferRelativeResize="0"/>
          <p:nvPr/>
        </p:nvPicPr>
        <p:blipFill rotWithShape="1">
          <a:blip r:embed="rId4">
            <a:alphaModFix/>
          </a:blip>
          <a:srcRect b="0" l="0" r="0" t="0"/>
          <a:stretch/>
        </p:blipFill>
        <p:spPr>
          <a:xfrm>
            <a:off x="8686800" y="2286000"/>
            <a:ext cx="431800" cy="3797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14"/>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Cloud Architecture</a:t>
            </a:r>
            <a:endParaRPr/>
          </a:p>
        </p:txBody>
      </p:sp>
      <p:sp>
        <p:nvSpPr>
          <p:cNvPr id="160" name="Google Shape;160;p14"/>
          <p:cNvSpPr txBox="1"/>
          <p:nvPr/>
        </p:nvSpPr>
        <p:spPr>
          <a:xfrm>
            <a:off x="635000" y="1357312"/>
            <a:ext cx="8027987" cy="1806575"/>
          </a:xfrm>
          <a:prstGeom prst="rect">
            <a:avLst/>
          </a:prstGeom>
          <a:solidFill>
            <a:srgbClr val="F2F2F2"/>
          </a:solidFill>
          <a:ln>
            <a:noFill/>
          </a:ln>
        </p:spPr>
        <p:txBody>
          <a:bodyPr anchorCtr="0" anchor="t" bIns="45700" lIns="91425" spcFirstLastPara="1" rIns="91425" wrap="square" tIns="45700">
            <a:spAutoFit/>
          </a:bodyPr>
          <a:lstStyle/>
          <a:p>
            <a:pPr indent="-171449" lvl="0" marL="407987" marR="0" rtl="0" algn="l">
              <a:lnSpc>
                <a:spcPct val="100000"/>
              </a:lnSpc>
              <a:spcBef>
                <a:spcPts val="0"/>
              </a:spcBef>
              <a:spcAft>
                <a:spcPts val="0"/>
              </a:spcAft>
              <a:buClr>
                <a:srgbClr val="0000FF"/>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Cloud architecture refers to the design and structure of cloud computing environments, including the arrangement of components and the relationships between them.</a:t>
            </a:r>
            <a:endParaRPr/>
          </a:p>
          <a:p>
            <a:pPr indent="-285749" lvl="0" marL="407987" marR="0" rtl="0" algn="l">
              <a:lnSpc>
                <a:spcPct val="100000"/>
              </a:lnSpc>
              <a:spcBef>
                <a:spcPts val="200"/>
              </a:spcBef>
              <a:spcAft>
                <a:spcPts val="0"/>
              </a:spcAft>
              <a:buClr>
                <a:srgbClr val="0000FF"/>
              </a:buClr>
              <a:buSzPts val="1800"/>
              <a:buFont typeface="Arial"/>
              <a:buChar char="•"/>
            </a:pPr>
            <a:r>
              <a:rPr b="0" i="0" lang="en-US" sz="1800" u="none" cap="none" strike="noStrike">
                <a:solidFill>
                  <a:schemeClr val="dk1"/>
                </a:solidFill>
                <a:latin typeface="Quattrocento Sans"/>
                <a:ea typeface="Quattrocento Sans"/>
                <a:cs typeface="Quattrocento Sans"/>
                <a:sym typeface="Quattrocento Sans"/>
              </a:rPr>
              <a:t>It involves various elements that work together to deliver cloud services and ensure reliability, scalability, and security.</a:t>
            </a:r>
            <a:endParaRPr/>
          </a:p>
        </p:txBody>
      </p:sp>
      <p:pic>
        <p:nvPicPr>
          <p:cNvPr id="161" name="Google Shape;161;p14"/>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pic>
        <p:nvPicPr>
          <p:cNvPr descr="Cloud Computing Architecture - javatpoint" id="162" name="Google Shape;162;p14"/>
          <p:cNvPicPr preferRelativeResize="0"/>
          <p:nvPr/>
        </p:nvPicPr>
        <p:blipFill rotWithShape="1">
          <a:blip r:embed="rId4">
            <a:alphaModFix/>
          </a:blip>
          <a:srcRect b="0" l="0" r="0" t="8915"/>
          <a:stretch/>
        </p:blipFill>
        <p:spPr>
          <a:xfrm>
            <a:off x="2655887" y="3248025"/>
            <a:ext cx="4467225" cy="317976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7" name="Shape 167"/>
        <p:cNvGrpSpPr/>
        <p:nvPr/>
      </p:nvGrpSpPr>
      <p:grpSpPr>
        <a:xfrm>
          <a:off x="0" y="0"/>
          <a:ext cx="0" cy="0"/>
          <a:chOff x="0" y="0"/>
          <a:chExt cx="0" cy="0"/>
        </a:xfrm>
      </p:grpSpPr>
      <p:sp>
        <p:nvSpPr>
          <p:cNvPr id="168" name="Google Shape;168;p15"/>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Cloud Architecture</a:t>
            </a:r>
            <a:endParaRPr/>
          </a:p>
        </p:txBody>
      </p:sp>
      <p:pic>
        <p:nvPicPr>
          <p:cNvPr id="169" name="Google Shape;169;p15"/>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pic>
        <p:nvPicPr>
          <p:cNvPr id="170" name="Google Shape;170;p15"/>
          <p:cNvPicPr preferRelativeResize="0"/>
          <p:nvPr/>
        </p:nvPicPr>
        <p:blipFill rotWithShape="1">
          <a:blip r:embed="rId4">
            <a:alphaModFix/>
          </a:blip>
          <a:srcRect b="0" l="0" r="0" t="0"/>
          <a:stretch/>
        </p:blipFill>
        <p:spPr>
          <a:xfrm>
            <a:off x="514350" y="2008188"/>
            <a:ext cx="8056563" cy="3835400"/>
          </a:xfrm>
          <a:prstGeom prst="rect">
            <a:avLst/>
          </a:prstGeom>
          <a:noFill/>
          <a:ln>
            <a:noFill/>
          </a:ln>
          <a:effectLst>
            <a:outerShdw blurRad="190500" rotWithShape="0" algn="tl">
              <a:srgbClr val="000000">
                <a:alpha val="69803"/>
              </a:srgbClr>
            </a:outerShdw>
          </a:effectLst>
        </p:spPr>
      </p:pic>
      <p:sp>
        <p:nvSpPr>
          <p:cNvPr id="171" name="Google Shape;171;p15"/>
          <p:cNvSpPr txBox="1"/>
          <p:nvPr/>
        </p:nvSpPr>
        <p:spPr>
          <a:xfrm>
            <a:off x="2782887" y="1465262"/>
            <a:ext cx="3711575" cy="365125"/>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chemeClr val="dk1"/>
              </a:buClr>
              <a:buSzPts val="1500"/>
              <a:buFont typeface="Quattrocento Sans"/>
              <a:buNone/>
            </a:pPr>
            <a:r>
              <a:rPr b="1" i="0" lang="en-US" sz="1500" u="none" cap="none" strike="noStrike">
                <a:solidFill>
                  <a:schemeClr val="dk1"/>
                </a:solidFill>
                <a:latin typeface="Quattrocento Sans"/>
                <a:ea typeface="Quattrocento Sans"/>
                <a:cs typeface="Quattrocento Sans"/>
                <a:sym typeface="Quattrocento Sans"/>
              </a:rPr>
              <a:t>NIST Architecture of Cloud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16"/>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Cloud Architecture</a:t>
            </a:r>
            <a:endParaRPr/>
          </a:p>
        </p:txBody>
      </p:sp>
      <p:sp>
        <p:nvSpPr>
          <p:cNvPr id="178" name="Google Shape;178;p16"/>
          <p:cNvSpPr txBox="1"/>
          <p:nvPr/>
        </p:nvSpPr>
        <p:spPr>
          <a:xfrm>
            <a:off x="635000" y="1357312"/>
            <a:ext cx="8027987" cy="4540250"/>
          </a:xfrm>
          <a:prstGeom prst="rect">
            <a:avLst/>
          </a:prstGeom>
          <a:solidFill>
            <a:srgbClr val="F2F2F2"/>
          </a:solidFill>
          <a:ln>
            <a:noFill/>
          </a:ln>
        </p:spPr>
        <p:txBody>
          <a:bodyPr anchorCtr="0" anchor="t" bIns="45700" lIns="91425" spcFirstLastPara="1" rIns="91425" wrap="square" tIns="45700">
            <a:spAutoFit/>
          </a:bodyPr>
          <a:lstStyle/>
          <a:p>
            <a:pPr indent="-171449" lvl="0" marL="407987" marR="0" rtl="0" algn="l">
              <a:lnSpc>
                <a:spcPct val="100000"/>
              </a:lnSpc>
              <a:spcBef>
                <a:spcPts val="0"/>
              </a:spcBef>
              <a:spcAft>
                <a:spcPts val="0"/>
              </a:spcAft>
              <a:buClr>
                <a:srgbClr val="0000FF"/>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600"/>
              <a:buFont typeface="Arial"/>
              <a:buChar char="•"/>
            </a:pPr>
            <a:r>
              <a:rPr b="1" i="0" lang="en-US" sz="1600" u="none" cap="none" strike="noStrike">
                <a:solidFill>
                  <a:schemeClr val="dk1"/>
                </a:solidFill>
                <a:latin typeface="Quattrocento Sans"/>
                <a:ea typeface="Quattrocento Sans"/>
                <a:cs typeface="Quattrocento Sans"/>
                <a:sym typeface="Quattrocento Sans"/>
              </a:rPr>
              <a:t>Cloud Consumer</a:t>
            </a:r>
            <a:r>
              <a:rPr b="0" i="0" lang="en-US" sz="1600" u="none" cap="none" strike="noStrike">
                <a:solidFill>
                  <a:schemeClr val="dk1"/>
                </a:solidFill>
                <a:latin typeface="Quattrocento Sans"/>
                <a:ea typeface="Quattrocento Sans"/>
                <a:cs typeface="Quattrocento Sans"/>
                <a:sym typeface="Quattrocento Sans"/>
              </a:rPr>
              <a:t>: An individual or organization that engages in a business partnership with Cloud Providers and utilizes their services.</a:t>
            </a:r>
            <a:endParaRPr/>
          </a:p>
          <a:p>
            <a:pPr indent="-184149" lvl="0" marL="407987" marR="0" rtl="0" algn="l">
              <a:lnSpc>
                <a:spcPct val="100000"/>
              </a:lnSpc>
              <a:spcBef>
                <a:spcPts val="200"/>
              </a:spcBef>
              <a:spcAft>
                <a:spcPts val="0"/>
              </a:spcAft>
              <a:buClr>
                <a:srgbClr val="0000FF"/>
              </a:buClr>
              <a:buSzPts val="1600"/>
              <a:buFont typeface="Arial"/>
              <a:buNone/>
            </a:pPr>
            <a:r>
              <a:t/>
            </a:r>
            <a:endParaRPr b="0" i="0" sz="16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600"/>
              <a:buFont typeface="Arial"/>
              <a:buChar char="•"/>
            </a:pPr>
            <a:r>
              <a:rPr b="1" i="0" lang="en-US" sz="1600" u="none" cap="none" strike="noStrike">
                <a:solidFill>
                  <a:schemeClr val="dk1"/>
                </a:solidFill>
                <a:latin typeface="Quattrocento Sans"/>
                <a:ea typeface="Quattrocento Sans"/>
                <a:cs typeface="Quattrocento Sans"/>
                <a:sym typeface="Quattrocento Sans"/>
              </a:rPr>
              <a:t>Cloud Provider</a:t>
            </a:r>
            <a:r>
              <a:rPr b="0" i="0" lang="en-US" sz="1600" u="none" cap="none" strike="noStrike">
                <a:solidFill>
                  <a:schemeClr val="dk1"/>
                </a:solidFill>
                <a:latin typeface="Quattrocento Sans"/>
                <a:ea typeface="Quattrocento Sans"/>
                <a:cs typeface="Quattrocento Sans"/>
                <a:sym typeface="Quattrocento Sans"/>
              </a:rPr>
              <a:t>: A person, organization, or entity that is accountable for offering services to individuals or entities who are interested in them.</a:t>
            </a:r>
            <a:endParaRPr/>
          </a:p>
          <a:p>
            <a:pPr indent="-184149" lvl="0" marL="407987" marR="0" rtl="0" algn="l">
              <a:lnSpc>
                <a:spcPct val="100000"/>
              </a:lnSpc>
              <a:spcBef>
                <a:spcPts val="200"/>
              </a:spcBef>
              <a:spcAft>
                <a:spcPts val="0"/>
              </a:spcAft>
              <a:buClr>
                <a:srgbClr val="0000FF"/>
              </a:buClr>
              <a:buSzPts val="1600"/>
              <a:buFont typeface="Arial"/>
              <a:buNone/>
            </a:pPr>
            <a:r>
              <a:t/>
            </a:r>
            <a:endParaRPr b="0" i="0" sz="16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600"/>
              <a:buFont typeface="Arial"/>
              <a:buChar char="•"/>
            </a:pPr>
            <a:r>
              <a:rPr b="1" i="0" lang="en-US" sz="1600" u="none" cap="none" strike="noStrike">
                <a:solidFill>
                  <a:schemeClr val="dk1"/>
                </a:solidFill>
                <a:latin typeface="Quattrocento Sans"/>
                <a:ea typeface="Quattrocento Sans"/>
                <a:cs typeface="Quattrocento Sans"/>
                <a:sym typeface="Quattrocento Sans"/>
              </a:rPr>
              <a:t>Cloud Auditor</a:t>
            </a:r>
            <a:r>
              <a:rPr b="0" i="0" lang="en-US" sz="1600" u="none" cap="none" strike="noStrike">
                <a:solidFill>
                  <a:schemeClr val="dk1"/>
                </a:solidFill>
                <a:latin typeface="Quattrocento Sans"/>
                <a:ea typeface="Quattrocento Sans"/>
                <a:cs typeface="Quattrocento Sans"/>
                <a:sym typeface="Quattrocento Sans"/>
              </a:rPr>
              <a:t>: A party capable of conducting an impartial evaluation of cloud services, as well as assessing the performance, security, and operations of the cloud implementation.</a:t>
            </a:r>
            <a:endParaRPr/>
          </a:p>
          <a:p>
            <a:pPr indent="-184149" lvl="0" marL="407987" marR="0" rtl="0" algn="l">
              <a:lnSpc>
                <a:spcPct val="100000"/>
              </a:lnSpc>
              <a:spcBef>
                <a:spcPts val="200"/>
              </a:spcBef>
              <a:spcAft>
                <a:spcPts val="0"/>
              </a:spcAft>
              <a:buClr>
                <a:srgbClr val="0000FF"/>
              </a:buClr>
              <a:buSzPts val="1600"/>
              <a:buFont typeface="Arial"/>
              <a:buNone/>
            </a:pPr>
            <a:r>
              <a:t/>
            </a:r>
            <a:endParaRPr b="0" i="0" sz="16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600"/>
              <a:buFont typeface="Arial"/>
              <a:buChar char="•"/>
            </a:pPr>
            <a:r>
              <a:rPr b="1" i="0" lang="en-US" sz="1600" u="none" cap="none" strike="noStrike">
                <a:solidFill>
                  <a:schemeClr val="dk1"/>
                </a:solidFill>
                <a:latin typeface="Quattrocento Sans"/>
                <a:ea typeface="Quattrocento Sans"/>
                <a:cs typeface="Quattrocento Sans"/>
                <a:sym typeface="Quattrocento Sans"/>
              </a:rPr>
              <a:t>Cloud Broker</a:t>
            </a:r>
            <a:r>
              <a:rPr b="0" i="0" lang="en-US" sz="1600" u="none" cap="none" strike="noStrike">
                <a:solidFill>
                  <a:schemeClr val="dk1"/>
                </a:solidFill>
                <a:latin typeface="Quattrocento Sans"/>
                <a:ea typeface="Quattrocento Sans"/>
                <a:cs typeface="Quattrocento Sans"/>
                <a:sym typeface="Quattrocento Sans"/>
              </a:rPr>
              <a:t>: An entity responsible for managing the utilization, performance, and delivery of cloud services. Additionally, they act as mediators between Cloud Providers and Cloud Consumers, negotiating relationships between the two parties.</a:t>
            </a:r>
            <a:endParaRPr/>
          </a:p>
          <a:p>
            <a:pPr indent="-184149" lvl="0" marL="407987" marR="0" rtl="0" algn="l">
              <a:lnSpc>
                <a:spcPct val="100000"/>
              </a:lnSpc>
              <a:spcBef>
                <a:spcPts val="200"/>
              </a:spcBef>
              <a:spcAft>
                <a:spcPts val="0"/>
              </a:spcAft>
              <a:buClr>
                <a:srgbClr val="0000FF"/>
              </a:buClr>
              <a:buSzPts val="1600"/>
              <a:buFont typeface="Arial"/>
              <a:buNone/>
            </a:pPr>
            <a:r>
              <a:t/>
            </a:r>
            <a:endParaRPr b="0" i="0" sz="16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600"/>
              <a:buFont typeface="Arial"/>
              <a:buChar char="•"/>
            </a:pPr>
            <a:r>
              <a:rPr b="1" i="0" lang="en-US" sz="1600" u="none" cap="none" strike="noStrike">
                <a:solidFill>
                  <a:schemeClr val="dk1"/>
                </a:solidFill>
                <a:latin typeface="Quattrocento Sans"/>
                <a:ea typeface="Quattrocento Sans"/>
                <a:cs typeface="Quattrocento Sans"/>
                <a:sym typeface="Quattrocento Sans"/>
              </a:rPr>
              <a:t>Cloud Carrier</a:t>
            </a:r>
            <a:r>
              <a:rPr b="0" i="0" lang="en-US" sz="1600" u="none" cap="none" strike="noStrike">
                <a:solidFill>
                  <a:schemeClr val="dk1"/>
                </a:solidFill>
                <a:latin typeface="Quattrocento Sans"/>
                <a:ea typeface="Quattrocento Sans"/>
                <a:cs typeface="Quattrocento Sans"/>
                <a:sym typeface="Quattrocento Sans"/>
              </a:rPr>
              <a:t>: An intermediary that facilitates the connectivity and transportation of cloud services from Cloud Providers to Cloud Consumers.</a:t>
            </a:r>
            <a:endParaRPr/>
          </a:p>
        </p:txBody>
      </p:sp>
      <p:pic>
        <p:nvPicPr>
          <p:cNvPr id="179" name="Google Shape;179;p16"/>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17"/>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Cloud Architecture Best Practices</a:t>
            </a:r>
            <a:endParaRPr/>
          </a:p>
        </p:txBody>
      </p:sp>
      <p:sp>
        <p:nvSpPr>
          <p:cNvPr id="186" name="Google Shape;186;p17"/>
          <p:cNvSpPr txBox="1"/>
          <p:nvPr/>
        </p:nvSpPr>
        <p:spPr>
          <a:xfrm>
            <a:off x="635000" y="1357312"/>
            <a:ext cx="8027987" cy="5145087"/>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500"/>
              <a:buFont typeface="Arial"/>
              <a:buChar char="•"/>
            </a:pPr>
            <a:r>
              <a:rPr b="1" i="0" lang="en-US" sz="1500" u="none" cap="none" strike="noStrike">
                <a:solidFill>
                  <a:schemeClr val="dk1"/>
                </a:solidFill>
                <a:latin typeface="Quattrocento Sans"/>
                <a:ea typeface="Quattrocento Sans"/>
                <a:cs typeface="Quattrocento Sans"/>
                <a:sym typeface="Quattrocento Sans"/>
              </a:rPr>
              <a:t>Up-front Planning</a:t>
            </a:r>
            <a:r>
              <a:rPr b="0" i="0" lang="en-US" sz="1500" u="none" cap="none" strike="noStrike">
                <a:solidFill>
                  <a:schemeClr val="dk1"/>
                </a:solidFill>
                <a:latin typeface="Quattrocento Sans"/>
                <a:ea typeface="Quattrocento Sans"/>
                <a:cs typeface="Quattrocento Sans"/>
                <a:sym typeface="Quattrocento Sans"/>
              </a:rPr>
              <a:t>: Prioritize up-front planning to understand capacity needs and avoid unexpected production glitches. Continuously test performance during the architecture design phase.</a:t>
            </a:r>
            <a:endParaRPr/>
          </a:p>
          <a:p>
            <a:pPr indent="-190499" lvl="0" marL="407987" marR="0" rtl="0" algn="l">
              <a:lnSpc>
                <a:spcPct val="100000"/>
              </a:lnSpc>
              <a:spcBef>
                <a:spcPts val="200"/>
              </a:spcBef>
              <a:spcAft>
                <a:spcPts val="0"/>
              </a:spcAft>
              <a:buClr>
                <a:srgbClr val="0000FF"/>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1" i="0" lang="en-US" sz="1500" u="none" cap="none" strike="noStrike">
                <a:solidFill>
                  <a:schemeClr val="dk1"/>
                </a:solidFill>
                <a:latin typeface="Quattrocento Sans"/>
                <a:ea typeface="Quattrocento Sans"/>
                <a:cs typeface="Quattrocento Sans"/>
                <a:sym typeface="Quattrocento Sans"/>
              </a:rPr>
              <a:t>Security First</a:t>
            </a:r>
            <a:r>
              <a:rPr b="0" i="0" lang="en-US" sz="1500" u="none" cap="none" strike="noStrike">
                <a:solidFill>
                  <a:schemeClr val="dk1"/>
                </a:solidFill>
                <a:latin typeface="Quattrocento Sans"/>
                <a:ea typeface="Quattrocento Sans"/>
                <a:cs typeface="Quattrocento Sans"/>
                <a:sym typeface="Quattrocento Sans"/>
              </a:rPr>
              <a:t>: Implement robust security measures to protect against unauthorized access. Safeguard all layers of the cloud infrastructure through data encryption, patch management, and strict security policies. Consider adopting zero-trust security models for enhanced protection in hybrid and multi-cloud environments.</a:t>
            </a:r>
            <a:endParaRPr/>
          </a:p>
          <a:p>
            <a:pPr indent="-190499" lvl="0" marL="407987" marR="0" rtl="0" algn="l">
              <a:lnSpc>
                <a:spcPct val="100000"/>
              </a:lnSpc>
              <a:spcBef>
                <a:spcPts val="200"/>
              </a:spcBef>
              <a:spcAft>
                <a:spcPts val="0"/>
              </a:spcAft>
              <a:buClr>
                <a:srgbClr val="0000FF"/>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1" i="0" lang="en-US" sz="1500" u="none" cap="none" strike="noStrike">
                <a:solidFill>
                  <a:schemeClr val="dk1"/>
                </a:solidFill>
                <a:latin typeface="Quattrocento Sans"/>
                <a:ea typeface="Quattrocento Sans"/>
                <a:cs typeface="Quattrocento Sans"/>
                <a:sym typeface="Quattrocento Sans"/>
              </a:rPr>
              <a:t>Disaster Recovery Readiness</a:t>
            </a:r>
            <a:r>
              <a:rPr b="0" i="0" lang="en-US" sz="1500" u="none" cap="none" strike="noStrike">
                <a:solidFill>
                  <a:schemeClr val="dk1"/>
                </a:solidFill>
                <a:latin typeface="Quattrocento Sans"/>
                <a:ea typeface="Quattrocento Sans"/>
                <a:cs typeface="Quattrocento Sans"/>
                <a:sym typeface="Quattrocento Sans"/>
              </a:rPr>
              <a:t>: Automate recovery processes to minimize costly downtime and ensure swift recovery from service disruptions. Implement monitoring mechanisms to track capacity and utilize redundant networks for a highly available architecture.</a:t>
            </a:r>
            <a:endParaRPr/>
          </a:p>
          <a:p>
            <a:pPr indent="-190499" lvl="0" marL="407987" marR="0" rtl="0" algn="l">
              <a:lnSpc>
                <a:spcPct val="100000"/>
              </a:lnSpc>
              <a:spcBef>
                <a:spcPts val="200"/>
              </a:spcBef>
              <a:spcAft>
                <a:spcPts val="0"/>
              </a:spcAft>
              <a:buClr>
                <a:srgbClr val="0000FF"/>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1" i="0" lang="en-US" sz="1500" u="none" cap="none" strike="noStrike">
                <a:solidFill>
                  <a:schemeClr val="dk1"/>
                </a:solidFill>
                <a:latin typeface="Quattrocento Sans"/>
                <a:ea typeface="Quattrocento Sans"/>
                <a:cs typeface="Quattrocento Sans"/>
                <a:sym typeface="Quattrocento Sans"/>
              </a:rPr>
              <a:t>Maximize Performance</a:t>
            </a:r>
            <a:r>
              <a:rPr b="0" i="0" lang="en-US" sz="1500" u="none" cap="none" strike="noStrike">
                <a:solidFill>
                  <a:schemeClr val="dk1"/>
                </a:solidFill>
                <a:latin typeface="Quattrocento Sans"/>
                <a:ea typeface="Quattrocento Sans"/>
                <a:cs typeface="Quattrocento Sans"/>
                <a:sym typeface="Quattrocento Sans"/>
              </a:rPr>
              <a:t>: Optimize computing resources by continuously monitoring business demands and technological requirements. Efficiently manage and allocate resources to maintain optimal performance levels.</a:t>
            </a:r>
            <a:endParaRPr/>
          </a:p>
          <a:p>
            <a:pPr indent="-190499" lvl="0" marL="407987" marR="0" rtl="0" algn="l">
              <a:lnSpc>
                <a:spcPct val="100000"/>
              </a:lnSpc>
              <a:spcBef>
                <a:spcPts val="200"/>
              </a:spcBef>
              <a:spcAft>
                <a:spcPts val="0"/>
              </a:spcAft>
              <a:buClr>
                <a:srgbClr val="0000FF"/>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1" i="0" lang="en-US" sz="1500" u="none" cap="none" strike="noStrike">
                <a:solidFill>
                  <a:schemeClr val="dk1"/>
                </a:solidFill>
                <a:latin typeface="Quattrocento Sans"/>
                <a:ea typeface="Quattrocento Sans"/>
                <a:cs typeface="Quattrocento Sans"/>
                <a:sym typeface="Quattrocento Sans"/>
              </a:rPr>
              <a:t>Cost Optimization</a:t>
            </a:r>
            <a:r>
              <a:rPr b="0" i="0" lang="en-US" sz="1500" u="none" cap="none" strike="noStrike">
                <a:solidFill>
                  <a:schemeClr val="dk1"/>
                </a:solidFill>
                <a:latin typeface="Quattrocento Sans"/>
                <a:ea typeface="Quattrocento Sans"/>
                <a:cs typeface="Quattrocento Sans"/>
                <a:sym typeface="Quattrocento Sans"/>
              </a:rPr>
              <a:t>: Leverage automated processes, managed service providers, and utilization tracking to reduce unnecessary cloud computing expenses. Regularly review and optimize resource allocation to ensure cost-effectiveness.</a:t>
            </a:r>
            <a:endParaRPr/>
          </a:p>
        </p:txBody>
      </p:sp>
      <p:pic>
        <p:nvPicPr>
          <p:cNvPr id="187" name="Google Shape;187;p17"/>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18"/>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Conclusion</a:t>
            </a:r>
            <a:endParaRPr/>
          </a:p>
        </p:txBody>
      </p:sp>
      <p:sp>
        <p:nvSpPr>
          <p:cNvPr id="194" name="Google Shape;194;p18"/>
          <p:cNvSpPr txBox="1"/>
          <p:nvPr/>
        </p:nvSpPr>
        <p:spPr>
          <a:xfrm>
            <a:off x="685800" y="1500187"/>
            <a:ext cx="7831137" cy="4965700"/>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Cloud computing enables the delivery of computing services over the internet, eliminating the need for local infrastructure.</a:t>
            </a:r>
            <a:endParaRPr/>
          </a:p>
          <a:p>
            <a:pPr indent="-190499" lvl="0" marL="407987" marR="0" rtl="0" algn="l">
              <a:lnSpc>
                <a:spcPct val="100000"/>
              </a:lnSpc>
              <a:spcBef>
                <a:spcPts val="200"/>
              </a:spcBef>
              <a:spcAft>
                <a:spcPts val="0"/>
              </a:spcAft>
              <a:buClr>
                <a:srgbClr val="0000FF"/>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Key characteristics of cloud computing include on-demand self-service, broad network access, resource pooling, rapid elasticity, and measured service.</a:t>
            </a:r>
            <a:endParaRPr/>
          </a:p>
          <a:p>
            <a:pPr indent="-190499" lvl="0" marL="407987" marR="0" rtl="0" algn="l">
              <a:lnSpc>
                <a:spcPct val="100000"/>
              </a:lnSpc>
              <a:spcBef>
                <a:spcPts val="200"/>
              </a:spcBef>
              <a:spcAft>
                <a:spcPts val="0"/>
              </a:spcAft>
              <a:buClr>
                <a:srgbClr val="0000FF"/>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Deployment models include public, private, and hybrid clouds, offering flexibility and data sharing options.</a:t>
            </a:r>
            <a:endParaRPr/>
          </a:p>
          <a:p>
            <a:pPr indent="-190499" lvl="0" marL="407987" marR="0" rtl="0" algn="l">
              <a:lnSpc>
                <a:spcPct val="100000"/>
              </a:lnSpc>
              <a:spcBef>
                <a:spcPts val="200"/>
              </a:spcBef>
              <a:spcAft>
                <a:spcPts val="0"/>
              </a:spcAft>
              <a:buClr>
                <a:srgbClr val="0000FF"/>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Service models such as IaaS, PaaS, and SaaS provide virtualized computing resources, platform for application development, and software delivery respectively.</a:t>
            </a:r>
            <a:endParaRPr/>
          </a:p>
          <a:p>
            <a:pPr indent="-190499" lvl="0" marL="407987" marR="0" rtl="0" algn="l">
              <a:lnSpc>
                <a:spcPct val="100000"/>
              </a:lnSpc>
              <a:spcBef>
                <a:spcPts val="200"/>
              </a:spcBef>
              <a:spcAft>
                <a:spcPts val="0"/>
              </a:spcAft>
              <a:buClr>
                <a:srgbClr val="0000FF"/>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Cloud computing offers benefits like cost savings, scalability, flexibility, reliability, and enhanced collaboration.</a:t>
            </a:r>
            <a:endParaRPr/>
          </a:p>
          <a:p>
            <a:pPr indent="-285749" lvl="0" marL="407987" marR="0" rtl="0" algn="l">
              <a:lnSpc>
                <a:spcPct val="100000"/>
              </a:lnSpc>
              <a:spcBef>
                <a:spcPts val="200"/>
              </a:spcBef>
              <a:spcAft>
                <a:spcPts val="0"/>
              </a:spcAft>
              <a:buClr>
                <a:schemeClr val="dk1"/>
              </a:buClr>
              <a:buSzPts val="1500"/>
              <a:buFont typeface="Quattrocento Sans"/>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Cloud computing presents a transformative approach to computing, offering cost-effective solutions, scalability, and flexibility for organizations across various industries. By leveraging the benefits of cloud computing and aligning with the appropriate deployment and service models, organizations can drive innovation, improve efficiency, and adapt to evolving business needs.</a:t>
            </a:r>
            <a:endParaRPr/>
          </a:p>
        </p:txBody>
      </p:sp>
      <p:pic>
        <p:nvPicPr>
          <p:cNvPr id="195" name="Google Shape;195;p18"/>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19"/>
          <p:cNvSpPr txBox="1"/>
          <p:nvPr>
            <p:ph type="title"/>
          </p:nvPr>
        </p:nvSpPr>
        <p:spPr>
          <a:xfrm>
            <a:off x="333375" y="430212"/>
            <a:ext cx="5248275" cy="6397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Quattrocento Sans"/>
              <a:buNone/>
            </a:pPr>
            <a:r>
              <a:rPr b="0" i="0" lang="en-US" sz="2400" u="none">
                <a:solidFill>
                  <a:schemeClr val="dk1"/>
                </a:solidFill>
                <a:latin typeface="Quattrocento Sans"/>
                <a:ea typeface="Quattrocento Sans"/>
                <a:cs typeface="Quattrocento Sans"/>
                <a:sym typeface="Quattrocento Sans"/>
              </a:rPr>
              <a:t>Remember</a:t>
            </a:r>
            <a:endParaRPr/>
          </a:p>
        </p:txBody>
      </p:sp>
      <p:sp>
        <p:nvSpPr>
          <p:cNvPr id="202" name="Google Shape;202;p19"/>
          <p:cNvSpPr txBox="1"/>
          <p:nvPr/>
        </p:nvSpPr>
        <p:spPr>
          <a:xfrm>
            <a:off x="677862" y="1498600"/>
            <a:ext cx="7612062" cy="3041650"/>
          </a:xfrm>
          <a:prstGeom prst="rect">
            <a:avLst/>
          </a:prstGeom>
          <a:solidFill>
            <a:srgbClr val="F2F2F2"/>
          </a:solidFill>
          <a:ln>
            <a:noFill/>
          </a:ln>
        </p:spPr>
        <p:txBody>
          <a:bodyPr anchorCtr="0" anchor="t" bIns="45700" lIns="91425" spcFirstLastPara="1" rIns="91425" wrap="square" tIns="45700">
            <a:spAutoFit/>
          </a:bodyPr>
          <a:lstStyle/>
          <a:p>
            <a:pPr indent="-285749" lvl="0" marL="407987" marR="0" rtl="0" algn="l">
              <a:lnSpc>
                <a:spcPct val="100000"/>
              </a:lnSpc>
              <a:spcBef>
                <a:spcPts val="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Understand your specific needs and requirements when selecting a cloud deployment and service model.</a:t>
            </a:r>
            <a:endParaRPr/>
          </a:p>
          <a:p>
            <a:pPr indent="-190499" lvl="0" marL="407987" marR="0" rtl="0" algn="l">
              <a:lnSpc>
                <a:spcPct val="100000"/>
              </a:lnSpc>
              <a:spcBef>
                <a:spcPts val="200"/>
              </a:spcBef>
              <a:spcAft>
                <a:spcPts val="0"/>
              </a:spcAft>
              <a:buClr>
                <a:srgbClr val="0000FF"/>
              </a:buClr>
              <a:buSzPts val="1500"/>
              <a:buFont typeface="Arial"/>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Prioritize security measures such as data encryption and access controls to protect against unauthorized access.</a:t>
            </a:r>
            <a:endParaRPr/>
          </a:p>
          <a:p>
            <a:pPr indent="-285749" lvl="0" marL="407987" marR="0" rtl="0" algn="l">
              <a:lnSpc>
                <a:spcPct val="100000"/>
              </a:lnSpc>
              <a:spcBef>
                <a:spcPts val="200"/>
              </a:spcBef>
              <a:spcAft>
                <a:spcPts val="0"/>
              </a:spcAft>
              <a:buClr>
                <a:schemeClr val="dk1"/>
              </a:buClr>
              <a:buSzPts val="1500"/>
              <a:buFont typeface="Quattrocento Sans"/>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Plan for disaster recovery and high availability to ensure business continuity.</a:t>
            </a:r>
            <a:endParaRPr/>
          </a:p>
          <a:p>
            <a:pPr indent="-285749" lvl="0" marL="407987" marR="0" rtl="0" algn="l">
              <a:lnSpc>
                <a:spcPct val="100000"/>
              </a:lnSpc>
              <a:spcBef>
                <a:spcPts val="20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Continuously monitor and optimize resource utilization for optimal performance and cost savings.</a:t>
            </a:r>
            <a:endParaRPr/>
          </a:p>
          <a:p>
            <a:pPr indent="-285749" lvl="0" marL="407987" marR="0" rtl="0" algn="l">
              <a:lnSpc>
                <a:spcPct val="100000"/>
              </a:lnSpc>
              <a:spcBef>
                <a:spcPts val="200"/>
              </a:spcBef>
              <a:spcAft>
                <a:spcPts val="0"/>
              </a:spcAft>
              <a:buClr>
                <a:schemeClr val="dk1"/>
              </a:buClr>
              <a:buSzPts val="1500"/>
              <a:buFont typeface="Quattrocento Sans"/>
              <a:buNone/>
            </a:pPr>
            <a:r>
              <a:t/>
            </a:r>
            <a:endParaRPr b="0" i="0" sz="1500" u="none" cap="none" strike="noStrike">
              <a:solidFill>
                <a:schemeClr val="dk1"/>
              </a:solidFill>
              <a:latin typeface="Quattrocento Sans"/>
              <a:ea typeface="Quattrocento Sans"/>
              <a:cs typeface="Quattrocento Sans"/>
              <a:sym typeface="Quattrocento Sans"/>
            </a:endParaRPr>
          </a:p>
          <a:p>
            <a:pPr indent="-285749" lvl="0" marL="407987" marR="0" rtl="0" algn="l">
              <a:lnSpc>
                <a:spcPct val="100000"/>
              </a:lnSpc>
              <a:spcBef>
                <a:spcPts val="200"/>
              </a:spcBef>
              <a:spcAft>
                <a:spcPts val="0"/>
              </a:spcAft>
              <a:buClr>
                <a:srgbClr val="0000FF"/>
              </a:buClr>
              <a:buSzPts val="1500"/>
              <a:buFont typeface="Arial"/>
              <a:buChar char="•"/>
            </a:pPr>
            <a:r>
              <a:rPr b="0" i="0" lang="en-US" sz="1500" u="none" cap="none" strike="noStrike">
                <a:solidFill>
                  <a:schemeClr val="dk1"/>
                </a:solidFill>
                <a:latin typeface="Quattrocento Sans"/>
                <a:ea typeface="Quattrocento Sans"/>
                <a:cs typeface="Quattrocento Sans"/>
                <a:sym typeface="Quattrocento Sans"/>
              </a:rPr>
              <a:t>Regularly assess and adapt your cloud architecture to evolving business needs and emerging technologies.</a:t>
            </a:r>
            <a:endParaRPr/>
          </a:p>
        </p:txBody>
      </p:sp>
      <p:pic>
        <p:nvPicPr>
          <p:cNvPr id="203" name="Google Shape;203;p19"/>
          <p:cNvPicPr preferRelativeResize="0"/>
          <p:nvPr/>
        </p:nvPicPr>
        <p:blipFill rotWithShape="1">
          <a:blip r:embed="rId3">
            <a:alphaModFix/>
          </a:blip>
          <a:srcRect b="0" l="0" r="0" t="0"/>
          <a:stretch/>
        </p:blipFill>
        <p:spPr>
          <a:xfrm>
            <a:off x="8686800" y="2286000"/>
            <a:ext cx="431800" cy="3797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2023-01-10T06:09:18Z</dcterms:created>
  <dc:creator>Jay Sarraf</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str>0x01010079F111ED35F8CC479449609E8A0923A6</vt:lpstr>
  </property>
  <property fmtid="{D5CDD505-2E9C-101B-9397-08002B2CF9AE}" pid="3" name="_ip_UnifiedCompliancePolicyUIAction">
    <vt:lpstr/>
  </property>
  <property fmtid="{D5CDD505-2E9C-101B-9397-08002B2CF9AE}" pid="4" name="Image">
    <vt:lpstr>, </vt:lpstr>
  </property>
  <property fmtid="{D5CDD505-2E9C-101B-9397-08002B2CF9AE}" pid="5" name="Status">
    <vt:lpstr>Not started</vt:lpstr>
  </property>
  <property fmtid="{D5CDD505-2E9C-101B-9397-08002B2CF9AE}" pid="6" name="Background">
    <vt:lpstr>0</vt:lpstr>
  </property>
  <property fmtid="{D5CDD505-2E9C-101B-9397-08002B2CF9AE}" pid="7" name="_ip_UnifiedCompliancePolicyProperties">
    <vt:lpstr/>
  </property>
  <property fmtid="{D5CDD505-2E9C-101B-9397-08002B2CF9AE}" pid="8" name="ImageTagsTaxHTField">
    <vt:lpstr/>
  </property>
  <property fmtid="{D5CDD505-2E9C-101B-9397-08002B2CF9AE}" pid="9" name="TaxCatchAll">
    <vt:lpstr/>
  </property>
  <property fmtid="{D5CDD505-2E9C-101B-9397-08002B2CF9AE}" pid="10" name="MediaServiceKeyPoints">
    <vt:lpstr/>
  </property>
</Properties>
</file>